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1" r:id="rId6"/>
    <p:sldId id="263" r:id="rId7"/>
    <p:sldId id="264" r:id="rId8"/>
    <p:sldId id="272" r:id="rId9"/>
    <p:sldId id="265" r:id="rId10"/>
    <p:sldId id="269" r:id="rId11"/>
    <p:sldId id="271"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A752"/>
    <a:srgbClr val="EC73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1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4649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jpe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C9A841"/>
          </a:solidFill>
          <a:ln/>
        </p:spPr>
      </p:sp>
      <p:pic>
        <p:nvPicPr>
          <p:cNvPr id="3" name="Image 0" descr="SRIT__logo.png"/>
          <p:cNvPicPr>
            <a:picLocks noChangeAspect="1"/>
          </p:cNvPicPr>
          <p:nvPr/>
        </p:nvPicPr>
        <p:blipFill>
          <a:blip r:embed="rId3"/>
          <a:stretch>
            <a:fillRect/>
          </a:stretch>
        </p:blipFill>
        <p:spPr>
          <a:xfrm>
            <a:off x="411480" y="292608"/>
            <a:ext cx="822960" cy="822960"/>
          </a:xfrm>
          <a:prstGeom prst="rect">
            <a:avLst/>
          </a:prstGeom>
        </p:spPr>
      </p:pic>
      <p:pic>
        <p:nvPicPr>
          <p:cNvPr id="4" name="Image 1" descr="SNR_tRUST_logo.png"/>
          <p:cNvPicPr>
            <a:picLocks noChangeAspect="1"/>
          </p:cNvPicPr>
          <p:nvPr/>
        </p:nvPicPr>
        <p:blipFill>
          <a:blip r:embed="rId4"/>
          <a:stretch>
            <a:fillRect/>
          </a:stretch>
        </p:blipFill>
        <p:spPr>
          <a:xfrm>
            <a:off x="10957255" y="292608"/>
            <a:ext cx="822960" cy="822960"/>
          </a:xfrm>
          <a:prstGeom prst="rect">
            <a:avLst/>
          </a:prstGeom>
        </p:spPr>
      </p:pic>
      <p:sp>
        <p:nvSpPr>
          <p:cNvPr id="5" name="Text 1"/>
          <p:cNvSpPr/>
          <p:nvPr/>
        </p:nvSpPr>
        <p:spPr>
          <a:xfrm>
            <a:off x="0" y="320040"/>
            <a:ext cx="12191695" cy="411480"/>
          </a:xfrm>
          <a:prstGeom prst="rect">
            <a:avLst/>
          </a:prstGeom>
          <a:noFill/>
          <a:ln/>
        </p:spPr>
        <p:txBody>
          <a:bodyPr wrap="square" lIns="0" tIns="0" rIns="0" bIns="0" rtlCol="0" anchor="ctr"/>
          <a:lstStyle/>
          <a:p>
            <a:pPr marL="0" indent="0" algn="ctr">
              <a:buNone/>
            </a:pPr>
            <a:r>
              <a:rPr lang="en-US" sz="2000" b="1" dirty="0">
                <a:solidFill>
                  <a:srgbClr val="1F4A3A"/>
                </a:solidFill>
                <a:latin typeface="Cambria" pitchFamily="34" charset="0"/>
                <a:ea typeface="Cambria" pitchFamily="34" charset="-122"/>
                <a:cs typeface="Cambria" pitchFamily="34" charset="-120"/>
              </a:rPr>
              <a:t>SRI RAMAKRISHNA INSTITUTE OF TECHNOLOGY</a:t>
            </a:r>
            <a:endParaRPr lang="en-US" sz="2000" dirty="0"/>
          </a:p>
        </p:txBody>
      </p:sp>
      <p:sp>
        <p:nvSpPr>
          <p:cNvPr id="6" name="Text 2"/>
          <p:cNvSpPr/>
          <p:nvPr/>
        </p:nvSpPr>
        <p:spPr>
          <a:xfrm>
            <a:off x="0" y="713232"/>
            <a:ext cx="12191695" cy="237744"/>
          </a:xfrm>
          <a:prstGeom prst="rect">
            <a:avLst/>
          </a:prstGeom>
          <a:noFill/>
          <a:ln/>
        </p:spPr>
        <p:txBody>
          <a:bodyPr wrap="square" lIns="0" tIns="0" rIns="0" bIns="0" rtlCol="0" anchor="ctr"/>
          <a:lstStyle/>
          <a:p>
            <a:pPr marL="0" indent="0" algn="ctr">
              <a:buNone/>
            </a:pPr>
            <a:r>
              <a:rPr lang="en-US" sz="1050" i="1" dirty="0">
                <a:solidFill>
                  <a:srgbClr val="6B7B73"/>
                </a:solidFill>
                <a:latin typeface="Calibri" pitchFamily="34" charset="0"/>
                <a:ea typeface="Calibri" pitchFamily="34" charset="-122"/>
                <a:cs typeface="Calibri" pitchFamily="34" charset="-120"/>
              </a:rPr>
              <a:t>(An Autonomous Institution)  |  Pachapalayam, Perur Chettipalayam, Coimbatore - 641 010</a:t>
            </a:r>
            <a:endParaRPr lang="en-US" sz="1050" dirty="0"/>
          </a:p>
        </p:txBody>
      </p:sp>
      <p:sp>
        <p:nvSpPr>
          <p:cNvPr id="7" name="Text 3"/>
          <p:cNvSpPr/>
          <p:nvPr/>
        </p:nvSpPr>
        <p:spPr>
          <a:xfrm>
            <a:off x="0" y="960120"/>
            <a:ext cx="12191695" cy="274320"/>
          </a:xfrm>
          <a:prstGeom prst="rect">
            <a:avLst/>
          </a:prstGeom>
          <a:noFill/>
          <a:ln/>
        </p:spPr>
        <p:txBody>
          <a:bodyPr wrap="square" lIns="0" tIns="0" rIns="0" bIns="0" rtlCol="0" anchor="ctr"/>
          <a:lstStyle/>
          <a:p>
            <a:pPr marL="0" indent="0" algn="ctr">
              <a:buNone/>
            </a:pPr>
            <a:r>
              <a:rPr lang="en-US" sz="1250" b="1" kern="0" spc="60" dirty="0">
                <a:solidFill>
                  <a:srgbClr val="1F4A3A"/>
                </a:solidFill>
                <a:latin typeface="Calibri" pitchFamily="34" charset="0"/>
                <a:ea typeface="Calibri" pitchFamily="34" charset="-122"/>
                <a:cs typeface="Calibri" pitchFamily="34" charset="-120"/>
              </a:rPr>
              <a:t>DEPARTMENT OF COMPUTER SCIENCE AND ENGINEERING</a:t>
            </a:r>
            <a:endParaRPr lang="en-US" sz="1250" dirty="0"/>
          </a:p>
        </p:txBody>
      </p:sp>
      <p:sp>
        <p:nvSpPr>
          <p:cNvPr id="8" name="Shape 4"/>
          <p:cNvSpPr/>
          <p:nvPr/>
        </p:nvSpPr>
        <p:spPr>
          <a:xfrm>
            <a:off x="3200400" y="1316736"/>
            <a:ext cx="5788152" cy="0"/>
          </a:xfrm>
          <a:prstGeom prst="line">
            <a:avLst/>
          </a:prstGeom>
          <a:noFill/>
          <a:ln w="15240">
            <a:solidFill>
              <a:srgbClr val="C9A841"/>
            </a:solidFill>
            <a:prstDash val="solid"/>
          </a:ln>
        </p:spPr>
      </p:sp>
      <p:sp>
        <p:nvSpPr>
          <p:cNvPr id="9" name="Text 5"/>
          <p:cNvSpPr/>
          <p:nvPr/>
        </p:nvSpPr>
        <p:spPr>
          <a:xfrm>
            <a:off x="0" y="1408176"/>
            <a:ext cx="12191695" cy="292608"/>
          </a:xfrm>
          <a:prstGeom prst="rect">
            <a:avLst/>
          </a:prstGeom>
          <a:noFill/>
          <a:ln/>
        </p:spPr>
        <p:txBody>
          <a:bodyPr wrap="square" lIns="0" tIns="0" rIns="0" bIns="0" rtlCol="0" anchor="ctr"/>
          <a:lstStyle/>
          <a:p>
            <a:pPr marL="0" indent="0" algn="ctr">
              <a:buNone/>
            </a:pPr>
            <a:r>
              <a:rPr lang="en-US" sz="1200" kern="0" spc="50" dirty="0">
                <a:solidFill>
                  <a:srgbClr val="C9A841"/>
                </a:solidFill>
                <a:latin typeface="Calibri" pitchFamily="34" charset="0"/>
                <a:ea typeface="Calibri" pitchFamily="34" charset="-122"/>
                <a:cs typeface="Calibri" pitchFamily="34" charset="-120"/>
              </a:rPr>
              <a:t>20CS902  -  FINAL YEAR PROJECT PHASE I  |  </a:t>
            </a:r>
            <a:r>
              <a:rPr lang="en-US" sz="1200" kern="0" spc="50" dirty="0" smtClean="0">
                <a:solidFill>
                  <a:srgbClr val="C9A841"/>
                </a:solidFill>
                <a:latin typeface="Calibri" pitchFamily="34" charset="0"/>
                <a:ea typeface="Calibri" pitchFamily="34" charset="-122"/>
                <a:cs typeface="Calibri" pitchFamily="34" charset="-120"/>
              </a:rPr>
              <a:t>SECOND </a:t>
            </a:r>
            <a:r>
              <a:rPr lang="en-US" sz="1200" kern="0" spc="50" dirty="0">
                <a:solidFill>
                  <a:srgbClr val="C9A841"/>
                </a:solidFill>
                <a:latin typeface="Calibri" pitchFamily="34" charset="0"/>
                <a:ea typeface="Calibri" pitchFamily="34" charset="-122"/>
                <a:cs typeface="Calibri" pitchFamily="34" charset="-120"/>
              </a:rPr>
              <a:t>REVIEW</a:t>
            </a:r>
            <a:endParaRPr lang="en-US" sz="1200" dirty="0"/>
          </a:p>
        </p:txBody>
      </p:sp>
      <p:sp>
        <p:nvSpPr>
          <p:cNvPr id="10" name="Shape 6"/>
          <p:cNvSpPr/>
          <p:nvPr/>
        </p:nvSpPr>
        <p:spPr>
          <a:xfrm>
            <a:off x="914400" y="1810512"/>
            <a:ext cx="10362895" cy="1051560"/>
          </a:xfrm>
          <a:prstGeom prst="roundRect">
            <a:avLst>
              <a:gd name="adj" fmla="val 6957"/>
            </a:avLst>
          </a:prstGeom>
          <a:solidFill>
            <a:srgbClr val="E8F5F0"/>
          </a:solidFill>
          <a:ln w="19050">
            <a:solidFill>
              <a:srgbClr val="1F4A3A"/>
            </a:solidFill>
            <a:prstDash val="solid"/>
          </a:ln>
          <a:effectLst>
            <a:outerShdw blurRad="63500" dist="25400" dir="5400000" algn="bl" rotWithShape="0">
              <a:srgbClr val="AAAAAA">
                <a:alpha val="10000"/>
              </a:srgbClr>
            </a:outerShdw>
          </a:effectLst>
        </p:spPr>
      </p:sp>
      <p:sp>
        <p:nvSpPr>
          <p:cNvPr id="11" name="Text 7"/>
          <p:cNvSpPr/>
          <p:nvPr/>
        </p:nvSpPr>
        <p:spPr>
          <a:xfrm>
            <a:off x="1097280" y="1810512"/>
            <a:ext cx="9997135" cy="1051560"/>
          </a:xfrm>
          <a:prstGeom prst="rect">
            <a:avLst/>
          </a:prstGeom>
          <a:noFill/>
          <a:ln/>
        </p:spPr>
        <p:txBody>
          <a:bodyPr wrap="square" lIns="0" tIns="0" rIns="0" bIns="0" rtlCol="0" anchor="ctr"/>
          <a:lstStyle/>
          <a:p>
            <a:pPr algn="ctr"/>
            <a:r>
              <a:rPr lang="en-US" sz="2000" b="1" i="1" dirty="0">
                <a:solidFill>
                  <a:srgbClr val="1F4A3A"/>
                </a:solidFill>
                <a:latin typeface="Cambria" pitchFamily="34" charset="0"/>
                <a:ea typeface="Cambria" pitchFamily="34" charset="-122"/>
                <a:cs typeface="Cambria" pitchFamily="34" charset="-120"/>
              </a:rPr>
              <a:t>An Intelligent Banking Solution for Loan Eligibility Prediction</a:t>
            </a:r>
            <a:endParaRPr lang="en-US" sz="2000" dirty="0"/>
          </a:p>
        </p:txBody>
      </p:sp>
      <p:sp>
        <p:nvSpPr>
          <p:cNvPr id="12" name="Text 8"/>
          <p:cNvSpPr/>
          <p:nvPr/>
        </p:nvSpPr>
        <p:spPr>
          <a:xfrm>
            <a:off x="0" y="2926080"/>
            <a:ext cx="12191695" cy="274320"/>
          </a:xfrm>
          <a:prstGeom prst="rect">
            <a:avLst/>
          </a:prstGeom>
          <a:noFill/>
          <a:ln/>
        </p:spPr>
        <p:txBody>
          <a:bodyPr wrap="square" lIns="0" tIns="0" rIns="0" bIns="0" rtlCol="0" anchor="ctr"/>
          <a:lstStyle/>
          <a:p>
            <a:pPr marL="0" indent="0" algn="ctr">
              <a:buNone/>
            </a:pPr>
            <a:r>
              <a:rPr lang="en-US" sz="1200" dirty="0">
                <a:solidFill>
                  <a:srgbClr val="6B7B73"/>
                </a:solidFill>
                <a:latin typeface="Calibri" pitchFamily="34" charset="0"/>
                <a:ea typeface="Calibri" pitchFamily="34" charset="-122"/>
                <a:cs typeface="Calibri" pitchFamily="34" charset="-120"/>
              </a:rPr>
              <a:t>Batch No: </a:t>
            </a:r>
            <a:r>
              <a:rPr lang="en-US" sz="1200" dirty="0" smtClean="0">
                <a:solidFill>
                  <a:srgbClr val="6B7B73"/>
                </a:solidFill>
                <a:latin typeface="Calibri" pitchFamily="34" charset="0"/>
                <a:ea typeface="Calibri" pitchFamily="34" charset="-122"/>
                <a:cs typeface="Calibri" pitchFamily="34" charset="-120"/>
              </a:rPr>
              <a:t>[02]  </a:t>
            </a:r>
            <a:r>
              <a:rPr lang="en-US" sz="1200" dirty="0">
                <a:solidFill>
                  <a:srgbClr val="6B7B73"/>
                </a:solidFill>
                <a:latin typeface="Calibri" pitchFamily="34" charset="0"/>
                <a:ea typeface="Calibri" pitchFamily="34" charset="-122"/>
                <a:cs typeface="Calibri" pitchFamily="34" charset="-120"/>
              </a:rPr>
              <a:t>|  [</a:t>
            </a:r>
            <a:r>
              <a:rPr lang="en-US" sz="1200" dirty="0" smtClean="0">
                <a:solidFill>
                  <a:srgbClr val="6B7B73"/>
                </a:solidFill>
                <a:latin typeface="Calibri" pitchFamily="34" charset="0"/>
                <a:ea typeface="Calibri" pitchFamily="34" charset="-122"/>
                <a:cs typeface="Calibri" pitchFamily="34" charset="-120"/>
              </a:rPr>
              <a:t>Review No-02]</a:t>
            </a:r>
            <a:endParaRPr lang="en-US" sz="1200" dirty="0"/>
          </a:p>
        </p:txBody>
      </p:sp>
      <p:sp>
        <p:nvSpPr>
          <p:cNvPr id="13" name="Shape 9"/>
          <p:cNvSpPr/>
          <p:nvPr/>
        </p:nvSpPr>
        <p:spPr>
          <a:xfrm>
            <a:off x="640080" y="3273552"/>
            <a:ext cx="10911535" cy="2377440"/>
          </a:xfrm>
          <a:prstGeom prst="roundRect">
            <a:avLst>
              <a:gd name="adj" fmla="val 3077"/>
            </a:avLst>
          </a:prstGeom>
          <a:solidFill>
            <a:srgbClr val="E8F5F0"/>
          </a:solidFill>
          <a:ln w="12700">
            <a:solidFill>
              <a:srgbClr val="D4E2DC"/>
            </a:solidFill>
            <a:prstDash val="solid"/>
          </a:ln>
        </p:spPr>
      </p:sp>
      <p:sp>
        <p:nvSpPr>
          <p:cNvPr id="14" name="Text 10"/>
          <p:cNvSpPr/>
          <p:nvPr/>
        </p:nvSpPr>
        <p:spPr>
          <a:xfrm>
            <a:off x="1005840" y="3456432"/>
            <a:ext cx="4114800" cy="274320"/>
          </a:xfrm>
          <a:prstGeom prst="rect">
            <a:avLst/>
          </a:prstGeom>
          <a:noFill/>
          <a:ln/>
        </p:spPr>
        <p:txBody>
          <a:bodyPr wrap="square" lIns="0" tIns="0" rIns="0" bIns="0" rtlCol="0" anchor="ctr"/>
          <a:lstStyle/>
          <a:p>
            <a:pPr marL="0" indent="0">
              <a:buNone/>
            </a:pPr>
            <a:r>
              <a:rPr lang="en-US" sz="1050" b="1" kern="0" spc="100" dirty="0">
                <a:solidFill>
                  <a:srgbClr val="C9A841"/>
                </a:solidFill>
                <a:latin typeface="Calibri" pitchFamily="34" charset="0"/>
                <a:ea typeface="Calibri" pitchFamily="34" charset="-122"/>
                <a:cs typeface="Calibri" pitchFamily="34" charset="-120"/>
              </a:rPr>
              <a:t>PRESENTED BY</a:t>
            </a:r>
            <a:endParaRPr lang="en-US" sz="1050" dirty="0"/>
          </a:p>
        </p:txBody>
      </p:sp>
      <p:sp>
        <p:nvSpPr>
          <p:cNvPr id="15" name="Text 11"/>
          <p:cNvSpPr/>
          <p:nvPr/>
        </p:nvSpPr>
        <p:spPr>
          <a:xfrm>
            <a:off x="1188720" y="3767328"/>
            <a:ext cx="5029200" cy="365760"/>
          </a:xfrm>
          <a:prstGeom prst="rect">
            <a:avLst/>
          </a:prstGeom>
          <a:noFill/>
          <a:ln/>
        </p:spPr>
        <p:txBody>
          <a:bodyPr wrap="square" lIns="0" tIns="0" rIns="0" bIns="0" rtlCol="0" anchor="ctr"/>
          <a:lstStyle/>
          <a:p>
            <a:pPr marL="0" indent="0">
              <a:buNone/>
            </a:pPr>
            <a:r>
              <a:rPr lang="en-US" sz="1200" dirty="0" smtClean="0">
                <a:solidFill>
                  <a:srgbClr val="1C2526"/>
                </a:solidFill>
                <a:latin typeface="Calibri" pitchFamily="34" charset="0"/>
                <a:ea typeface="Calibri" pitchFamily="34" charset="-122"/>
                <a:cs typeface="Calibri" pitchFamily="34" charset="-120"/>
              </a:rPr>
              <a:t>JEEVA BHARATHI M  </a:t>
            </a:r>
            <a:r>
              <a:rPr lang="en-US" sz="1200" dirty="0">
                <a:solidFill>
                  <a:srgbClr val="1C2526"/>
                </a:solidFill>
                <a:latin typeface="Calibri" pitchFamily="34" charset="0"/>
                <a:ea typeface="Calibri" pitchFamily="34" charset="-122"/>
                <a:cs typeface="Calibri" pitchFamily="34" charset="-120"/>
              </a:rPr>
              <a:t> -   </a:t>
            </a:r>
            <a:r>
              <a:rPr lang="en-US" sz="1200" dirty="0" smtClean="0">
                <a:solidFill>
                  <a:srgbClr val="1C2526"/>
                </a:solidFill>
                <a:latin typeface="Calibri" pitchFamily="34" charset="0"/>
                <a:ea typeface="Calibri" pitchFamily="34" charset="-122"/>
                <a:cs typeface="Calibri" pitchFamily="34" charset="-120"/>
              </a:rPr>
              <a:t>71382302062</a:t>
            </a:r>
            <a:endParaRPr lang="en-US" sz="1200" dirty="0"/>
          </a:p>
        </p:txBody>
      </p:sp>
      <p:sp>
        <p:nvSpPr>
          <p:cNvPr id="16" name="Text 12"/>
          <p:cNvSpPr/>
          <p:nvPr/>
        </p:nvSpPr>
        <p:spPr>
          <a:xfrm>
            <a:off x="1188720" y="4187952"/>
            <a:ext cx="5029200" cy="365760"/>
          </a:xfrm>
          <a:prstGeom prst="rect">
            <a:avLst/>
          </a:prstGeom>
          <a:noFill/>
          <a:ln/>
        </p:spPr>
        <p:txBody>
          <a:bodyPr wrap="square" lIns="0" tIns="0" rIns="0" bIns="0" rtlCol="0" anchor="ctr"/>
          <a:lstStyle/>
          <a:p>
            <a:pPr marL="0" indent="0">
              <a:buNone/>
            </a:pPr>
            <a:r>
              <a:rPr lang="en-US" sz="1200" dirty="0" smtClean="0">
                <a:solidFill>
                  <a:srgbClr val="1C2526"/>
                </a:solidFill>
                <a:latin typeface="Calibri" pitchFamily="34" charset="0"/>
                <a:ea typeface="Calibri" pitchFamily="34" charset="-122"/>
                <a:cs typeface="Calibri" pitchFamily="34" charset="-120"/>
              </a:rPr>
              <a:t>KRISHNAKANTH M  </a:t>
            </a:r>
            <a:r>
              <a:rPr lang="en-US" sz="1200" dirty="0">
                <a:solidFill>
                  <a:srgbClr val="1C2526"/>
                </a:solidFill>
                <a:latin typeface="Calibri" pitchFamily="34" charset="0"/>
                <a:ea typeface="Calibri" pitchFamily="34" charset="-122"/>
                <a:cs typeface="Calibri" pitchFamily="34" charset="-120"/>
              </a:rPr>
              <a:t> -   </a:t>
            </a:r>
            <a:r>
              <a:rPr lang="en-US" sz="1200" dirty="0" smtClean="0">
                <a:solidFill>
                  <a:srgbClr val="1C2526"/>
                </a:solidFill>
                <a:latin typeface="Calibri" pitchFamily="34" charset="0"/>
                <a:ea typeface="Calibri" pitchFamily="34" charset="-122"/>
                <a:cs typeface="Calibri" pitchFamily="34" charset="-120"/>
              </a:rPr>
              <a:t>71382302083</a:t>
            </a:r>
            <a:endParaRPr lang="en-US" sz="1200" dirty="0"/>
          </a:p>
        </p:txBody>
      </p:sp>
      <p:sp>
        <p:nvSpPr>
          <p:cNvPr id="17" name="Text 13"/>
          <p:cNvSpPr/>
          <p:nvPr/>
        </p:nvSpPr>
        <p:spPr>
          <a:xfrm>
            <a:off x="1188720" y="4608576"/>
            <a:ext cx="5029200" cy="365760"/>
          </a:xfrm>
          <a:prstGeom prst="rect">
            <a:avLst/>
          </a:prstGeom>
          <a:noFill/>
          <a:ln/>
        </p:spPr>
        <p:txBody>
          <a:bodyPr wrap="square" lIns="0" tIns="0" rIns="0" bIns="0" rtlCol="0" anchor="ctr"/>
          <a:lstStyle/>
          <a:p>
            <a:pPr marL="0" indent="0">
              <a:buNone/>
            </a:pPr>
            <a:r>
              <a:rPr lang="en-US" sz="1200" dirty="0" smtClean="0">
                <a:solidFill>
                  <a:srgbClr val="1C2526"/>
                </a:solidFill>
                <a:latin typeface="Calibri" pitchFamily="34" charset="0"/>
                <a:ea typeface="Calibri" pitchFamily="34" charset="-122"/>
                <a:cs typeface="Calibri" pitchFamily="34" charset="-120"/>
              </a:rPr>
              <a:t>JEESHA S   -   71382302061</a:t>
            </a:r>
            <a:endParaRPr lang="en-US" sz="1200" dirty="0"/>
          </a:p>
        </p:txBody>
      </p:sp>
      <p:sp>
        <p:nvSpPr>
          <p:cNvPr id="18" name="Text 14"/>
          <p:cNvSpPr/>
          <p:nvPr/>
        </p:nvSpPr>
        <p:spPr>
          <a:xfrm>
            <a:off x="1188720" y="5029200"/>
            <a:ext cx="5029200" cy="365760"/>
          </a:xfrm>
          <a:prstGeom prst="rect">
            <a:avLst/>
          </a:prstGeom>
          <a:noFill/>
          <a:ln/>
        </p:spPr>
        <p:txBody>
          <a:bodyPr wrap="square" lIns="0" tIns="0" rIns="0" bIns="0" rtlCol="0" anchor="ctr"/>
          <a:lstStyle/>
          <a:p>
            <a:pPr marL="0" indent="0">
              <a:buNone/>
            </a:pPr>
            <a:r>
              <a:rPr lang="en-US" sz="1200" dirty="0" smtClean="0">
                <a:solidFill>
                  <a:srgbClr val="1C2526"/>
                </a:solidFill>
                <a:latin typeface="Calibri" pitchFamily="34" charset="0"/>
                <a:ea typeface="Calibri" pitchFamily="34" charset="-122"/>
                <a:cs typeface="Calibri" pitchFamily="34" charset="-120"/>
              </a:rPr>
              <a:t>POOVIZHI THANGAM V   -   71382302115</a:t>
            </a:r>
            <a:endParaRPr lang="en-US" sz="1200" dirty="0"/>
          </a:p>
        </p:txBody>
      </p:sp>
      <p:sp>
        <p:nvSpPr>
          <p:cNvPr id="19" name="Shape 15"/>
          <p:cNvSpPr/>
          <p:nvPr/>
        </p:nvSpPr>
        <p:spPr>
          <a:xfrm>
            <a:off x="6675120" y="3456432"/>
            <a:ext cx="0" cy="2011680"/>
          </a:xfrm>
          <a:prstGeom prst="line">
            <a:avLst/>
          </a:prstGeom>
          <a:noFill/>
          <a:ln w="12700">
            <a:solidFill>
              <a:srgbClr val="D4E2DC"/>
            </a:solidFill>
            <a:prstDash val="solid"/>
          </a:ln>
        </p:spPr>
      </p:sp>
      <p:sp>
        <p:nvSpPr>
          <p:cNvPr id="20" name="Text 16"/>
          <p:cNvSpPr/>
          <p:nvPr/>
        </p:nvSpPr>
        <p:spPr>
          <a:xfrm>
            <a:off x="7040880" y="3456432"/>
            <a:ext cx="4572000" cy="274320"/>
          </a:xfrm>
          <a:prstGeom prst="rect">
            <a:avLst/>
          </a:prstGeom>
          <a:noFill/>
          <a:ln/>
        </p:spPr>
        <p:txBody>
          <a:bodyPr wrap="square" lIns="0" tIns="0" rIns="0" bIns="0" rtlCol="0" anchor="ctr"/>
          <a:lstStyle/>
          <a:p>
            <a:pPr marL="0" indent="0">
              <a:buNone/>
            </a:pPr>
            <a:r>
              <a:rPr lang="en-US" sz="1050" b="1" kern="0" spc="100" dirty="0">
                <a:solidFill>
                  <a:srgbClr val="C9A841"/>
                </a:solidFill>
                <a:latin typeface="Calibri" pitchFamily="34" charset="0"/>
                <a:ea typeface="Calibri" pitchFamily="34" charset="-122"/>
                <a:cs typeface="Calibri" pitchFamily="34" charset="-120"/>
              </a:rPr>
              <a:t>GUIDED BY</a:t>
            </a:r>
            <a:endParaRPr lang="en-US" sz="1050" dirty="0"/>
          </a:p>
        </p:txBody>
      </p:sp>
      <p:sp>
        <p:nvSpPr>
          <p:cNvPr id="21" name="Text 17"/>
          <p:cNvSpPr/>
          <p:nvPr/>
        </p:nvSpPr>
        <p:spPr>
          <a:xfrm>
            <a:off x="7040880" y="3767328"/>
            <a:ext cx="4572000" cy="384048"/>
          </a:xfrm>
          <a:prstGeom prst="rect">
            <a:avLst/>
          </a:prstGeom>
          <a:noFill/>
          <a:ln/>
        </p:spPr>
        <p:txBody>
          <a:bodyPr wrap="square" lIns="0" tIns="0" rIns="0" bIns="0" rtlCol="0" anchor="ctr"/>
          <a:lstStyle/>
          <a:p>
            <a:pPr marL="0" indent="0">
              <a:buNone/>
            </a:pPr>
            <a:r>
              <a:rPr lang="en-US" sz="1300" b="1" dirty="0" smtClean="0">
                <a:solidFill>
                  <a:srgbClr val="1C2526"/>
                </a:solidFill>
                <a:latin typeface="Calibri" pitchFamily="34" charset="0"/>
                <a:ea typeface="Calibri" pitchFamily="34" charset="-122"/>
                <a:cs typeface="Calibri" pitchFamily="34" charset="-120"/>
              </a:rPr>
              <a:t>Dr. M. KALPANA DEVI</a:t>
            </a:r>
            <a:endParaRPr lang="en-US" sz="1300" dirty="0"/>
          </a:p>
        </p:txBody>
      </p:sp>
      <p:sp>
        <p:nvSpPr>
          <p:cNvPr id="22" name="Text 18"/>
          <p:cNvSpPr/>
          <p:nvPr/>
        </p:nvSpPr>
        <p:spPr>
          <a:xfrm>
            <a:off x="7040880" y="4133088"/>
            <a:ext cx="4572000" cy="347472"/>
          </a:xfrm>
          <a:prstGeom prst="rect">
            <a:avLst/>
          </a:prstGeom>
          <a:noFill/>
          <a:ln/>
        </p:spPr>
        <p:txBody>
          <a:bodyPr wrap="square" lIns="0" tIns="0" rIns="0" bIns="0" rtlCol="0" anchor="ctr"/>
          <a:lstStyle/>
          <a:p>
            <a:pPr marL="0" indent="0">
              <a:buNone/>
            </a:pPr>
            <a:r>
              <a:rPr lang="en-US" sz="1200" dirty="0" smtClean="0">
                <a:solidFill>
                  <a:srgbClr val="1C2526"/>
                </a:solidFill>
                <a:latin typeface="Calibri" pitchFamily="34" charset="0"/>
                <a:ea typeface="Calibri" pitchFamily="34" charset="-122"/>
                <a:cs typeface="Calibri" pitchFamily="34" charset="-120"/>
              </a:rPr>
              <a:t>ASSOCIATE PROFESSOR</a:t>
            </a:r>
            <a:endParaRPr lang="en-US" sz="1200" dirty="0"/>
          </a:p>
        </p:txBody>
      </p:sp>
      <p:sp>
        <p:nvSpPr>
          <p:cNvPr id="23" name="Text 19"/>
          <p:cNvSpPr/>
          <p:nvPr/>
        </p:nvSpPr>
        <p:spPr>
          <a:xfrm>
            <a:off x="7040880" y="4462272"/>
            <a:ext cx="4572000" cy="347472"/>
          </a:xfrm>
          <a:prstGeom prst="rect">
            <a:avLst/>
          </a:prstGeom>
          <a:noFill/>
          <a:ln/>
        </p:spPr>
        <p:txBody>
          <a:bodyPr wrap="square" lIns="0" tIns="0" rIns="0" bIns="0" rtlCol="0" anchor="ctr"/>
          <a:lstStyle/>
          <a:p>
            <a:pPr marL="0" indent="0">
              <a:buNone/>
            </a:pPr>
            <a:r>
              <a:rPr lang="en-US" sz="1200" dirty="0">
                <a:solidFill>
                  <a:srgbClr val="1C2526"/>
                </a:solidFill>
                <a:latin typeface="Calibri" pitchFamily="34" charset="0"/>
                <a:ea typeface="Calibri" pitchFamily="34" charset="-122"/>
                <a:cs typeface="Calibri" pitchFamily="34" charset="-120"/>
              </a:rPr>
              <a:t>Department of CSE</a:t>
            </a:r>
            <a:endParaRPr lang="en-US" sz="1200" dirty="0"/>
          </a:p>
        </p:txBody>
      </p:sp>
      <p:sp>
        <p:nvSpPr>
          <p:cNvPr id="24" name="Shape 20"/>
          <p:cNvSpPr/>
          <p:nvPr/>
        </p:nvSpPr>
        <p:spPr>
          <a:xfrm>
            <a:off x="0" y="6053328"/>
            <a:ext cx="12191695" cy="320040"/>
          </a:xfrm>
          <a:prstGeom prst="rect">
            <a:avLst/>
          </a:prstGeom>
          <a:solidFill>
            <a:srgbClr val="FFF8E4"/>
          </a:solidFill>
          <a:ln/>
        </p:spPr>
      </p:sp>
      <p:sp>
        <p:nvSpPr>
          <p:cNvPr id="25" name="Text 21"/>
          <p:cNvSpPr/>
          <p:nvPr/>
        </p:nvSpPr>
        <p:spPr>
          <a:xfrm>
            <a:off x="365760" y="6053328"/>
            <a:ext cx="11460175" cy="320040"/>
          </a:xfrm>
          <a:prstGeom prst="rect">
            <a:avLst/>
          </a:prstGeom>
          <a:noFill/>
          <a:ln/>
        </p:spPr>
        <p:txBody>
          <a:bodyPr wrap="square" lIns="0" tIns="0" rIns="0" bIns="0" rtlCol="0" anchor="ctr"/>
          <a:lstStyle/>
          <a:p>
            <a:pPr marL="0" indent="0">
              <a:buNone/>
            </a:pPr>
            <a:endParaRPr lang="en-US" sz="900" dirty="0"/>
          </a:p>
        </p:txBody>
      </p:sp>
      <p:sp>
        <p:nvSpPr>
          <p:cNvPr id="26" name="Shape 22"/>
          <p:cNvSpPr/>
          <p:nvPr/>
        </p:nvSpPr>
        <p:spPr>
          <a:xfrm>
            <a:off x="457200" y="6400800"/>
            <a:ext cx="11277295" cy="0"/>
          </a:xfrm>
          <a:prstGeom prst="line">
            <a:avLst/>
          </a:prstGeom>
          <a:noFill/>
          <a:ln w="9525">
            <a:solidFill>
              <a:srgbClr val="D4E2DC"/>
            </a:solidFill>
            <a:prstDash val="solid"/>
          </a:ln>
        </p:spPr>
      </p:sp>
      <p:sp>
        <p:nvSpPr>
          <p:cNvPr id="27" name="Text 23"/>
          <p:cNvSpPr/>
          <p:nvPr/>
        </p:nvSpPr>
        <p:spPr>
          <a:xfrm>
            <a:off x="457200" y="6455664"/>
            <a:ext cx="2926080" cy="274320"/>
          </a:xfrm>
          <a:prstGeom prst="rect">
            <a:avLst/>
          </a:prstGeom>
          <a:noFill/>
          <a:ln/>
        </p:spPr>
        <p:txBody>
          <a:bodyPr wrap="square" lIns="0" tIns="0" rIns="0" bIns="0" rtlCol="0" anchor="ctr"/>
          <a:lstStyle/>
          <a:p>
            <a:pPr marL="0" indent="0" algn="l">
              <a:buNone/>
            </a:pPr>
            <a:r>
              <a:rPr lang="en-US" sz="900" dirty="0" smtClean="0">
                <a:solidFill>
                  <a:srgbClr val="6B7B73"/>
                </a:solidFill>
                <a:latin typeface="Calibri" pitchFamily="34" charset="0"/>
                <a:ea typeface="Calibri" pitchFamily="34" charset="-122"/>
                <a:cs typeface="Calibri" pitchFamily="34" charset="-120"/>
              </a:rPr>
              <a:t>14</a:t>
            </a:r>
            <a:r>
              <a:rPr lang="en-US" sz="900" dirty="0" smtClean="0">
                <a:solidFill>
                  <a:srgbClr val="6B7B73"/>
                </a:solidFill>
                <a:latin typeface="Calibri" pitchFamily="34" charset="0"/>
                <a:ea typeface="Calibri" pitchFamily="34" charset="-122"/>
                <a:cs typeface="Calibri" pitchFamily="34" charset="-120"/>
              </a:rPr>
              <a:t>/10/2026</a:t>
            </a:r>
            <a:endParaRPr lang="en-US" sz="900" dirty="0"/>
          </a:p>
        </p:txBody>
      </p:sp>
      <p:sp>
        <p:nvSpPr>
          <p:cNvPr id="28" name="Text 24"/>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29" name="Text 25"/>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1</a:t>
            </a:r>
            <a:endParaRPr lang="en-US" sz="9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pPr marL="0" indent="0">
              <a:buNone/>
            </a:pPr>
            <a:r>
              <a:rPr lang="en-US" sz="2800" b="1" dirty="0">
                <a:solidFill>
                  <a:srgbClr val="1F4A3A"/>
                </a:solidFill>
                <a:latin typeface="Cambria" pitchFamily="34" charset="0"/>
                <a:ea typeface="Cambria" pitchFamily="34" charset="-122"/>
                <a:cs typeface="Cambria" pitchFamily="34" charset="-120"/>
              </a:rPr>
              <a:t>CONTENTS</a:t>
            </a:r>
            <a:endParaRPr lang="en-US" sz="2800" dirty="0"/>
          </a:p>
        </p:txBody>
      </p:sp>
      <p:sp>
        <p:nvSpPr>
          <p:cNvPr id="4" name="Shape 2"/>
          <p:cNvSpPr/>
          <p:nvPr/>
        </p:nvSpPr>
        <p:spPr>
          <a:xfrm>
            <a:off x="502920" y="1024128"/>
            <a:ext cx="11185855" cy="0"/>
          </a:xfrm>
          <a:prstGeom prst="line">
            <a:avLst/>
          </a:prstGeom>
          <a:noFill/>
          <a:ln w="15240">
            <a:solidFill>
              <a:srgbClr val="C9A841"/>
            </a:solidFill>
            <a:prstDash val="solid"/>
          </a:ln>
        </p:spPr>
      </p:sp>
      <p:sp>
        <p:nvSpPr>
          <p:cNvPr id="5" name="Shape 3"/>
          <p:cNvSpPr/>
          <p:nvPr/>
        </p:nvSpPr>
        <p:spPr>
          <a:xfrm>
            <a:off x="457200" y="6400800"/>
            <a:ext cx="11277295" cy="0"/>
          </a:xfrm>
          <a:prstGeom prst="line">
            <a:avLst/>
          </a:prstGeom>
          <a:noFill/>
          <a:ln w="9525">
            <a:solidFill>
              <a:srgbClr val="D4E2DC"/>
            </a:solidFill>
            <a:prstDash val="solid"/>
          </a:ln>
        </p:spPr>
      </p:sp>
      <p:sp>
        <p:nvSpPr>
          <p:cNvPr id="6" name="Text 4"/>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p:txBody>
      </p:sp>
      <p:sp>
        <p:nvSpPr>
          <p:cNvPr id="7" name="Text 5"/>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8" name="Text 6"/>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2</a:t>
            </a:r>
            <a:endParaRPr lang="en-US" sz="900" dirty="0"/>
          </a:p>
        </p:txBody>
      </p:sp>
      <p:sp>
        <p:nvSpPr>
          <p:cNvPr id="9" name="Shape 7"/>
          <p:cNvSpPr/>
          <p:nvPr/>
        </p:nvSpPr>
        <p:spPr>
          <a:xfrm>
            <a:off x="502920" y="1188720"/>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10" name="Shape 8"/>
          <p:cNvSpPr/>
          <p:nvPr/>
        </p:nvSpPr>
        <p:spPr>
          <a:xfrm>
            <a:off x="630936" y="1307592"/>
            <a:ext cx="292608" cy="292608"/>
          </a:xfrm>
          <a:prstGeom prst="ellipse">
            <a:avLst/>
          </a:prstGeom>
          <a:solidFill>
            <a:srgbClr val="1F4A3A"/>
          </a:solidFill>
          <a:ln/>
        </p:spPr>
      </p:sp>
      <p:sp>
        <p:nvSpPr>
          <p:cNvPr id="11" name="Text 9"/>
          <p:cNvSpPr/>
          <p:nvPr/>
        </p:nvSpPr>
        <p:spPr>
          <a:xfrm>
            <a:off x="630936" y="1307592"/>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01</a:t>
            </a:r>
            <a:endParaRPr lang="en-US" sz="1000" dirty="0"/>
          </a:p>
        </p:txBody>
      </p:sp>
      <p:sp>
        <p:nvSpPr>
          <p:cNvPr id="12" name="Text 10"/>
          <p:cNvSpPr/>
          <p:nvPr/>
        </p:nvSpPr>
        <p:spPr>
          <a:xfrm>
            <a:off x="1014984" y="1188720"/>
            <a:ext cx="4434840" cy="530352"/>
          </a:xfrm>
          <a:prstGeom prst="rect">
            <a:avLst/>
          </a:prstGeom>
          <a:noFill/>
          <a:ln/>
        </p:spPr>
        <p:txBody>
          <a:bodyPr wrap="square" lIns="0" tIns="0" rIns="0" bIns="0" rtlCol="0" anchor="ctr"/>
          <a:lstStyle/>
          <a:p>
            <a:pPr marL="0" indent="0" algn="l">
              <a:buNone/>
            </a:pPr>
            <a:r>
              <a:rPr lang="en-US" sz="1250" b="1" dirty="0">
                <a:solidFill>
                  <a:srgbClr val="1C2526"/>
                </a:solidFill>
                <a:latin typeface="Calibri" pitchFamily="34" charset="0"/>
                <a:ea typeface="Calibri" pitchFamily="34" charset="-122"/>
                <a:cs typeface="Calibri" pitchFamily="34" charset="-120"/>
              </a:rPr>
              <a:t>Abstract</a:t>
            </a:r>
            <a:endParaRPr lang="en-US" sz="1250" dirty="0"/>
          </a:p>
        </p:txBody>
      </p:sp>
      <p:sp>
        <p:nvSpPr>
          <p:cNvPr id="13" name="Shape 11"/>
          <p:cNvSpPr/>
          <p:nvPr/>
        </p:nvSpPr>
        <p:spPr>
          <a:xfrm>
            <a:off x="502920" y="1810512"/>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14" name="Shape 12"/>
          <p:cNvSpPr/>
          <p:nvPr/>
        </p:nvSpPr>
        <p:spPr>
          <a:xfrm>
            <a:off x="630936" y="1929384"/>
            <a:ext cx="292608" cy="292608"/>
          </a:xfrm>
          <a:prstGeom prst="ellipse">
            <a:avLst/>
          </a:prstGeom>
          <a:solidFill>
            <a:srgbClr val="1F4A3A"/>
          </a:solidFill>
          <a:ln/>
        </p:spPr>
      </p:sp>
      <p:sp>
        <p:nvSpPr>
          <p:cNvPr id="15" name="Text 13"/>
          <p:cNvSpPr/>
          <p:nvPr/>
        </p:nvSpPr>
        <p:spPr>
          <a:xfrm>
            <a:off x="630936" y="1929384"/>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02</a:t>
            </a:r>
            <a:endParaRPr lang="en-US" sz="1000" dirty="0"/>
          </a:p>
        </p:txBody>
      </p:sp>
      <p:sp>
        <p:nvSpPr>
          <p:cNvPr id="16" name="Text 14"/>
          <p:cNvSpPr/>
          <p:nvPr/>
        </p:nvSpPr>
        <p:spPr>
          <a:xfrm>
            <a:off x="1014984" y="1810512"/>
            <a:ext cx="4434840" cy="530352"/>
          </a:xfrm>
          <a:prstGeom prst="rect">
            <a:avLst/>
          </a:prstGeom>
          <a:noFill/>
          <a:ln/>
        </p:spPr>
        <p:txBody>
          <a:bodyPr wrap="square" lIns="0" tIns="0" rIns="0" bIns="0" rtlCol="0" anchor="ctr"/>
          <a:lstStyle/>
          <a:p>
            <a:pPr marL="0" indent="0" algn="l">
              <a:buNone/>
            </a:pPr>
            <a:r>
              <a:rPr lang="en-US" sz="1250" b="1" dirty="0">
                <a:solidFill>
                  <a:srgbClr val="1C2526"/>
                </a:solidFill>
                <a:latin typeface="Calibri" pitchFamily="34" charset="0"/>
                <a:ea typeface="Calibri" pitchFamily="34" charset="-122"/>
                <a:cs typeface="Calibri" pitchFamily="34" charset="-120"/>
              </a:rPr>
              <a:t>Introduction</a:t>
            </a:r>
            <a:endParaRPr lang="en-US" sz="1250" dirty="0"/>
          </a:p>
        </p:txBody>
      </p:sp>
      <p:sp>
        <p:nvSpPr>
          <p:cNvPr id="17" name="Shape 15"/>
          <p:cNvSpPr/>
          <p:nvPr/>
        </p:nvSpPr>
        <p:spPr>
          <a:xfrm>
            <a:off x="502920" y="2432304"/>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18" name="Shape 16"/>
          <p:cNvSpPr/>
          <p:nvPr/>
        </p:nvSpPr>
        <p:spPr>
          <a:xfrm>
            <a:off x="630936" y="2551176"/>
            <a:ext cx="292608" cy="292608"/>
          </a:xfrm>
          <a:prstGeom prst="ellipse">
            <a:avLst/>
          </a:prstGeom>
          <a:solidFill>
            <a:srgbClr val="1F4A3A"/>
          </a:solidFill>
          <a:ln/>
        </p:spPr>
      </p:sp>
      <p:sp>
        <p:nvSpPr>
          <p:cNvPr id="19" name="Text 17"/>
          <p:cNvSpPr/>
          <p:nvPr/>
        </p:nvSpPr>
        <p:spPr>
          <a:xfrm>
            <a:off x="630936" y="2551176"/>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03</a:t>
            </a:r>
            <a:endParaRPr lang="en-US" sz="1000" dirty="0"/>
          </a:p>
        </p:txBody>
      </p:sp>
      <p:sp>
        <p:nvSpPr>
          <p:cNvPr id="20" name="Text 18"/>
          <p:cNvSpPr/>
          <p:nvPr/>
        </p:nvSpPr>
        <p:spPr>
          <a:xfrm>
            <a:off x="1014984" y="2432304"/>
            <a:ext cx="4434840" cy="530352"/>
          </a:xfrm>
          <a:prstGeom prst="rect">
            <a:avLst/>
          </a:prstGeom>
          <a:noFill/>
          <a:ln/>
        </p:spPr>
        <p:txBody>
          <a:bodyPr wrap="square" lIns="0" tIns="0" rIns="0" bIns="0" rtlCol="0" anchor="ctr"/>
          <a:lstStyle/>
          <a:p>
            <a:pPr marL="0" indent="0" algn="l">
              <a:buNone/>
            </a:pPr>
            <a:r>
              <a:rPr lang="en-US" sz="1250" b="1" dirty="0" smtClean="0">
                <a:solidFill>
                  <a:srgbClr val="1C2526"/>
                </a:solidFill>
                <a:latin typeface="Calibri" pitchFamily="34" charset="0"/>
                <a:ea typeface="Calibri" pitchFamily="34" charset="-122"/>
                <a:cs typeface="Calibri" pitchFamily="34" charset="-120"/>
              </a:rPr>
              <a:t>Detailed Design</a:t>
            </a:r>
            <a:endParaRPr lang="en-US" sz="1250" dirty="0"/>
          </a:p>
        </p:txBody>
      </p:sp>
      <p:sp>
        <p:nvSpPr>
          <p:cNvPr id="21" name="Shape 19"/>
          <p:cNvSpPr/>
          <p:nvPr/>
        </p:nvSpPr>
        <p:spPr>
          <a:xfrm>
            <a:off x="502920" y="3054096"/>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22" name="Shape 20"/>
          <p:cNvSpPr/>
          <p:nvPr/>
        </p:nvSpPr>
        <p:spPr>
          <a:xfrm>
            <a:off x="630936" y="3172968"/>
            <a:ext cx="292608" cy="292608"/>
          </a:xfrm>
          <a:prstGeom prst="ellipse">
            <a:avLst/>
          </a:prstGeom>
          <a:solidFill>
            <a:srgbClr val="1F4A3A"/>
          </a:solidFill>
          <a:ln/>
        </p:spPr>
      </p:sp>
      <p:sp>
        <p:nvSpPr>
          <p:cNvPr id="23" name="Text 21"/>
          <p:cNvSpPr/>
          <p:nvPr/>
        </p:nvSpPr>
        <p:spPr>
          <a:xfrm>
            <a:off x="630936" y="3172968"/>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04</a:t>
            </a:r>
            <a:endParaRPr lang="en-US" sz="1000" dirty="0"/>
          </a:p>
        </p:txBody>
      </p:sp>
      <p:sp>
        <p:nvSpPr>
          <p:cNvPr id="24" name="Text 22"/>
          <p:cNvSpPr/>
          <p:nvPr/>
        </p:nvSpPr>
        <p:spPr>
          <a:xfrm>
            <a:off x="1014984" y="3054096"/>
            <a:ext cx="4434840" cy="530352"/>
          </a:xfrm>
          <a:prstGeom prst="rect">
            <a:avLst/>
          </a:prstGeom>
          <a:noFill/>
          <a:ln/>
        </p:spPr>
        <p:txBody>
          <a:bodyPr wrap="square" lIns="0" tIns="0" rIns="0" bIns="0" rtlCol="0" anchor="ctr"/>
          <a:lstStyle/>
          <a:p>
            <a:pPr marL="0" indent="0" algn="l">
              <a:buNone/>
            </a:pPr>
            <a:r>
              <a:rPr lang="en-US" sz="1250" b="1" dirty="0" smtClean="0">
                <a:solidFill>
                  <a:srgbClr val="1C2526"/>
                </a:solidFill>
                <a:latin typeface="Calibri" pitchFamily="34" charset="0"/>
                <a:ea typeface="Calibri" pitchFamily="34" charset="-122"/>
                <a:cs typeface="Calibri" pitchFamily="34" charset="-120"/>
              </a:rPr>
              <a:t>Contribution of the Team</a:t>
            </a:r>
            <a:endParaRPr lang="en-US" sz="1250" dirty="0"/>
          </a:p>
        </p:txBody>
      </p:sp>
      <p:sp>
        <p:nvSpPr>
          <p:cNvPr id="25" name="Shape 23"/>
          <p:cNvSpPr/>
          <p:nvPr/>
        </p:nvSpPr>
        <p:spPr>
          <a:xfrm>
            <a:off x="502920" y="3675888"/>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26" name="Shape 24"/>
          <p:cNvSpPr/>
          <p:nvPr/>
        </p:nvSpPr>
        <p:spPr>
          <a:xfrm>
            <a:off x="630936" y="3794760"/>
            <a:ext cx="292608" cy="292608"/>
          </a:xfrm>
          <a:prstGeom prst="ellipse">
            <a:avLst/>
          </a:prstGeom>
          <a:solidFill>
            <a:srgbClr val="1F4A3A"/>
          </a:solidFill>
          <a:ln/>
        </p:spPr>
      </p:sp>
      <p:sp>
        <p:nvSpPr>
          <p:cNvPr id="27" name="Text 25"/>
          <p:cNvSpPr/>
          <p:nvPr/>
        </p:nvSpPr>
        <p:spPr>
          <a:xfrm>
            <a:off x="630936" y="3794760"/>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05</a:t>
            </a:r>
            <a:endParaRPr lang="en-US" sz="1000" dirty="0"/>
          </a:p>
        </p:txBody>
      </p:sp>
      <p:sp>
        <p:nvSpPr>
          <p:cNvPr id="28" name="Text 26"/>
          <p:cNvSpPr/>
          <p:nvPr/>
        </p:nvSpPr>
        <p:spPr>
          <a:xfrm>
            <a:off x="1014984" y="3675888"/>
            <a:ext cx="4434840" cy="530352"/>
          </a:xfrm>
          <a:prstGeom prst="rect">
            <a:avLst/>
          </a:prstGeom>
          <a:noFill/>
          <a:ln/>
        </p:spPr>
        <p:txBody>
          <a:bodyPr wrap="square" lIns="0" tIns="0" rIns="0" bIns="0" rtlCol="0" anchor="ctr"/>
          <a:lstStyle/>
          <a:p>
            <a:pPr marL="0" indent="0" algn="l">
              <a:buNone/>
            </a:pPr>
            <a:r>
              <a:rPr lang="en-US" sz="1250" b="1" dirty="0" smtClean="0">
                <a:solidFill>
                  <a:srgbClr val="1C2526"/>
                </a:solidFill>
                <a:latin typeface="Calibri" pitchFamily="34" charset="0"/>
                <a:ea typeface="Calibri" pitchFamily="34" charset="-122"/>
                <a:cs typeface="Calibri" pitchFamily="34" charset="-120"/>
              </a:rPr>
              <a:t>Results Obtained</a:t>
            </a:r>
            <a:endParaRPr lang="en-US" sz="1250" dirty="0"/>
          </a:p>
        </p:txBody>
      </p:sp>
      <p:sp>
        <p:nvSpPr>
          <p:cNvPr id="29" name="Shape 27"/>
          <p:cNvSpPr/>
          <p:nvPr/>
        </p:nvSpPr>
        <p:spPr>
          <a:xfrm>
            <a:off x="502920" y="4270248"/>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30" name="Shape 28"/>
          <p:cNvSpPr/>
          <p:nvPr/>
        </p:nvSpPr>
        <p:spPr>
          <a:xfrm>
            <a:off x="630936" y="4416552"/>
            <a:ext cx="292608" cy="292608"/>
          </a:xfrm>
          <a:prstGeom prst="ellipse">
            <a:avLst/>
          </a:prstGeom>
          <a:solidFill>
            <a:srgbClr val="1F4A3A"/>
          </a:solidFill>
          <a:ln/>
        </p:spPr>
      </p:sp>
      <p:sp>
        <p:nvSpPr>
          <p:cNvPr id="31" name="Text 29"/>
          <p:cNvSpPr/>
          <p:nvPr/>
        </p:nvSpPr>
        <p:spPr>
          <a:xfrm>
            <a:off x="630936" y="4416552"/>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06</a:t>
            </a:r>
            <a:endParaRPr lang="en-US" sz="1000" dirty="0"/>
          </a:p>
        </p:txBody>
      </p:sp>
      <p:sp>
        <p:nvSpPr>
          <p:cNvPr id="32" name="Text 30"/>
          <p:cNvSpPr/>
          <p:nvPr/>
        </p:nvSpPr>
        <p:spPr>
          <a:xfrm>
            <a:off x="1014984" y="4297680"/>
            <a:ext cx="4434840" cy="530352"/>
          </a:xfrm>
          <a:prstGeom prst="rect">
            <a:avLst/>
          </a:prstGeom>
          <a:noFill/>
          <a:ln/>
        </p:spPr>
        <p:txBody>
          <a:bodyPr wrap="square" lIns="0" tIns="0" rIns="0" bIns="0" rtlCol="0" anchor="ctr"/>
          <a:lstStyle/>
          <a:p>
            <a:endParaRPr lang="en-US" sz="1250" b="1" dirty="0" smtClean="0">
              <a:solidFill>
                <a:srgbClr val="1C2526"/>
              </a:solidFill>
              <a:latin typeface="Calibri" pitchFamily="34" charset="0"/>
              <a:ea typeface="Calibri" pitchFamily="34" charset="-122"/>
              <a:cs typeface="Calibri" pitchFamily="34" charset="-120"/>
            </a:endParaRPr>
          </a:p>
          <a:p>
            <a:r>
              <a:rPr lang="en-US" sz="1250" b="1" dirty="0" smtClean="0">
                <a:solidFill>
                  <a:srgbClr val="1C2526"/>
                </a:solidFill>
                <a:latin typeface="Calibri" pitchFamily="34" charset="0"/>
                <a:ea typeface="Calibri" pitchFamily="34" charset="-122"/>
                <a:cs typeface="Calibri" pitchFamily="34" charset="-120"/>
              </a:rPr>
              <a:t>References </a:t>
            </a:r>
            <a:r>
              <a:rPr lang="en-US" sz="1250" b="1" dirty="0">
                <a:solidFill>
                  <a:srgbClr val="1C2526"/>
                </a:solidFill>
                <a:latin typeface="Calibri" pitchFamily="34" charset="0"/>
                <a:ea typeface="Calibri" pitchFamily="34" charset="-122"/>
                <a:cs typeface="Calibri" pitchFamily="34" charset="-120"/>
              </a:rPr>
              <a:t>(Min. 15, IEEE Format)</a:t>
            </a:r>
            <a:endParaRPr lang="en-US" sz="1250" dirty="0"/>
          </a:p>
          <a:p>
            <a:pPr marL="0" indent="0" algn="l">
              <a:buNone/>
            </a:pPr>
            <a:endParaRPr lang="en-US" sz="1250" dirty="0"/>
          </a:p>
        </p:txBody>
      </p:sp>
      <p:sp>
        <p:nvSpPr>
          <p:cNvPr id="33" name="Shape 31"/>
          <p:cNvSpPr/>
          <p:nvPr/>
        </p:nvSpPr>
        <p:spPr>
          <a:xfrm>
            <a:off x="502920" y="4864608"/>
            <a:ext cx="5074920" cy="530352"/>
          </a:xfrm>
          <a:prstGeom prst="roundRect">
            <a:avLst>
              <a:gd name="adj" fmla="val 12069"/>
            </a:avLst>
          </a:prstGeom>
          <a:solidFill>
            <a:srgbClr val="E8F5F0"/>
          </a:solidFill>
          <a:ln w="9525">
            <a:solidFill>
              <a:srgbClr val="D4E2DC"/>
            </a:solidFill>
            <a:prstDash val="solid"/>
          </a:ln>
          <a:effectLst>
            <a:outerShdw blurRad="63500" dist="25400" dir="5400000" algn="bl" rotWithShape="0">
              <a:srgbClr val="AAAAAA">
                <a:alpha val="10000"/>
              </a:srgbClr>
            </a:outerShdw>
          </a:effectLst>
        </p:spPr>
      </p:sp>
      <p:sp>
        <p:nvSpPr>
          <p:cNvPr id="34" name="Shape 32"/>
          <p:cNvSpPr/>
          <p:nvPr/>
        </p:nvSpPr>
        <p:spPr>
          <a:xfrm>
            <a:off x="637242" y="4983480"/>
            <a:ext cx="292608" cy="292608"/>
          </a:xfrm>
          <a:prstGeom prst="ellipse">
            <a:avLst/>
          </a:prstGeom>
          <a:solidFill>
            <a:srgbClr val="1F4A3A"/>
          </a:solidFill>
          <a:ln/>
        </p:spPr>
      </p:sp>
      <p:sp>
        <p:nvSpPr>
          <p:cNvPr id="35" name="Text 33"/>
          <p:cNvSpPr/>
          <p:nvPr/>
        </p:nvSpPr>
        <p:spPr>
          <a:xfrm>
            <a:off x="643548" y="4982534"/>
            <a:ext cx="292608" cy="292608"/>
          </a:xfrm>
          <a:prstGeom prst="rect">
            <a:avLst/>
          </a:prstGeom>
          <a:noFill/>
          <a:ln/>
        </p:spPr>
        <p:txBody>
          <a:bodyPr wrap="square" lIns="0" tIns="0" rIns="0" bIns="0" rtlCol="0" anchor="ctr"/>
          <a:lstStyle/>
          <a:p>
            <a:pPr marL="0" indent="0" algn="ctr">
              <a:buNone/>
            </a:pPr>
            <a:r>
              <a:rPr lang="en-US" sz="1000" b="1" dirty="0">
                <a:solidFill>
                  <a:srgbClr val="C9A841"/>
                </a:solidFill>
                <a:latin typeface="Calibri" pitchFamily="34" charset="0"/>
                <a:ea typeface="Calibri" pitchFamily="34" charset="-122"/>
                <a:cs typeface="Calibri" pitchFamily="34" charset="-120"/>
              </a:rPr>
              <a:t>07</a:t>
            </a:r>
            <a:endParaRPr lang="en-US" sz="1000" dirty="0"/>
          </a:p>
        </p:txBody>
      </p:sp>
      <p:sp>
        <p:nvSpPr>
          <p:cNvPr id="36" name="Text 34"/>
          <p:cNvSpPr/>
          <p:nvPr/>
        </p:nvSpPr>
        <p:spPr>
          <a:xfrm>
            <a:off x="6291072" y="1188720"/>
            <a:ext cx="4434840" cy="530352"/>
          </a:xfrm>
          <a:prstGeom prst="rect">
            <a:avLst/>
          </a:prstGeom>
          <a:noFill/>
          <a:ln/>
        </p:spPr>
        <p:txBody>
          <a:bodyPr wrap="square" lIns="0" tIns="0" rIns="0" bIns="0" rtlCol="0" anchor="ctr"/>
          <a:lstStyle/>
          <a:p>
            <a:pPr marL="0" indent="0" algn="l">
              <a:buNone/>
            </a:pPr>
            <a:endParaRPr lang="en-US" sz="1250" dirty="0"/>
          </a:p>
        </p:txBody>
      </p:sp>
      <p:sp>
        <p:nvSpPr>
          <p:cNvPr id="56" name="Text 54"/>
          <p:cNvSpPr/>
          <p:nvPr/>
        </p:nvSpPr>
        <p:spPr>
          <a:xfrm>
            <a:off x="1014984" y="4830870"/>
            <a:ext cx="4434840" cy="530352"/>
          </a:xfrm>
          <a:prstGeom prst="rect">
            <a:avLst/>
          </a:prstGeom>
          <a:noFill/>
          <a:ln/>
        </p:spPr>
        <p:txBody>
          <a:bodyPr wrap="square" lIns="0" tIns="0" rIns="0" bIns="0" rtlCol="0" anchor="ctr"/>
          <a:lstStyle/>
          <a:p>
            <a:pPr marL="0" indent="0" algn="l">
              <a:buNone/>
            </a:pPr>
            <a:r>
              <a:rPr lang="en-US" sz="1250" b="1" dirty="0">
                <a:solidFill>
                  <a:srgbClr val="1C2526"/>
                </a:solidFill>
                <a:latin typeface="Calibri" pitchFamily="34" charset="0"/>
                <a:ea typeface="Calibri" pitchFamily="34" charset="-122"/>
                <a:cs typeface="Calibri" pitchFamily="34" charset="-120"/>
              </a:rPr>
              <a:t>Thank You</a:t>
            </a:r>
            <a:endParaRPr lang="en-US" sz="12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pPr marL="0" indent="0">
              <a:buNone/>
            </a:pPr>
            <a:r>
              <a:rPr lang="en-US" sz="2800" b="1" dirty="0">
                <a:solidFill>
                  <a:srgbClr val="1F4A3A"/>
                </a:solidFill>
                <a:latin typeface="Cambria" pitchFamily="34" charset="0"/>
                <a:ea typeface="Cambria" pitchFamily="34" charset="-122"/>
                <a:cs typeface="Cambria" pitchFamily="34" charset="-120"/>
              </a:rPr>
              <a:t>ABSTRACT</a:t>
            </a:r>
            <a:endParaRPr lang="en-US" sz="2800" dirty="0"/>
          </a:p>
        </p:txBody>
      </p:sp>
      <p:sp>
        <p:nvSpPr>
          <p:cNvPr id="4"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100" dirty="0"/>
          </a:p>
        </p:txBody>
      </p:sp>
      <p:sp>
        <p:nvSpPr>
          <p:cNvPr id="5" name="Shape 3"/>
          <p:cNvSpPr/>
          <p:nvPr/>
        </p:nvSpPr>
        <p:spPr>
          <a:xfrm>
            <a:off x="502920" y="1024128"/>
            <a:ext cx="11185855" cy="0"/>
          </a:xfrm>
          <a:prstGeom prst="line">
            <a:avLst/>
          </a:prstGeom>
          <a:noFill/>
          <a:ln w="15240">
            <a:solidFill>
              <a:srgbClr val="C9A841"/>
            </a:solidFill>
            <a:prstDash val="solid"/>
          </a:ln>
        </p:spPr>
      </p:sp>
      <p:sp>
        <p:nvSpPr>
          <p:cNvPr id="6" name="Shape 4"/>
          <p:cNvSpPr/>
          <p:nvPr/>
        </p:nvSpPr>
        <p:spPr>
          <a:xfrm>
            <a:off x="457200" y="6400800"/>
            <a:ext cx="11277295" cy="0"/>
          </a:xfrm>
          <a:prstGeom prst="line">
            <a:avLst/>
          </a:prstGeom>
          <a:noFill/>
          <a:ln w="9525">
            <a:solidFill>
              <a:srgbClr val="D4E2DC"/>
            </a:solidFill>
            <a:prstDash val="solid"/>
          </a:ln>
        </p:spPr>
      </p:sp>
      <p:sp>
        <p:nvSpPr>
          <p:cNvPr id="7" name="Text 5"/>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p:txBody>
      </p:sp>
      <p:sp>
        <p:nvSpPr>
          <p:cNvPr id="8" name="Text 6"/>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9" name="Text 7"/>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3</a:t>
            </a:r>
            <a:endParaRPr lang="en-US" sz="900" dirty="0"/>
          </a:p>
        </p:txBody>
      </p:sp>
      <p:sp>
        <p:nvSpPr>
          <p:cNvPr id="10" name="Shape 8"/>
          <p:cNvSpPr/>
          <p:nvPr/>
        </p:nvSpPr>
        <p:spPr>
          <a:xfrm>
            <a:off x="502920" y="1188720"/>
            <a:ext cx="11185855" cy="420624"/>
          </a:xfrm>
          <a:prstGeom prst="roundRect">
            <a:avLst>
              <a:gd name="adj" fmla="val 13043"/>
            </a:avLst>
          </a:prstGeom>
          <a:solidFill>
            <a:srgbClr val="FBF6E3"/>
          </a:solidFill>
          <a:ln w="10160">
            <a:solidFill>
              <a:srgbClr val="C9A841"/>
            </a:solidFill>
            <a:prstDash val="solid"/>
          </a:ln>
        </p:spPr>
      </p:sp>
      <p:sp>
        <p:nvSpPr>
          <p:cNvPr id="11" name="Text 9"/>
          <p:cNvSpPr/>
          <p:nvPr/>
        </p:nvSpPr>
        <p:spPr>
          <a:xfrm>
            <a:off x="685800" y="1188720"/>
            <a:ext cx="10820095" cy="420624"/>
          </a:xfrm>
          <a:prstGeom prst="rect">
            <a:avLst/>
          </a:prstGeom>
          <a:noFill/>
          <a:ln/>
        </p:spPr>
        <p:txBody>
          <a:bodyPr wrap="square" lIns="0" tIns="0" rIns="0" bIns="0" rtlCol="0" anchor="ctr"/>
          <a:lstStyle/>
          <a:p>
            <a:pPr marL="0" indent="0">
              <a:buNone/>
            </a:pPr>
            <a:endParaRPr lang="en-US" sz="1050" dirty="0"/>
          </a:p>
        </p:txBody>
      </p:sp>
      <p:sp>
        <p:nvSpPr>
          <p:cNvPr id="12" name="Shape 10"/>
          <p:cNvSpPr/>
          <p:nvPr/>
        </p:nvSpPr>
        <p:spPr>
          <a:xfrm>
            <a:off x="502920" y="1719072"/>
            <a:ext cx="11185855" cy="4005072"/>
          </a:xfrm>
          <a:prstGeom prst="roundRect">
            <a:avLst>
              <a:gd name="adj" fmla="val 1370"/>
            </a:avLst>
          </a:prstGeom>
          <a:solidFill>
            <a:srgbClr val="F5FAF8"/>
          </a:solidFill>
          <a:ln w="12700">
            <a:solidFill>
              <a:srgbClr val="D4E2DC"/>
            </a:solidFill>
            <a:prstDash val="dash"/>
          </a:ln>
        </p:spPr>
      </p:sp>
      <p:sp>
        <p:nvSpPr>
          <p:cNvPr id="13" name="Text 11"/>
          <p:cNvSpPr/>
          <p:nvPr/>
        </p:nvSpPr>
        <p:spPr>
          <a:xfrm>
            <a:off x="667512" y="1719072"/>
            <a:ext cx="10856671" cy="4005072"/>
          </a:xfrm>
          <a:prstGeom prst="rect">
            <a:avLst/>
          </a:prstGeom>
          <a:noFill/>
          <a:ln/>
        </p:spPr>
        <p:txBody>
          <a:bodyPr wrap="square" lIns="0" tIns="0" rIns="0" bIns="0" rtlCol="0" anchor="ctr"/>
          <a:lstStyle/>
          <a:p>
            <a:pPr algn="just"/>
            <a:r>
              <a:rPr lang="en-US" sz="1400" dirty="0">
                <a:latin typeface="Times New Roman" panose="02020603050405020304" pitchFamily="18" charset="0"/>
                <a:cs typeface="Times New Roman" panose="02020603050405020304" pitchFamily="18" charset="0"/>
              </a:rPr>
              <a:t>Manual loan underwriting in commercial and retail banking is inherently labor-intensive, error-prone, and slow, while conventional machine learning approaches rely on complex black-box architectures (such as deep neural networks or standard gradient-boosted trees) that deny creditworthy applicants without providing clear, legally defensible justifications. This lack of transparency violates contemporary financial regulations, notably the Reserve Bank of India (RBI) Digital Lending Guidelines (2022) and Equal Credit Opportunity mandates. This project proposes an intelligent, end-to-end banking solution for automated loan eligibility assessment utilizing Microsoft InterpretML's Explainable Boosting Machine (EBM) - a cyclic gradient-boosted Generalized Additive Model with pairwise interaction terms (GA²M). The system processes an 18-feature vector integrating 12 demographic and credit bureau attributes with dynamically engineered financial indicators, including reducing-balance monthly EMI calculations, total Debt-to-Income (DTI) ratios, and Loan-to-Income (LTI) ratios. An interactive credit simulation interface enables applicants and underwriters to model CIBIL score variations across distinct repayment histories and revolving credit utilizations with real-time feedback. When deployed across a containerized four-tier microservice architecture (React 18 frontend, Express API gateway, Python FastAPI inference engine, and MySQL 8.0 relational database), the trained EBM achieves 85.37% classification accuracy, 98.82% sensitivity (recall), and a 90.32% F1-score on held-out test data - outperforming traditional logistic regression baselines by +10.57% while delivering deterministic local logit attributions and plain-English adverse action notices within 39.1 milliseconds.</a:t>
            </a:r>
            <a:r>
              <a:rPr lang="en-US" sz="1400" dirty="0" err="1">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pPr marL="0" indent="0">
              <a:buNone/>
            </a:pPr>
            <a:r>
              <a:rPr lang="en-US" sz="2800" b="1" dirty="0">
                <a:solidFill>
                  <a:srgbClr val="1F4A3A"/>
                </a:solidFill>
                <a:latin typeface="Cambria" pitchFamily="34" charset="0"/>
                <a:ea typeface="Cambria" pitchFamily="34" charset="-122"/>
                <a:cs typeface="Cambria" pitchFamily="34" charset="-120"/>
              </a:rPr>
              <a:t>INTRODUCTION</a:t>
            </a:r>
            <a:endParaRPr lang="en-US" sz="2800" dirty="0"/>
          </a:p>
        </p:txBody>
      </p:sp>
      <p:sp>
        <p:nvSpPr>
          <p:cNvPr id="4" name="Shape 2"/>
          <p:cNvSpPr/>
          <p:nvPr/>
        </p:nvSpPr>
        <p:spPr>
          <a:xfrm>
            <a:off x="502920" y="1024128"/>
            <a:ext cx="11185855" cy="0"/>
          </a:xfrm>
          <a:prstGeom prst="line">
            <a:avLst/>
          </a:prstGeom>
          <a:noFill/>
          <a:ln w="15240">
            <a:solidFill>
              <a:srgbClr val="C9A841"/>
            </a:solidFill>
            <a:prstDash val="solid"/>
          </a:ln>
        </p:spPr>
      </p:sp>
      <p:sp>
        <p:nvSpPr>
          <p:cNvPr id="5" name="Shape 3"/>
          <p:cNvSpPr/>
          <p:nvPr/>
        </p:nvSpPr>
        <p:spPr>
          <a:xfrm>
            <a:off x="457200" y="6400800"/>
            <a:ext cx="11277295" cy="0"/>
          </a:xfrm>
          <a:prstGeom prst="line">
            <a:avLst/>
          </a:prstGeom>
          <a:noFill/>
          <a:ln w="9525">
            <a:solidFill>
              <a:srgbClr val="D4E2DC"/>
            </a:solidFill>
            <a:prstDash val="solid"/>
          </a:ln>
        </p:spPr>
      </p:sp>
      <p:sp>
        <p:nvSpPr>
          <p:cNvPr id="6" name="Text 4"/>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p:txBody>
      </p:sp>
      <p:sp>
        <p:nvSpPr>
          <p:cNvPr id="7" name="Text 5"/>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8" name="Text 6"/>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4</a:t>
            </a:r>
            <a:endParaRPr lang="en-US" sz="900" dirty="0"/>
          </a:p>
        </p:txBody>
      </p:sp>
      <p:sp>
        <p:nvSpPr>
          <p:cNvPr id="9" name="Shape 7"/>
          <p:cNvSpPr/>
          <p:nvPr/>
        </p:nvSpPr>
        <p:spPr>
          <a:xfrm>
            <a:off x="502920" y="1170432"/>
            <a:ext cx="3108960" cy="329184"/>
          </a:xfrm>
          <a:prstGeom prst="roundRect">
            <a:avLst>
              <a:gd name="adj" fmla="val 16667"/>
            </a:avLst>
          </a:prstGeom>
          <a:solidFill>
            <a:srgbClr val="1F4A3A"/>
          </a:solidFill>
          <a:ln/>
        </p:spPr>
      </p:sp>
      <p:sp>
        <p:nvSpPr>
          <p:cNvPr id="10" name="Text 8"/>
          <p:cNvSpPr/>
          <p:nvPr/>
        </p:nvSpPr>
        <p:spPr>
          <a:xfrm>
            <a:off x="502920" y="1170432"/>
            <a:ext cx="3108960" cy="329184"/>
          </a:xfrm>
          <a:prstGeom prst="rect">
            <a:avLst/>
          </a:prstGeom>
          <a:noFill/>
          <a:ln/>
        </p:spPr>
        <p:txBody>
          <a:bodyPr wrap="square" lIns="0" tIns="0" rIns="0" bIns="0" rtlCol="0" anchor="ctr"/>
          <a:lstStyle/>
          <a:p>
            <a:pPr marL="0" indent="0" algn="ctr">
              <a:buNone/>
            </a:pPr>
            <a:r>
              <a:rPr lang="en-US" sz="1050" b="1" kern="0" spc="80" dirty="0">
                <a:solidFill>
                  <a:srgbClr val="FFFFFF"/>
                </a:solidFill>
                <a:latin typeface="Calibri" pitchFamily="34" charset="0"/>
                <a:ea typeface="Calibri" pitchFamily="34" charset="-122"/>
                <a:cs typeface="Calibri" pitchFamily="34" charset="-120"/>
              </a:rPr>
              <a:t>PROBLEM STATEMENT</a:t>
            </a:r>
            <a:endParaRPr lang="en-US" sz="1050" dirty="0"/>
          </a:p>
        </p:txBody>
      </p:sp>
      <p:sp>
        <p:nvSpPr>
          <p:cNvPr id="11" name="Shape 9"/>
          <p:cNvSpPr/>
          <p:nvPr/>
        </p:nvSpPr>
        <p:spPr>
          <a:xfrm>
            <a:off x="502920" y="1591056"/>
            <a:ext cx="11185855" cy="1261872"/>
          </a:xfrm>
          <a:prstGeom prst="roundRect">
            <a:avLst>
              <a:gd name="adj" fmla="val 5072"/>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12" name="Shape 10"/>
          <p:cNvSpPr/>
          <p:nvPr/>
        </p:nvSpPr>
        <p:spPr>
          <a:xfrm>
            <a:off x="502920" y="1591056"/>
            <a:ext cx="11185855" cy="1261872"/>
          </a:xfrm>
          <a:prstGeom prst="roundRect">
            <a:avLst>
              <a:gd name="adj" fmla="val 4348"/>
            </a:avLst>
          </a:prstGeom>
          <a:solidFill>
            <a:srgbClr val="F5FAF8"/>
          </a:solidFill>
          <a:ln w="12700">
            <a:solidFill>
              <a:srgbClr val="D4E2DC"/>
            </a:solidFill>
            <a:prstDash val="dash"/>
          </a:ln>
        </p:spPr>
      </p:sp>
      <p:sp>
        <p:nvSpPr>
          <p:cNvPr id="13" name="Text 11"/>
          <p:cNvSpPr/>
          <p:nvPr/>
        </p:nvSpPr>
        <p:spPr>
          <a:xfrm>
            <a:off x="667512" y="1591056"/>
            <a:ext cx="10856671" cy="1261872"/>
          </a:xfrm>
          <a:prstGeom prst="rect">
            <a:avLst/>
          </a:prstGeom>
          <a:noFill/>
          <a:ln/>
        </p:spPr>
        <p:txBody>
          <a:bodyPr wrap="square" lIns="0" tIns="0" rIns="0" bIns="0" rtlCol="0" anchor="ctr"/>
          <a:lstStyle/>
          <a:p>
            <a:pPr algn="just"/>
            <a:r>
              <a:rPr lang="en-US" sz="1400" dirty="0">
                <a:latin typeface="Times New Roman" panose="02020603050405020304" pitchFamily="18" charset="0"/>
                <a:cs typeface="Times New Roman" panose="02020603050405020304" pitchFamily="18" charset="0"/>
              </a:rPr>
              <a:t>Manual loan underwriting in commercial banks is slow, subjective, and operationally expensive. Modern machine learning solutions frequently rely on black-box architectures (XGBoost, Deep Neural Networks) that produce binary credit decisions without transparent causal explanations. This violates regulatory directives (e.g., RBI Digital Lending Guidelines 2022) requiring lenders to articulate clear adverse action notices and feature-level credit justifications to rejected applicants.</a:t>
            </a:r>
            <a:r>
              <a:rPr lang="en-US" sz="1400" dirty="0" smtClean="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p>
        </p:txBody>
      </p:sp>
      <p:sp>
        <p:nvSpPr>
          <p:cNvPr id="14" name="Shape 12"/>
          <p:cNvSpPr/>
          <p:nvPr/>
        </p:nvSpPr>
        <p:spPr>
          <a:xfrm>
            <a:off x="502920" y="2999232"/>
            <a:ext cx="3108960" cy="329184"/>
          </a:xfrm>
          <a:prstGeom prst="roundRect">
            <a:avLst>
              <a:gd name="adj" fmla="val 16667"/>
            </a:avLst>
          </a:prstGeom>
          <a:solidFill>
            <a:srgbClr val="1F4A3A"/>
          </a:solidFill>
          <a:ln/>
        </p:spPr>
      </p:sp>
      <p:sp>
        <p:nvSpPr>
          <p:cNvPr id="15" name="Text 13"/>
          <p:cNvSpPr/>
          <p:nvPr/>
        </p:nvSpPr>
        <p:spPr>
          <a:xfrm>
            <a:off x="502920" y="2999232"/>
            <a:ext cx="3108960" cy="329184"/>
          </a:xfrm>
          <a:prstGeom prst="rect">
            <a:avLst/>
          </a:prstGeom>
          <a:noFill/>
          <a:ln/>
        </p:spPr>
        <p:txBody>
          <a:bodyPr wrap="square" lIns="0" tIns="0" rIns="0" bIns="0" rtlCol="0" anchor="ctr"/>
          <a:lstStyle/>
          <a:p>
            <a:pPr marL="0" indent="0" algn="ctr">
              <a:buNone/>
            </a:pPr>
            <a:r>
              <a:rPr lang="en-US" sz="1050" b="1" kern="0" spc="80" dirty="0">
                <a:solidFill>
                  <a:srgbClr val="FFFFFF"/>
                </a:solidFill>
                <a:latin typeface="Calibri" pitchFamily="34" charset="0"/>
                <a:ea typeface="Calibri" pitchFamily="34" charset="-122"/>
                <a:cs typeface="Calibri" pitchFamily="34" charset="-120"/>
              </a:rPr>
              <a:t>MOTIVATION</a:t>
            </a:r>
            <a:endParaRPr lang="en-US" sz="1050" dirty="0"/>
          </a:p>
        </p:txBody>
      </p:sp>
      <p:sp>
        <p:nvSpPr>
          <p:cNvPr id="16" name="Shape 14"/>
          <p:cNvSpPr/>
          <p:nvPr/>
        </p:nvSpPr>
        <p:spPr>
          <a:xfrm>
            <a:off x="502920" y="3419856"/>
            <a:ext cx="5303520" cy="1993392"/>
          </a:xfrm>
          <a:prstGeom prst="roundRect">
            <a:avLst>
              <a:gd name="adj" fmla="val 3211"/>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17" name="Shape 15"/>
          <p:cNvSpPr/>
          <p:nvPr/>
        </p:nvSpPr>
        <p:spPr>
          <a:xfrm>
            <a:off x="502920" y="3419856"/>
            <a:ext cx="5303520" cy="1993392"/>
          </a:xfrm>
          <a:prstGeom prst="roundRect">
            <a:avLst>
              <a:gd name="adj" fmla="val 2752"/>
            </a:avLst>
          </a:prstGeom>
          <a:solidFill>
            <a:srgbClr val="F5FAF8"/>
          </a:solidFill>
          <a:ln w="12700">
            <a:solidFill>
              <a:srgbClr val="D4E2DC"/>
            </a:solidFill>
            <a:prstDash val="dash"/>
          </a:ln>
        </p:spPr>
      </p:sp>
      <p:sp>
        <p:nvSpPr>
          <p:cNvPr id="18" name="Text 16"/>
          <p:cNvSpPr/>
          <p:nvPr/>
        </p:nvSpPr>
        <p:spPr>
          <a:xfrm>
            <a:off x="667512" y="3419856"/>
            <a:ext cx="4974336" cy="1993392"/>
          </a:xfrm>
          <a:prstGeom prst="rect">
            <a:avLst/>
          </a:prstGeom>
          <a:noFill/>
          <a:ln/>
        </p:spPr>
        <p:txBody>
          <a:bodyPr wrap="square" lIns="0" tIns="0" rIns="0" bIns="0" rtlCol="0" anchor="ctr"/>
          <a:lstStyle/>
          <a:p>
            <a:pPr algn="just"/>
            <a:r>
              <a:rPr lang="en-US" sz="1400" dirty="0">
                <a:latin typeface="Times New Roman" panose="02020603050405020304" pitchFamily="18" charset="0"/>
                <a:cs typeface="Times New Roman" panose="02020603050405020304" pitchFamily="18" charset="0"/>
              </a:rPr>
              <a:t>Retail borrowers and small businesses face systemic opacity when applying for loans, often unaware of whether income, Debt-to-Income (DTI), or credit bureau scores triggered their rejection. This project was motivated by bridging the gap between predictive accuracy and Glass-Box interpretability using Microsoft InterpretML's Explainable Boosting Machines (GA²M). Creating an interactive, full-stack banking simulator with live reducing-balance EMI calculators, CIBIL gauge controls, and real-time waterfall charts makes ethical, transparent lending accessible to borrowers and risk officers alike.</a:t>
            </a:r>
            <a:r>
              <a:rPr lang="en-US" sz="1400" dirty="0" err="1">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r>
              <a:rPr lang="en-US" sz="1400" dirty="0" smtClean="0">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r>
              <a:rPr lang="en-US" sz="1400" dirty="0" err="1">
                <a:latin typeface="Times New Roman" panose="02020603050405020304" pitchFamily="18" charset="0"/>
                <a:cs typeface="Times New Roman" panose="02020603050405020304" pitchFamily="18" charset="0"/>
              </a:rPr>
              <a:t/>
            </a:r>
            <a:r>
              <a:rPr lang="en-US" sz="1400" dirty="0">
                <a:latin typeface="Times New Roman" panose="02020603050405020304" pitchFamily="18" charset="0"/>
                <a:cs typeface="Times New Roman" panose="02020603050405020304" pitchFamily="18" charset="0"/>
              </a:rPr>
              <a:t/>
            </a:r>
          </a:p>
        </p:txBody>
      </p:sp>
      <p:sp>
        <p:nvSpPr>
          <p:cNvPr id="19" name="Shape 17"/>
          <p:cNvSpPr/>
          <p:nvPr/>
        </p:nvSpPr>
        <p:spPr>
          <a:xfrm>
            <a:off x="6080760" y="2999232"/>
            <a:ext cx="3108960" cy="329184"/>
          </a:xfrm>
          <a:prstGeom prst="roundRect">
            <a:avLst>
              <a:gd name="adj" fmla="val 16667"/>
            </a:avLst>
          </a:prstGeom>
          <a:solidFill>
            <a:srgbClr val="1F4A3A"/>
          </a:solidFill>
          <a:ln/>
        </p:spPr>
      </p:sp>
      <p:sp>
        <p:nvSpPr>
          <p:cNvPr id="20" name="Text 18"/>
          <p:cNvSpPr/>
          <p:nvPr/>
        </p:nvSpPr>
        <p:spPr>
          <a:xfrm>
            <a:off x="6080760" y="2999232"/>
            <a:ext cx="3108960" cy="329184"/>
          </a:xfrm>
          <a:prstGeom prst="rect">
            <a:avLst/>
          </a:prstGeom>
          <a:noFill/>
          <a:ln/>
        </p:spPr>
        <p:txBody>
          <a:bodyPr wrap="square" lIns="0" tIns="0" rIns="0" bIns="0" rtlCol="0" anchor="ctr"/>
          <a:lstStyle/>
          <a:p>
            <a:pPr marL="0" indent="0" algn="ctr">
              <a:buNone/>
            </a:pPr>
            <a:r>
              <a:rPr lang="en-US" sz="1050" b="1" kern="0" spc="80" dirty="0">
                <a:solidFill>
                  <a:srgbClr val="FFFFFF"/>
                </a:solidFill>
                <a:latin typeface="Calibri" pitchFamily="34" charset="0"/>
                <a:ea typeface="Calibri" pitchFamily="34" charset="-122"/>
                <a:cs typeface="Calibri" pitchFamily="34" charset="-120"/>
              </a:rPr>
              <a:t>SCOPE OF WORK</a:t>
            </a:r>
            <a:endParaRPr lang="en-US" sz="1050" dirty="0"/>
          </a:p>
        </p:txBody>
      </p:sp>
      <p:sp>
        <p:nvSpPr>
          <p:cNvPr id="21" name="Shape 19"/>
          <p:cNvSpPr/>
          <p:nvPr/>
        </p:nvSpPr>
        <p:spPr>
          <a:xfrm>
            <a:off x="6080760" y="3419856"/>
            <a:ext cx="5605272" cy="1993392"/>
          </a:xfrm>
          <a:prstGeom prst="roundRect">
            <a:avLst>
              <a:gd name="adj" fmla="val 3211"/>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22" name="Shape 20"/>
          <p:cNvSpPr/>
          <p:nvPr/>
        </p:nvSpPr>
        <p:spPr>
          <a:xfrm>
            <a:off x="6080760" y="3419856"/>
            <a:ext cx="5605272" cy="1993392"/>
          </a:xfrm>
          <a:prstGeom prst="roundRect">
            <a:avLst>
              <a:gd name="adj" fmla="val 2752"/>
            </a:avLst>
          </a:prstGeom>
          <a:solidFill>
            <a:srgbClr val="F5FAF8"/>
          </a:solidFill>
          <a:ln w="12700">
            <a:solidFill>
              <a:srgbClr val="D4E2DC"/>
            </a:solidFill>
            <a:prstDash val="dash"/>
          </a:ln>
        </p:spPr>
      </p:sp>
      <p:sp>
        <p:nvSpPr>
          <p:cNvPr id="23" name="Text 21"/>
          <p:cNvSpPr/>
          <p:nvPr/>
        </p:nvSpPr>
        <p:spPr>
          <a:xfrm>
            <a:off x="6245352" y="3419856"/>
            <a:ext cx="5276088" cy="1993392"/>
          </a:xfrm>
          <a:prstGeom prst="rect">
            <a:avLst/>
          </a:prstGeom>
          <a:noFill/>
          <a:ln/>
        </p:spPr>
        <p:txBody>
          <a:bodyPr wrap="square" lIns="0" tIns="0" rIns="0" bIns="0" rtlCol="0" anchor="ctr"/>
          <a:lstStyle/>
          <a:p>
            <a:pPr algn="just"/>
            <a:r>
              <a:rPr lang="en-IN" sz="1400" b="1" dirty="0">
                <a:latin typeface="Times New Roman" panose="02020603050405020304" pitchFamily="18" charset="0"/>
                <a:cs typeface="Times New Roman" panose="02020603050405020304" pitchFamily="18" charset="0"/>
              </a:rPr>
              <a:t>In scope:</a:t>
            </a:r>
            <a:r>
              <a:rPr lang="en-IN" sz="1400" dirty="0">
                <a:latin typeface="Times New Roman" panose="02020603050405020304" pitchFamily="18" charset="0"/>
                <a:cs typeface="Times New Roman" panose="02020603050405020304" pitchFamily="18" charset="0"/>
              </a:rPr>
              <a:t> 18-feature credit pipeline (12 demographic/credit inputs + 3 derived financial ratios: EMI, DTI, LTI + 3 employment indicators); Explainable Boosting Classifier (GA²M with 256 quantile bins and pairwise interaction terms); Interactive React 18 frontend with CIBIL score simulator (300-900) and live EMI/DTI preview; FastAPI microservice delivering sub-40ms predictions and exact local logit attributions; 6 normalized MySQL 8.0 tables with audit logs.</a:t>
            </a:r>
            <a:r>
              <a:rPr lang="en-IN" sz="1400" dirty="0" err="1">
                <a:latin typeface="Times New Roman" panose="02020603050405020304" pitchFamily="18" charset="0"/>
                <a:cs typeface="Times New Roman" panose="02020603050405020304" pitchFamily="18" charset="0"/>
              </a:rPr>
              <a:t/>
            </a:r>
            <a:r>
              <a:rPr lang="en-IN" sz="1400" dirty="0">
                <a:latin typeface="Times New Roman" panose="02020603050405020304" pitchFamily="18" charset="0"/>
                <a:cs typeface="Times New Roman" panose="02020603050405020304" pitchFamily="18" charset="0"/>
              </a:rPr>
              <a:t/>
            </a:r>
            <a:r>
              <a:rPr lang="en-IN" sz="1400" dirty="0" err="1">
                <a:latin typeface="Times New Roman" panose="02020603050405020304" pitchFamily="18" charset="0"/>
                <a:cs typeface="Times New Roman" panose="02020603050405020304" pitchFamily="18" charset="0"/>
              </a:rPr>
              <a:t/>
            </a:r>
            <a:r>
              <a:rPr lang="en-IN" sz="1400" dirty="0">
                <a:latin typeface="Times New Roman" panose="02020603050405020304" pitchFamily="18" charset="0"/>
                <a:cs typeface="Times New Roman" panose="02020603050405020304" pitchFamily="18" charset="0"/>
              </a:rPr>
              <a:t/>
            </a:r>
          </a:p>
          <a:p>
            <a:pPr algn="just"/>
            <a:r>
              <a:rPr lang="en-IN" sz="1400" b="1" dirty="0">
                <a:latin typeface="Times New Roman" panose="02020603050405020304" pitchFamily="18" charset="0"/>
                <a:cs typeface="Times New Roman" panose="02020603050405020304" pitchFamily="18" charset="0"/>
              </a:rPr>
              <a:t>Out of scope:</a:t>
            </a:r>
            <a:r>
              <a:rPr lang="en-IN" sz="1400" dirty="0">
                <a:latin typeface="Times New Roman" panose="02020603050405020304" pitchFamily="18" charset="0"/>
                <a:cs typeface="Times New Roman" panose="02020603050405020304" pitchFamily="18" charset="0"/>
              </a:rPr>
              <a:t> Live production integration with TransUnion CIBIL bureau APIs (simulated in demo mode per regulatory compliance); automated OCR extraction of physical bank passbooks; foreign exchange multi-currency lending; automated payment gateway fund disbursements.</a:t>
            </a:r>
            <a:r>
              <a:rPr lang="en-IN" sz="1400" dirty="0" smtClean="0">
                <a:latin typeface="Times New Roman" panose="02020603050405020304" pitchFamily="18" charset="0"/>
                <a:cs typeface="Times New Roman" panose="02020603050405020304" pitchFamily="18" charset="0"/>
              </a:rPr>
              <a:t/>
            </a:r>
            <a:r>
              <a:rPr lang="en-IN" sz="1400" dirty="0">
                <a:latin typeface="Times New Roman" panose="02020603050405020304" pitchFamily="18" charset="0"/>
                <a:cs typeface="Times New Roman" panose="02020603050405020304" pitchFamily="18" charset="0"/>
              </a:rPr>
              <a:t/>
            </a:r>
            <a:r>
              <a:rPr lang="en-IN" sz="1400" dirty="0" smtClean="0">
                <a:latin typeface="Times New Roman" panose="02020603050405020304" pitchFamily="18" charset="0"/>
                <a:cs typeface="Times New Roman" panose="02020603050405020304" pitchFamily="18" charset="0"/>
              </a:rPr>
              <a:t/>
            </a:r>
            <a:r>
              <a:rPr lang="en-IN" sz="1400" dirty="0">
                <a:latin typeface="Times New Roman" panose="02020603050405020304" pitchFamily="18" charset="0"/>
                <a:cs typeface="Times New Roman" panose="02020603050405020304" pitchFamily="18" charset="0"/>
              </a:rPr>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ns3="http://schemas.microsoft.com/office/drawing/2010/main" xmlns:p="http://schemas.openxmlformats.org/presentationml/2006/main" xmlns:r="http://schemas.openxmlformats.org/officeDocument/2006/relationships">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pPr marL="0" indent="0">
              <a:buNone/>
            </a:pPr>
            <a:r>
              <a:rPr lang="en-US" sz="2800" b="1" dirty="0" smtClean="0">
                <a:solidFill>
                  <a:srgbClr val="1F4A3A"/>
                </a:solidFill>
                <a:latin typeface="Cambria" pitchFamily="34" charset="0"/>
                <a:ea typeface="Cambria" pitchFamily="34" charset="-122"/>
                <a:cs typeface="Cambria" pitchFamily="34" charset="-120"/>
              </a:rPr>
              <a:t>DETAILED DESIGN</a:t>
            </a:r>
            <a:endParaRPr lang="en-US" sz="2800" dirty="0"/>
          </a:p>
        </p:txBody>
      </p:sp>
      <p:sp>
        <p:nvSpPr>
          <p:cNvPr id="4"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100" dirty="0"/>
          </a:p>
        </p:txBody>
      </p:sp>
      <p:sp>
        <p:nvSpPr>
          <p:cNvPr id="5" name="Shape 3"/>
          <p:cNvSpPr/>
          <p:nvPr/>
        </p:nvSpPr>
        <p:spPr>
          <a:xfrm>
            <a:off x="502920" y="1024128"/>
            <a:ext cx="11185855" cy="0"/>
          </a:xfrm>
          <a:prstGeom prst="line">
            <a:avLst/>
          </a:prstGeom>
          <a:noFill/>
          <a:ln w="15240">
            <a:solidFill>
              <a:srgbClr val="C9A841"/>
            </a:solidFill>
            <a:prstDash val="solid"/>
          </a:ln>
        </p:spPr>
      </p:sp>
      <p:sp>
        <p:nvSpPr>
          <p:cNvPr id="6" name="Shape 4"/>
          <p:cNvSpPr/>
          <p:nvPr/>
        </p:nvSpPr>
        <p:spPr>
          <a:xfrm>
            <a:off x="457200" y="6400800"/>
            <a:ext cx="11277295" cy="0"/>
          </a:xfrm>
          <a:prstGeom prst="line">
            <a:avLst/>
          </a:prstGeom>
          <a:noFill/>
          <a:ln w="9525">
            <a:solidFill>
              <a:srgbClr val="D4E2DC"/>
            </a:solidFill>
            <a:prstDash val="solid"/>
          </a:ln>
        </p:spPr>
      </p:sp>
      <p:sp>
        <p:nvSpPr>
          <p:cNvPr id="7" name="Text 5"/>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p:txBody>
      </p:sp>
      <p:sp>
        <p:nvSpPr>
          <p:cNvPr id="8" name="Text 6"/>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9" name="Text 7"/>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smtClean="0">
                <a:solidFill>
                  <a:srgbClr val="1F4A3A"/>
                </a:solidFill>
                <a:latin typeface="Calibri" pitchFamily="34" charset="0"/>
                <a:ea typeface="Calibri" pitchFamily="34" charset="-122"/>
                <a:cs typeface="Calibri" pitchFamily="34" charset="-120"/>
              </a:rPr>
              <a:t>5</a:t>
            </a:r>
            <a:endParaRPr lang="en-US" sz="900" dirty="0"/>
          </a:p>
        </p:txBody>
      </p:sp>
      <p:pic>
        <p:nvPicPr>
          <p:cNvPr id="11" name="Picture 10"/>
          <p:cNvPicPr>
            <a:picLocks noChangeAspect="1"/>
          </p:cNvPicPr>
          <p:nvPr/>
        </p:nvPicPr>
        <p:blipFill>
          <a:blip r:embed="rId3">
            <a:extLst>
              <a:ext uri="{28A0092B-C50C-407E-A947-70E740481C1C}">
                <ns3:useLocalDpi val="0"/>
              </a:ext>
            </a:extLst>
          </a:blip>
          <a:stretch>
            <a:fillRect/>
          </a:stretch>
        </p:blipFill>
        <p:spPr>
          <a:xfrm>
            <a:off x="614854" y="1170430"/>
            <a:ext cx="10933387" cy="4954473"/>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ns2="http://schemas.microsoft.com/office/drawing/2010/main"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r>
              <a:rPr lang="en-US" sz="2800" b="1" dirty="0" smtClean="0">
                <a:solidFill>
                  <a:srgbClr val="1F4A3A"/>
                </a:solidFill>
                <a:latin typeface="Cambria" pitchFamily="34" charset="0"/>
                <a:ea typeface="Cambria" pitchFamily="34" charset="-122"/>
              </a:rPr>
              <a:t>CONTRIBUTION OF </a:t>
            </a:r>
            <a:r>
              <a:rPr lang="en-US" sz="2800" b="1" dirty="0">
                <a:solidFill>
                  <a:srgbClr val="1F4A3A"/>
                </a:solidFill>
                <a:latin typeface="Cambria" pitchFamily="34" charset="0"/>
                <a:ea typeface="Cambria" pitchFamily="34" charset="-122"/>
              </a:rPr>
              <a:t>THE TEAM</a:t>
            </a:r>
            <a:endParaRPr lang="en-US" sz="2800" dirty="0"/>
          </a:p>
        </p:txBody>
      </p:sp>
      <p:sp>
        <p:nvSpPr>
          <p:cNvPr id="4"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100" dirty="0"/>
          </a:p>
        </p:txBody>
      </p:sp>
      <p:sp>
        <p:nvSpPr>
          <p:cNvPr id="5" name="Shape 3"/>
          <p:cNvSpPr/>
          <p:nvPr/>
        </p:nvSpPr>
        <p:spPr>
          <a:xfrm>
            <a:off x="502920" y="1024128"/>
            <a:ext cx="11185855" cy="0"/>
          </a:xfrm>
          <a:prstGeom prst="line">
            <a:avLst/>
          </a:prstGeom>
          <a:noFill/>
          <a:ln w="15240">
            <a:solidFill>
              <a:srgbClr val="C9A841"/>
            </a:solidFill>
            <a:prstDash val="solid"/>
          </a:ln>
        </p:spPr>
      </p:sp>
      <p:sp>
        <p:nvSpPr>
          <p:cNvPr id="6" name="Shape 4"/>
          <p:cNvSpPr/>
          <p:nvPr/>
        </p:nvSpPr>
        <p:spPr>
          <a:xfrm>
            <a:off x="457200" y="6400800"/>
            <a:ext cx="11277295" cy="0"/>
          </a:xfrm>
          <a:prstGeom prst="line">
            <a:avLst/>
          </a:prstGeom>
          <a:noFill/>
          <a:ln w="9525">
            <a:solidFill>
              <a:srgbClr val="D4E2DC"/>
            </a:solidFill>
            <a:prstDash val="solid"/>
          </a:ln>
        </p:spPr>
      </p:sp>
      <p:sp>
        <p:nvSpPr>
          <p:cNvPr id="7" name="Text 5"/>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p:txBody>
      </p:sp>
      <p:sp>
        <p:nvSpPr>
          <p:cNvPr id="8" name="Text 6"/>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9" name="Text 7"/>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6</a:t>
            </a:r>
            <a:endParaRPr lang="en-US" sz="900" dirty="0"/>
          </a:p>
        </p:txBody>
      </p:sp>
      <p:sp>
        <p:nvSpPr>
          <p:cNvPr id="10" name="Shape 8"/>
          <p:cNvSpPr/>
          <p:nvPr/>
        </p:nvSpPr>
        <p:spPr>
          <a:xfrm>
            <a:off x="502920" y="1170432"/>
            <a:ext cx="11185855" cy="475488"/>
          </a:xfrm>
          <a:prstGeom prst="roundRect">
            <a:avLst>
              <a:gd name="adj" fmla="val 13462"/>
            </a:avLst>
          </a:prstGeom>
          <a:solidFill>
            <a:srgbClr val="F0FBF5"/>
          </a:solidFill>
          <a:ln w="12700">
            <a:solidFill>
              <a:srgbClr val="1F4A3A"/>
            </a:solidFill>
            <a:prstDash val="solid"/>
          </a:ln>
        </p:spPr>
      </p:sp>
      <p:sp>
        <p:nvSpPr>
          <p:cNvPr id="11" name="Text 9"/>
          <p:cNvSpPr/>
          <p:nvPr/>
        </p:nvSpPr>
        <p:spPr>
          <a:xfrm>
            <a:off x="685800" y="1170432"/>
            <a:ext cx="10820095" cy="475488"/>
          </a:xfrm>
          <a:prstGeom prst="rect">
            <a:avLst/>
          </a:prstGeom>
          <a:noFill/>
          <a:ln/>
        </p:spPr>
        <p:txBody>
          <a:bodyPr wrap="square" lIns="0" tIns="0" rIns="0" bIns="0" rtlCol="0" anchor="ctr"/>
          <a:lstStyle/>
          <a:p>
            <a:pPr marL="0" indent="0">
              <a:buNone/>
            </a:pPr>
            <a:endParaRPr lang="en-US" sz="1100" dirty="0"/>
          </a:p>
        </p:txBody>
      </p:sp>
      <p:sp>
        <p:nvSpPr>
          <p:cNvPr id="12" name="Shape 10"/>
          <p:cNvSpPr/>
          <p:nvPr/>
        </p:nvSpPr>
        <p:spPr>
          <a:xfrm>
            <a:off x="502920" y="1929384"/>
            <a:ext cx="384048" cy="384048"/>
          </a:xfrm>
          <a:prstGeom prst="ellipse">
            <a:avLst/>
          </a:prstGeom>
          <a:solidFill>
            <a:srgbClr val="1F4A3A"/>
          </a:solidFill>
          <a:ln/>
        </p:spPr>
      </p:sp>
      <p:sp>
        <p:nvSpPr>
          <p:cNvPr id="13" name="Text 11"/>
          <p:cNvSpPr/>
          <p:nvPr/>
        </p:nvSpPr>
        <p:spPr>
          <a:xfrm>
            <a:off x="502920" y="1929384"/>
            <a:ext cx="384048" cy="384048"/>
          </a:xfrm>
          <a:prstGeom prst="rect">
            <a:avLst/>
          </a:prstGeom>
          <a:noFill/>
          <a:ln/>
        </p:spPr>
        <p:txBody>
          <a:bodyPr wrap="square" lIns="0" tIns="0" rIns="0" bIns="0" rtlCol="0" anchor="ctr"/>
          <a:lstStyle/>
          <a:p>
            <a:pPr marL="0" indent="0" algn="ctr">
              <a:buNone/>
            </a:pPr>
            <a:r>
              <a:rPr lang="en-US" sz="1400" b="1" dirty="0">
                <a:solidFill>
                  <a:srgbClr val="C9A841"/>
                </a:solidFill>
                <a:latin typeface="Cambria" pitchFamily="34" charset="0"/>
                <a:ea typeface="Cambria" pitchFamily="34" charset="-122"/>
                <a:cs typeface="Cambria" pitchFamily="34" charset="-120"/>
              </a:rPr>
              <a:t>1</a:t>
            </a:r>
            <a:endParaRPr lang="en-US" sz="1400" dirty="0"/>
          </a:p>
        </p:txBody>
      </p:sp>
      <p:sp>
        <p:nvSpPr>
          <p:cNvPr id="14" name="Shape 12"/>
          <p:cNvSpPr/>
          <p:nvPr/>
        </p:nvSpPr>
        <p:spPr>
          <a:xfrm>
            <a:off x="1024128" y="1792224"/>
            <a:ext cx="10664647" cy="749808"/>
          </a:xfrm>
          <a:prstGeom prst="roundRect">
            <a:avLst>
              <a:gd name="adj" fmla="val 7317"/>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15" name="Shape 13"/>
          <p:cNvSpPr/>
          <p:nvPr/>
        </p:nvSpPr>
        <p:spPr>
          <a:xfrm>
            <a:off x="1024128" y="1792224"/>
            <a:ext cx="10664647" cy="749808"/>
          </a:xfrm>
          <a:prstGeom prst="roundRect">
            <a:avLst>
              <a:gd name="adj" fmla="val 7317"/>
            </a:avLst>
          </a:prstGeom>
          <a:solidFill>
            <a:srgbClr val="F5FAF8"/>
          </a:solidFill>
          <a:ln w="12700">
            <a:solidFill>
              <a:srgbClr val="D4E2DC"/>
            </a:solidFill>
            <a:prstDash val="dash"/>
          </a:ln>
        </p:spPr>
      </p:sp>
      <p:sp>
        <p:nvSpPr>
          <p:cNvPr id="16" name="Text 14"/>
          <p:cNvSpPr/>
          <p:nvPr/>
        </p:nvSpPr>
        <p:spPr>
          <a:xfrm>
            <a:off x="1188720" y="1792224"/>
            <a:ext cx="10335463" cy="749808"/>
          </a:xfrm>
          <a:prstGeom prst="rect">
            <a:avLst/>
          </a:prstGeom>
          <a:noFill/>
          <a:ln/>
        </p:spPr>
        <p:txBody>
          <a:bodyPr wrap="square" lIns="0" tIns="0" rIns="0" bIns="0" rtlCol="0" anchor="ctr"/>
          <a:lstStyle/>
          <a:p>
            <a:endParaRPr lang="en-IN" sz="1000" b="1" dirty="0" smtClean="0"/>
          </a:p>
          <a:p>
            <a:endParaRPr lang="en-IN" sz="1000" b="1" dirty="0"/>
          </a:p>
          <a:p>
            <a:endParaRPr lang="en-IN" sz="1000" b="1" dirty="0" smtClean="0"/>
          </a:p>
          <a:p>
            <a:r>
              <a:rPr lang="en-IN" sz="1100" b="1" dirty="0" err="1" smtClean="0"/>
              <a:t>Jeeva Bharathi M </a:t>
            </a:r>
            <a:r>
              <a:rPr lang="en-IN" sz="1100" b="1" dirty="0" smtClean="0"/>
              <a:t>(71382302062) </a:t>
            </a:r>
            <a:r>
              <a:rPr lang="en-IN" sz="1100" b="1" dirty="0"/>
              <a:t>(Team Lead </a:t>
            </a:r>
            <a:r>
              <a:rPr lang="en-IN" sz="1100" b="1" dirty="0" smtClean="0"/>
              <a:t>&amp; Full-Stack / ML):</a:t>
            </a:r>
          </a:p>
          <a:p>
            <a:pPr marL="171450" indent="-171450">
              <a:buFont typeface="Arial" panose="020B0604020202020204" pitchFamily="34" charset="0"/>
              <a:buChar char="•"/>
            </a:pPr>
            <a:r>
              <a:rPr lang="en-US" sz="1100" dirty="0"/>
              <a:t>Led overall project architecture, milestone planning, and multi-container Docker Compose orchestration.</a:t>
            </a:r>
          </a:p>
          <a:p>
            <a:pPr marL="171450" indent="-171450">
              <a:buFont typeface="Arial" panose="020B0604020202020204" pitchFamily="34" charset="0"/>
              <a:buChar char="•"/>
            </a:pPr>
            <a:r>
              <a:rPr lang="en-US" sz="1100" dirty="0"/>
              <a:t>Trained and benchmarked the Explainable Boosting Machine (EBM) achieving 85.37% accuracy and 98.82% recall.</a:t>
            </a:r>
          </a:p>
          <a:p>
            <a:pPr marL="171450" indent="-171450">
              <a:buFont typeface="Arial" panose="020B0604020202020204" pitchFamily="34" charset="0"/>
              <a:buChar char="•"/>
            </a:pPr>
            <a:r>
              <a:rPr lang="en-US" sz="1100" dirty="0"/>
              <a:t>Engineered the local logit attribution extractor and connected backend predictions to real-time Recharts waterfall views</a:t>
            </a:r>
            <a:r>
              <a:rPr lang="en-US" sz="1200" dirty="0"/>
              <a:t>.</a:t>
            </a:r>
          </a:p>
          <a:p>
            <a:endParaRPr lang="en-IN" sz="1200" b="1" dirty="0" smtClean="0"/>
          </a:p>
          <a:p>
            <a:r>
              <a:rPr lang="en-IN" sz="1200" b="1" dirty="0" smtClean="0"/>
              <a:t/>
            </a:r>
            <a:br>
              <a:rPr lang="en-IN" sz="1200" b="1" dirty="0" smtClean="0"/>
            </a:br>
            <a:endParaRPr lang="en-IN" sz="1200" dirty="0"/>
          </a:p>
        </p:txBody>
      </p:sp>
      <p:sp>
        <p:nvSpPr>
          <p:cNvPr id="17" name="Shape 15"/>
          <p:cNvSpPr/>
          <p:nvPr/>
        </p:nvSpPr>
        <p:spPr>
          <a:xfrm>
            <a:off x="502920" y="2807208"/>
            <a:ext cx="384048" cy="384048"/>
          </a:xfrm>
          <a:prstGeom prst="ellipse">
            <a:avLst/>
          </a:prstGeom>
          <a:solidFill>
            <a:srgbClr val="1F4A3A"/>
          </a:solidFill>
          <a:ln/>
        </p:spPr>
      </p:sp>
      <p:sp>
        <p:nvSpPr>
          <p:cNvPr id="18" name="Text 16"/>
          <p:cNvSpPr/>
          <p:nvPr/>
        </p:nvSpPr>
        <p:spPr>
          <a:xfrm>
            <a:off x="502920" y="2807208"/>
            <a:ext cx="384048" cy="384048"/>
          </a:xfrm>
          <a:prstGeom prst="rect">
            <a:avLst/>
          </a:prstGeom>
          <a:noFill/>
          <a:ln/>
        </p:spPr>
        <p:txBody>
          <a:bodyPr wrap="square" lIns="0" tIns="0" rIns="0" bIns="0" rtlCol="0" anchor="ctr"/>
          <a:lstStyle/>
          <a:p>
            <a:pPr marL="0" indent="0" algn="ctr">
              <a:buNone/>
            </a:pPr>
            <a:r>
              <a:rPr lang="en-US" sz="1400" b="1" dirty="0">
                <a:solidFill>
                  <a:srgbClr val="C9A841"/>
                </a:solidFill>
                <a:latin typeface="Cambria" pitchFamily="34" charset="0"/>
                <a:ea typeface="Cambria" pitchFamily="34" charset="-122"/>
                <a:cs typeface="Cambria" pitchFamily="34" charset="-120"/>
              </a:rPr>
              <a:t>2</a:t>
            </a:r>
            <a:endParaRPr lang="en-US" sz="1400" dirty="0"/>
          </a:p>
        </p:txBody>
      </p:sp>
      <p:sp>
        <p:nvSpPr>
          <p:cNvPr id="19" name="Shape 17"/>
          <p:cNvSpPr/>
          <p:nvPr/>
        </p:nvSpPr>
        <p:spPr>
          <a:xfrm>
            <a:off x="1024128" y="2670048"/>
            <a:ext cx="10664647" cy="749808"/>
          </a:xfrm>
          <a:prstGeom prst="roundRect">
            <a:avLst>
              <a:gd name="adj" fmla="val 7317"/>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20" name="Shape 18"/>
          <p:cNvSpPr/>
          <p:nvPr/>
        </p:nvSpPr>
        <p:spPr>
          <a:xfrm>
            <a:off x="1024128" y="2670048"/>
            <a:ext cx="10664647" cy="749808"/>
          </a:xfrm>
          <a:prstGeom prst="roundRect">
            <a:avLst>
              <a:gd name="adj" fmla="val 7317"/>
            </a:avLst>
          </a:prstGeom>
          <a:solidFill>
            <a:srgbClr val="F5FAF8"/>
          </a:solidFill>
          <a:ln w="12700">
            <a:solidFill>
              <a:srgbClr val="D4E2DC"/>
            </a:solidFill>
            <a:prstDash val="dash"/>
          </a:ln>
        </p:spPr>
      </p:sp>
      <p:sp>
        <p:nvSpPr>
          <p:cNvPr id="21" name="Text 19"/>
          <p:cNvSpPr/>
          <p:nvPr/>
        </p:nvSpPr>
        <p:spPr>
          <a:xfrm>
            <a:off x="1188720" y="2670048"/>
            <a:ext cx="10335463" cy="749808"/>
          </a:xfrm>
          <a:prstGeom prst="rect">
            <a:avLst/>
          </a:prstGeom>
          <a:noFill/>
          <a:ln/>
        </p:spPr>
        <p:txBody>
          <a:bodyPr wrap="square" lIns="0" tIns="0" rIns="0" bIns="0" rtlCol="0" anchor="ctr"/>
          <a:lstStyle/>
          <a:p>
            <a:r>
              <a:rPr lang="en-US" sz="1100" b="1" dirty="0" err="1"/>
              <a:t>Krishnakanth M </a:t>
            </a:r>
            <a:r>
              <a:rPr lang="en-US" sz="1100" b="1" dirty="0"/>
              <a:t>(71382302083) </a:t>
            </a:r>
            <a:r>
              <a:rPr lang="en-US" sz="1100" b="1" dirty="0" smtClean="0"/>
              <a:t>(Backend &amp; Security</a:t>
            </a:r>
            <a:r>
              <a:rPr lang="en-US" sz="1100" b="1" dirty="0"/>
              <a:t>)</a:t>
            </a:r>
            <a:endParaRPr lang="en-US" sz="1100" dirty="0"/>
          </a:p>
          <a:p>
            <a:pPr marL="171450" indent="-171450">
              <a:buFont typeface="Arial" panose="020B0604020202020204" pitchFamily="34" charset="0"/>
              <a:buChar char="•"/>
            </a:pPr>
            <a:r>
              <a:rPr lang="en-US" sz="1100" dirty="0"/>
              <a:t>Developed the Node.js and Express REST API gateway with TypeScript, JWT authentication, and Bcrypt security.</a:t>
            </a:r>
          </a:p>
          <a:p>
            <a:pPr marL="171450" indent="-171450">
              <a:buFont typeface="Arial" panose="020B0604020202020204" pitchFamily="34" charset="0"/>
              <a:buChar char="•"/>
            </a:pPr>
            <a:r>
              <a:rPr lang="en-US" sz="1100" dirty="0"/>
              <a:t>Architected the MySQL 8.0 relational schema with Prisma ORM across 6 normalized 3NF entities.</a:t>
            </a:r>
          </a:p>
          <a:p>
            <a:pPr marL="171450" indent="-171450">
              <a:buFont typeface="Arial" panose="020B0604020202020204" pitchFamily="34" charset="0"/>
              <a:buChar char="•"/>
            </a:pPr>
            <a:r>
              <a:rPr lang="en-US" sz="1100" dirty="0"/>
              <a:t>Implemented security middleware (Helmet, CORS, rate limiting) and the immutable audit_logs compliance pipeline</a:t>
            </a:r>
            <a:r>
              <a:rPr lang="en-US" sz="1200" dirty="0" smtClean="0"/>
              <a:t>.</a:t>
            </a:r>
            <a:endParaRPr lang="en-US" sz="1200" dirty="0"/>
          </a:p>
        </p:txBody>
      </p:sp>
      <p:sp>
        <p:nvSpPr>
          <p:cNvPr id="22" name="Shape 20"/>
          <p:cNvSpPr/>
          <p:nvPr/>
        </p:nvSpPr>
        <p:spPr>
          <a:xfrm>
            <a:off x="502920" y="3685032"/>
            <a:ext cx="384048" cy="384048"/>
          </a:xfrm>
          <a:prstGeom prst="ellipse">
            <a:avLst/>
          </a:prstGeom>
          <a:solidFill>
            <a:srgbClr val="1F4A3A"/>
          </a:solidFill>
          <a:ln/>
        </p:spPr>
      </p:sp>
      <p:sp>
        <p:nvSpPr>
          <p:cNvPr id="23" name="Text 21"/>
          <p:cNvSpPr/>
          <p:nvPr/>
        </p:nvSpPr>
        <p:spPr>
          <a:xfrm>
            <a:off x="502920" y="3685032"/>
            <a:ext cx="384048" cy="384048"/>
          </a:xfrm>
          <a:prstGeom prst="rect">
            <a:avLst/>
          </a:prstGeom>
          <a:noFill/>
          <a:ln/>
        </p:spPr>
        <p:txBody>
          <a:bodyPr wrap="square" lIns="0" tIns="0" rIns="0" bIns="0" rtlCol="0" anchor="ctr"/>
          <a:lstStyle/>
          <a:p>
            <a:pPr marL="0" indent="0" algn="ctr">
              <a:buNone/>
            </a:pPr>
            <a:r>
              <a:rPr lang="en-US" sz="1400" b="1" dirty="0">
                <a:solidFill>
                  <a:srgbClr val="C9A841"/>
                </a:solidFill>
                <a:latin typeface="Cambria" pitchFamily="34" charset="0"/>
                <a:ea typeface="Cambria" pitchFamily="34" charset="-122"/>
                <a:cs typeface="Cambria" pitchFamily="34" charset="-120"/>
              </a:rPr>
              <a:t>3</a:t>
            </a:r>
            <a:endParaRPr lang="en-US" sz="1400" dirty="0"/>
          </a:p>
        </p:txBody>
      </p:sp>
      <p:sp>
        <p:nvSpPr>
          <p:cNvPr id="24" name="Shape 22"/>
          <p:cNvSpPr/>
          <p:nvPr/>
        </p:nvSpPr>
        <p:spPr>
          <a:xfrm>
            <a:off x="1024128" y="3547872"/>
            <a:ext cx="10664647" cy="749808"/>
          </a:xfrm>
          <a:prstGeom prst="roundRect">
            <a:avLst>
              <a:gd name="adj" fmla="val 7317"/>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25" name="Shape 23"/>
          <p:cNvSpPr/>
          <p:nvPr/>
        </p:nvSpPr>
        <p:spPr>
          <a:xfrm>
            <a:off x="1024128" y="3547872"/>
            <a:ext cx="10664647" cy="749808"/>
          </a:xfrm>
          <a:prstGeom prst="roundRect">
            <a:avLst>
              <a:gd name="adj" fmla="val 7317"/>
            </a:avLst>
          </a:prstGeom>
          <a:solidFill>
            <a:srgbClr val="F5FAF8"/>
          </a:solidFill>
          <a:ln w="12700">
            <a:solidFill>
              <a:srgbClr val="D4E2DC"/>
            </a:solidFill>
            <a:prstDash val="dash"/>
          </a:ln>
        </p:spPr>
      </p:sp>
      <p:sp>
        <p:nvSpPr>
          <p:cNvPr id="26" name="Text 24"/>
          <p:cNvSpPr/>
          <p:nvPr/>
        </p:nvSpPr>
        <p:spPr>
          <a:xfrm>
            <a:off x="1188720" y="3547872"/>
            <a:ext cx="10335463" cy="749808"/>
          </a:xfrm>
          <a:prstGeom prst="rect">
            <a:avLst/>
          </a:prstGeom>
          <a:noFill/>
          <a:ln/>
        </p:spPr>
        <p:txBody>
          <a:bodyPr wrap="square" lIns="0" tIns="0" rIns="0" bIns="0" rtlCol="0" anchor="ctr"/>
          <a:lstStyle/>
          <a:p>
            <a:r>
              <a:rPr lang="en-US" sz="1100" b="1" dirty="0" err="1"/>
              <a:t>Jeesha S </a:t>
            </a:r>
            <a:r>
              <a:rPr lang="en-US" sz="1100" b="1" dirty="0"/>
              <a:t>(71382302061) </a:t>
            </a:r>
            <a:r>
              <a:rPr lang="en-US" sz="1100" b="1" dirty="0" err="1" smtClean="0"/>
              <a:t/>
            </a:r>
            <a:r>
              <a:rPr lang="en-US" sz="1100" b="1" dirty="0" smtClean="0"/>
              <a:t>(Frontend &amp; </a:t>
            </a:r>
            <a:r>
              <a:rPr lang="en-US" sz="1100" b="1" dirty="0"/>
              <a:t>UI/UX)</a:t>
            </a:r>
            <a:endParaRPr lang="en-US" sz="1100" dirty="0"/>
          </a:p>
          <a:p>
            <a:pPr marL="171450" indent="-171450">
              <a:buFont typeface="Arial" panose="020B0604020202020204" pitchFamily="34" charset="0"/>
              <a:buChar char="•"/>
            </a:pPr>
            <a:r>
              <a:rPr lang="en-US" sz="1100" dirty="0"/>
              <a:t>Designed and styled the responsive banking user interface using React 18, Tailwind CSS, and Lucide icons.</a:t>
            </a:r>
          </a:p>
          <a:p>
            <a:pPr marL="171450" indent="-171450">
              <a:buFont typeface="Arial" panose="020B0604020202020204" pitchFamily="34" charset="0"/>
              <a:buChar char="•"/>
            </a:pPr>
            <a:r>
              <a:rPr lang="en-US" sz="1100" dirty="0"/>
              <a:t>Built the multi-step loan application wizard with interactive step transitions and Zod schema validations.</a:t>
            </a:r>
          </a:p>
          <a:p>
            <a:pPr marL="171450" indent="-171450">
              <a:buFont typeface="Arial" panose="020B0604020202020204" pitchFamily="34" charset="0"/>
              <a:buChar char="•"/>
            </a:pPr>
            <a:r>
              <a:rPr lang="en-US" sz="1100" dirty="0"/>
              <a:t>Developed the interactive CIBIL score arc gauge (300-900) with dynamic color tier indicators and sliders.</a:t>
            </a:r>
          </a:p>
        </p:txBody>
      </p:sp>
      <p:sp>
        <p:nvSpPr>
          <p:cNvPr id="27" name="Shape 25"/>
          <p:cNvSpPr/>
          <p:nvPr/>
        </p:nvSpPr>
        <p:spPr>
          <a:xfrm>
            <a:off x="502920" y="4562856"/>
            <a:ext cx="384048" cy="384048"/>
          </a:xfrm>
          <a:prstGeom prst="ellipse">
            <a:avLst/>
          </a:prstGeom>
          <a:solidFill>
            <a:srgbClr val="1F4A3A"/>
          </a:solidFill>
          <a:ln/>
        </p:spPr>
      </p:sp>
      <p:sp>
        <p:nvSpPr>
          <p:cNvPr id="28" name="Text 26"/>
          <p:cNvSpPr/>
          <p:nvPr/>
        </p:nvSpPr>
        <p:spPr>
          <a:xfrm>
            <a:off x="502920" y="4562856"/>
            <a:ext cx="384048" cy="384048"/>
          </a:xfrm>
          <a:prstGeom prst="rect">
            <a:avLst/>
          </a:prstGeom>
          <a:noFill/>
          <a:ln/>
        </p:spPr>
        <p:txBody>
          <a:bodyPr wrap="square" lIns="0" tIns="0" rIns="0" bIns="0" rtlCol="0" anchor="ctr"/>
          <a:lstStyle/>
          <a:p>
            <a:pPr marL="0" indent="0" algn="ctr">
              <a:buNone/>
            </a:pPr>
            <a:r>
              <a:rPr lang="en-US" sz="1400" b="1" dirty="0">
                <a:solidFill>
                  <a:srgbClr val="C9A841"/>
                </a:solidFill>
                <a:latin typeface="Cambria" pitchFamily="34" charset="0"/>
                <a:ea typeface="Cambria" pitchFamily="34" charset="-122"/>
                <a:cs typeface="Cambria" pitchFamily="34" charset="-120"/>
              </a:rPr>
              <a:t>4</a:t>
            </a:r>
            <a:endParaRPr lang="en-US" sz="1400" dirty="0"/>
          </a:p>
        </p:txBody>
      </p:sp>
      <p:sp>
        <p:nvSpPr>
          <p:cNvPr id="29" name="Shape 27"/>
          <p:cNvSpPr/>
          <p:nvPr/>
        </p:nvSpPr>
        <p:spPr>
          <a:xfrm>
            <a:off x="1069848" y="4480560"/>
            <a:ext cx="10664647" cy="749808"/>
          </a:xfrm>
          <a:prstGeom prst="roundRect">
            <a:avLst>
              <a:gd name="adj" fmla="val 7317"/>
            </a:avLst>
          </a:prstGeom>
          <a:solidFill>
            <a:srgbClr val="E8F5F0"/>
          </a:solidFill>
          <a:ln w="12700">
            <a:solidFill>
              <a:srgbClr val="D4E2DC"/>
            </a:solidFill>
            <a:prstDash val="solid"/>
          </a:ln>
          <a:effectLst>
            <a:outerShdw blurRad="63500" dist="25400" dir="5400000" algn="bl" rotWithShape="0">
              <a:srgbClr val="AAAAAA">
                <a:alpha val="10000"/>
              </a:srgbClr>
            </a:outerShdw>
          </a:effectLst>
        </p:spPr>
      </p:sp>
      <p:sp>
        <p:nvSpPr>
          <p:cNvPr id="30" name="Shape 28"/>
          <p:cNvSpPr/>
          <p:nvPr/>
        </p:nvSpPr>
        <p:spPr>
          <a:xfrm>
            <a:off x="1024125" y="4425696"/>
            <a:ext cx="10664647" cy="822961"/>
          </a:xfrm>
          <a:prstGeom prst="roundRect">
            <a:avLst>
              <a:gd name="adj" fmla="val 7317"/>
            </a:avLst>
          </a:prstGeom>
          <a:solidFill>
            <a:srgbClr val="F5FAF8"/>
          </a:solidFill>
          <a:ln w="12700">
            <a:solidFill>
              <a:srgbClr val="D4E2DC"/>
            </a:solidFill>
            <a:prstDash val="dash"/>
          </a:ln>
        </p:spPr>
      </p:sp>
      <p:sp>
        <p:nvSpPr>
          <p:cNvPr id="31" name="Text 29"/>
          <p:cNvSpPr/>
          <p:nvPr/>
        </p:nvSpPr>
        <p:spPr>
          <a:xfrm>
            <a:off x="1137324" y="4480560"/>
            <a:ext cx="10335463" cy="749808"/>
          </a:xfrm>
          <a:prstGeom prst="rect">
            <a:avLst/>
          </a:prstGeom>
          <a:noFill/>
          <a:ln/>
        </p:spPr>
        <p:txBody>
          <a:bodyPr wrap="square" lIns="0" tIns="0" rIns="0" bIns="0" rtlCol="0" anchor="ctr"/>
          <a:lstStyle/>
          <a:p>
            <a:r>
              <a:rPr lang="en-US" sz="1100" b="1" dirty="0" err="1"/>
              <a:t>Poovizhi Thangam V </a:t>
            </a:r>
            <a:r>
              <a:rPr lang="en-US" sz="1100" b="1" dirty="0"/>
              <a:t>(71382302115) </a:t>
            </a:r>
            <a:r>
              <a:rPr lang="en-US" sz="1100" b="1" dirty="0" smtClean="0"/>
              <a:t>(Financial Math &amp; QA</a:t>
            </a:r>
            <a:r>
              <a:rPr lang="en-US" sz="1100" b="1" dirty="0"/>
              <a:t>)</a:t>
            </a:r>
            <a:endParaRPr lang="en-US" sz="1100" dirty="0"/>
          </a:p>
          <a:p>
            <a:pPr marL="171450" indent="-171450">
              <a:buFont typeface="Arial" panose="020B0604020202020204" pitchFamily="34" charset="0"/>
              <a:buChar char="•"/>
            </a:pPr>
            <a:r>
              <a:rPr lang="en-US" sz="1100" dirty="0"/>
              <a:t>Formulated and validated </a:t>
            </a:r>
            <a:r>
              <a:rPr lang="en-US" sz="1100" dirty="0" err="1"/>
              <a:t>live financial ratios</a:t>
            </a:r>
            <a:r>
              <a:rPr lang="en-US" sz="1100" dirty="0"/>
              <a:t> including reducing-balance EMI (10.5% p.a.), DTI (&lt;=40%), and LTI (&lt;=2.5x).</a:t>
            </a:r>
          </a:p>
          <a:p>
            <a:pPr marL="171450" indent="-171450">
              <a:buFont typeface="Arial" panose="020B0604020202020204" pitchFamily="34" charset="0"/>
              <a:buChar char="•"/>
            </a:pPr>
            <a:r>
              <a:rPr lang="en-US" sz="1100" dirty="0"/>
              <a:t>Authored the plain-English translation </a:t>
            </a:r>
            <a:r>
              <a:rPr lang="en-US" sz="1100" dirty="0" err="1"/>
              <a:t>engine</a:t>
            </a:r>
            <a:r>
              <a:rPr lang="en-US" sz="1100" dirty="0"/>
              <a:t> mapping logit scores into RBI-compliant adverse action and approval narratives.</a:t>
            </a:r>
          </a:p>
          <a:p>
            <a:pPr marL="171450" indent="-171450">
              <a:buFont typeface="Arial" panose="020B0604020202020204" pitchFamily="34" charset="0"/>
              <a:buChar char="•"/>
            </a:pPr>
            <a:r>
              <a:rPr lang="en-US" sz="1100" dirty="0"/>
              <a:t>Created and maintained the automated testing suite (12 Vitest API tests + 7 Pytest ML tests, 100% pass rate).</a:t>
            </a:r>
          </a:p>
        </p:txBody>
      </p:sp>
      <p:sp>
        <p:nvSpPr>
          <p:cNvPr id="39" name="Rectangle 3"/>
          <p:cNvSpPr>
            <a:spLocks noChangeArrowheads="1"/>
          </p:cNvSpPr>
          <p:nvPr/>
        </p:nvSpPr>
        <p:spPr bwMode="auto">
          <a:xfrm>
            <a:off x="0" y="-323165"/>
            <a:ext cx="184731" cy="646331"/>
          </a:xfrm>
          <a:prstGeom prst="rect">
            <a:avLst/>
          </a:prstGeom>
          <a:noFill/>
          <a:ln>
            <a:noFill/>
          </a:ln>
          <a:effectLst/>
          <a:extLst>
            <a:ext uri="{909E8E84-426E-40DD-AFC4-6F175D3DCCD1}">
              <ns2:hiddenFill>
                <a:solidFill>
                  <a:schemeClr val="accent1"/>
                </a:solidFill>
              </ns2:hiddenFill>
            </a:ext>
            <a:ext uri="{91240B29-F687-4F45-9708-019B960494DF}">
              <ns2:hiddenLine w="9525">
                <a:solidFill>
                  <a:schemeClr val="tx1"/>
                </a:solidFill>
                <a:miter lim="800000"/>
                <a:headEnd/>
                <a:tailEnd/>
              </ns2:hiddenLine>
            </a:ext>
            <a:ext uri="{AF507438-7753-43E0-B8FC-AC1667EBCBE1}">
              <ns2:hiddenEffects>
                <a:effectLst>
                  <a:outerShdw dist="35921" dir="2700000" algn="ctr" rotWithShape="0">
                    <a:schemeClr val="bg2"/>
                  </a:outerShdw>
                </a:effectLst>
              </ns2: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ns3="http://schemas.microsoft.com/office/drawing/2010/main" xmlns:p="http://schemas.openxmlformats.org/presentationml/2006/main" xmlns:r="http://schemas.openxmlformats.org/officeDocument/2006/relationships">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305" y="-27432"/>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pPr marL="0" indent="0">
              <a:buNone/>
            </a:pPr>
            <a:r>
              <a:rPr lang="en-US" sz="2800" b="1" dirty="0" smtClean="0">
                <a:solidFill>
                  <a:srgbClr val="1F4A3A"/>
                </a:solidFill>
                <a:latin typeface="Cambria" pitchFamily="34" charset="0"/>
                <a:ea typeface="Cambria" pitchFamily="34" charset="-122"/>
                <a:cs typeface="Cambria" pitchFamily="34" charset="-120"/>
              </a:rPr>
              <a:t>RESULTS OBTAINED</a:t>
            </a:r>
            <a:endParaRPr lang="en-US" sz="2800" dirty="0"/>
          </a:p>
        </p:txBody>
      </p:sp>
      <p:sp>
        <p:nvSpPr>
          <p:cNvPr id="4"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100" dirty="0"/>
          </a:p>
        </p:txBody>
      </p:sp>
      <p:sp>
        <p:nvSpPr>
          <p:cNvPr id="5" name="Shape 3"/>
          <p:cNvSpPr/>
          <p:nvPr/>
        </p:nvSpPr>
        <p:spPr>
          <a:xfrm>
            <a:off x="502920" y="1024128"/>
            <a:ext cx="11185855" cy="0"/>
          </a:xfrm>
          <a:prstGeom prst="line">
            <a:avLst/>
          </a:prstGeom>
          <a:noFill/>
          <a:ln w="15240">
            <a:solidFill>
              <a:srgbClr val="C9A841"/>
            </a:solidFill>
            <a:prstDash val="solid"/>
          </a:ln>
        </p:spPr>
      </p:sp>
      <p:sp>
        <p:nvSpPr>
          <p:cNvPr id="6" name="Shape 4"/>
          <p:cNvSpPr/>
          <p:nvPr/>
        </p:nvSpPr>
        <p:spPr>
          <a:xfrm>
            <a:off x="457200" y="6400800"/>
            <a:ext cx="11277295" cy="0"/>
          </a:xfrm>
          <a:prstGeom prst="line">
            <a:avLst/>
          </a:prstGeom>
          <a:noFill/>
          <a:ln w="9525">
            <a:solidFill>
              <a:srgbClr val="D4E2DC"/>
            </a:solidFill>
            <a:prstDash val="solid"/>
          </a:ln>
        </p:spPr>
      </p:sp>
      <p:sp>
        <p:nvSpPr>
          <p:cNvPr id="7" name="Text 5"/>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a:p>
            <a:endParaRPr lang="en-US" sz="900" dirty="0"/>
          </a:p>
        </p:txBody>
      </p:sp>
      <p:sp>
        <p:nvSpPr>
          <p:cNvPr id="8" name="Text 6"/>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9" name="Text 7"/>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7</a:t>
            </a:r>
            <a:endParaRPr lang="en-US" sz="900" dirty="0"/>
          </a:p>
        </p:txBody>
      </p:sp>
      <p:sp>
        <p:nvSpPr>
          <p:cNvPr id="10" name="Shape 8"/>
          <p:cNvSpPr/>
          <p:nvPr/>
        </p:nvSpPr>
        <p:spPr>
          <a:xfrm>
            <a:off x="502920" y="1188720"/>
            <a:ext cx="11185855" cy="5029200"/>
          </a:xfrm>
          <a:prstGeom prst="roundRect">
            <a:avLst>
              <a:gd name="adj" fmla="val 1818"/>
            </a:avLst>
          </a:prstGeom>
          <a:solidFill>
            <a:srgbClr val="F8FDFB"/>
          </a:solidFill>
          <a:ln w="19050">
            <a:solidFill>
              <a:srgbClr val="D4E2DC"/>
            </a:solidFill>
            <a:prstDash val="dash"/>
          </a:ln>
        </p:spPr>
        <p:txBody>
          <a:bodyPr/>
          <a:lstStyle/>
          <a:p>
            <a:r>
              <a:rPr lang="en-US" dirty="0" smtClean="0"/>
              <a:t>                                        LANDING &amp; LOGIN PAGE                                                                LOAN APPLICATION WIZARD </a:t>
            </a:r>
            <a:endParaRPr lang="en-IN" dirty="0"/>
          </a:p>
        </p:txBody>
      </p:sp>
      <p:sp>
        <p:nvSpPr>
          <p:cNvPr id="13" name="Text 10"/>
          <p:cNvSpPr/>
          <p:nvPr/>
        </p:nvSpPr>
        <p:spPr>
          <a:xfrm>
            <a:off x="1371600" y="3931920"/>
            <a:ext cx="9448495" cy="731520"/>
          </a:xfrm>
          <a:prstGeom prst="rect">
            <a:avLst/>
          </a:prstGeom>
          <a:noFill/>
          <a:ln/>
        </p:spPr>
        <p:txBody>
          <a:bodyPr wrap="square" lIns="0" tIns="0" rIns="0" bIns="0" rtlCol="0" anchor="ctr"/>
          <a:lstStyle/>
          <a:p>
            <a:pPr marL="0" indent="0" algn="ctr">
              <a:buNone/>
            </a:pPr>
            <a:endParaRPr lang="en-US" sz="1100" dirty="0"/>
          </a:p>
        </p:txBody>
      </p:sp>
      <p:pic>
        <p:nvPicPr>
          <p:cNvPr id="11" name="Picture 10"/>
          <p:cNvPicPr>
            <a:picLocks noChangeAspect="1"/>
          </p:cNvPicPr>
          <p:nvPr/>
        </p:nvPicPr>
        <p:blipFill>
          <a:blip r:embed="rId3">
            <a:extLst>
              <a:ext uri="{28A0092B-C50C-407E-A947-70E740481C1C}">
                <ns3:useLocalDpi val="0"/>
              </a:ext>
            </a:extLst>
          </a:blip>
          <a:stretch>
            <a:fillRect/>
          </a:stretch>
        </p:blipFill>
        <p:spPr>
          <a:xfrm>
            <a:off x="588842" y="1975104"/>
            <a:ext cx="5771756" cy="3952730"/>
          </a:xfrm>
          <a:prstGeom prst="rect">
            <a:avLst/>
          </a:prstGeom>
        </p:spPr>
      </p:pic>
      <p:pic>
        <p:nvPicPr>
          <p:cNvPr id="12" name="Picture 11"/>
          <p:cNvPicPr>
            <a:picLocks noChangeAspect="1"/>
          </p:cNvPicPr>
          <p:nvPr/>
        </p:nvPicPr>
        <p:blipFill>
          <a:blip r:embed="rId4">
            <a:extLst>
              <a:ext uri="{28A0092B-C50C-407E-A947-70E740481C1C}">
                <ns3:useLocalDpi val="0"/>
              </a:ext>
            </a:extLst>
          </a:blip>
          <a:stretch>
            <a:fillRect/>
          </a:stretch>
        </p:blipFill>
        <p:spPr>
          <a:xfrm>
            <a:off x="6534806" y="1883664"/>
            <a:ext cx="5122217" cy="404416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ns3="http://schemas.microsoft.com/office/drawing/2010/main" xmlns:ns4="http://schemas.microsoft.com/office/powerpoint/2010/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5" name="Shape 0"/>
          <p:cNvSpPr/>
          <p:nvPr/>
        </p:nvSpPr>
        <p:spPr>
          <a:xfrm>
            <a:off x="305" y="-27432"/>
            <a:ext cx="12191695" cy="164592"/>
          </a:xfrm>
          <a:prstGeom prst="rect">
            <a:avLst/>
          </a:prstGeom>
          <a:solidFill>
            <a:srgbClr val="C9A841"/>
          </a:solidFill>
          <a:ln/>
        </p:spPr>
      </p:sp>
      <p:sp>
        <p:nvSpPr>
          <p:cNvPr id="6" name="Text 1"/>
          <p:cNvSpPr/>
          <p:nvPr/>
        </p:nvSpPr>
        <p:spPr>
          <a:xfrm>
            <a:off x="502920" y="237744"/>
            <a:ext cx="10972800" cy="658368"/>
          </a:xfrm>
          <a:prstGeom prst="rect">
            <a:avLst/>
          </a:prstGeom>
          <a:noFill/>
          <a:ln/>
        </p:spPr>
        <p:txBody>
          <a:bodyPr wrap="square" lIns="0" tIns="0" rIns="0" bIns="0" rtlCol="0" anchor="ctr"/>
          <a:lstStyle/>
          <a:p>
            <a:r>
              <a:rPr lang="en-US" sz="2800" b="1" dirty="0">
                <a:solidFill>
                  <a:srgbClr val="1F4A3A"/>
                </a:solidFill>
                <a:latin typeface="Cambria" pitchFamily="34" charset="0"/>
                <a:ea typeface="Cambria" pitchFamily="34" charset="-122"/>
                <a:cs typeface="Cambria" pitchFamily="34" charset="-120"/>
              </a:rPr>
              <a:t>RESULTS OBTAINED (CONT.)</a:t>
            </a:r>
            <a:endParaRPr lang="en-US" sz="2800" dirty="0"/>
          </a:p>
        </p:txBody>
      </p:sp>
      <p:sp>
        <p:nvSpPr>
          <p:cNvPr id="7"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100" dirty="0"/>
          </a:p>
        </p:txBody>
      </p:sp>
      <p:sp>
        <p:nvSpPr>
          <p:cNvPr id="8" name="Shape 3"/>
          <p:cNvSpPr/>
          <p:nvPr/>
        </p:nvSpPr>
        <p:spPr>
          <a:xfrm>
            <a:off x="502920" y="1024128"/>
            <a:ext cx="11185855" cy="0"/>
          </a:xfrm>
          <a:prstGeom prst="line">
            <a:avLst/>
          </a:prstGeom>
          <a:noFill/>
          <a:ln w="15240">
            <a:solidFill>
              <a:srgbClr val="C9A841"/>
            </a:solidFill>
            <a:prstDash val="solid"/>
          </a:ln>
        </p:spPr>
      </p:sp>
      <p:sp>
        <p:nvSpPr>
          <p:cNvPr id="9" name="Shape 4"/>
          <p:cNvSpPr/>
          <p:nvPr/>
        </p:nvSpPr>
        <p:spPr>
          <a:xfrm>
            <a:off x="457200" y="6400800"/>
            <a:ext cx="11277295" cy="0"/>
          </a:xfrm>
          <a:prstGeom prst="line">
            <a:avLst/>
          </a:prstGeom>
          <a:noFill/>
          <a:ln w="9525">
            <a:solidFill>
              <a:srgbClr val="D4E2DC"/>
            </a:solidFill>
            <a:prstDash val="solid"/>
          </a:ln>
        </p:spPr>
      </p:sp>
      <p:sp>
        <p:nvSpPr>
          <p:cNvPr id="10" name="Text 5"/>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p:txBody>
      </p:sp>
      <p:sp>
        <p:nvSpPr>
          <p:cNvPr id="11" name="Text 6"/>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12" name="Text 7"/>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8</a:t>
            </a:r>
            <a:endParaRPr lang="en-US" sz="900" dirty="0"/>
          </a:p>
        </p:txBody>
      </p:sp>
      <p:sp>
        <p:nvSpPr>
          <p:cNvPr id="13" name="Shape 8"/>
          <p:cNvSpPr/>
          <p:nvPr/>
        </p:nvSpPr>
        <p:spPr>
          <a:xfrm>
            <a:off x="502920" y="1188720"/>
            <a:ext cx="11185855" cy="5029200"/>
          </a:xfrm>
          <a:prstGeom prst="roundRect">
            <a:avLst>
              <a:gd name="adj" fmla="val 1818"/>
            </a:avLst>
          </a:prstGeom>
          <a:solidFill>
            <a:srgbClr val="F8FDFB"/>
          </a:solidFill>
          <a:ln w="19050">
            <a:solidFill>
              <a:srgbClr val="D4E2DC"/>
            </a:solidFill>
            <a:prstDash val="dash"/>
          </a:ln>
        </p:spPr>
        <p:txBody>
          <a:bodyPr/>
          <a:lstStyle/>
          <a:p>
            <a:r>
              <a:rPr lang="en-US" dirty="0" smtClean="0"/>
              <a:t>                   INTERACTIVE CIBIL GAUGE                                                  AI UNDERWRITING VERDICT</a:t>
            </a:r>
            <a:endParaRPr lang="en-IN" dirty="0"/>
          </a:p>
        </p:txBody>
      </p:sp>
      <p:sp>
        <p:nvSpPr>
          <p:cNvPr id="14" name="Text 10"/>
          <p:cNvSpPr/>
          <p:nvPr/>
        </p:nvSpPr>
        <p:spPr>
          <a:xfrm>
            <a:off x="1371600" y="3931920"/>
            <a:ext cx="9448495" cy="731520"/>
          </a:xfrm>
          <a:prstGeom prst="rect">
            <a:avLst/>
          </a:prstGeom>
          <a:noFill/>
          <a:ln/>
        </p:spPr>
        <p:txBody>
          <a:bodyPr wrap="square" lIns="0" tIns="0" rIns="0" bIns="0" rtlCol="0" anchor="ctr"/>
          <a:lstStyle/>
          <a:p>
            <a:pPr marL="0" indent="0" algn="ctr">
              <a:buNone/>
            </a:pPr>
            <a:endParaRPr lang="en-US" sz="1100" dirty="0"/>
          </a:p>
        </p:txBody>
      </p:sp>
      <p:pic>
        <p:nvPicPr>
          <p:cNvPr id="17" name="Picture 16"/>
          <p:cNvPicPr>
            <a:picLocks noChangeAspect="1"/>
          </p:cNvPicPr>
          <p:nvPr/>
        </p:nvPicPr>
        <p:blipFill>
          <a:blip r:embed="rId2">
            <a:extLst>
              <a:ext uri="{28A0092B-C50C-407E-A947-70E740481C1C}">
                <ns3:useLocalDpi val="0"/>
              </a:ext>
            </a:extLst>
          </a:blip>
          <a:stretch>
            <a:fillRect/>
          </a:stretch>
        </p:blipFill>
        <p:spPr>
          <a:xfrm>
            <a:off x="646141" y="1671144"/>
            <a:ext cx="4753549" cy="4390697"/>
          </a:xfrm>
          <a:prstGeom prst="rect">
            <a:avLst/>
          </a:prstGeom>
        </p:spPr>
      </p:pic>
      <p:pic>
        <p:nvPicPr>
          <p:cNvPr id="18" name="Picture 17"/>
          <p:cNvPicPr>
            <a:picLocks noChangeAspect="1"/>
          </p:cNvPicPr>
          <p:nvPr/>
        </p:nvPicPr>
        <p:blipFill>
          <a:blip r:embed="rId3">
            <a:extLst>
              <a:ext uri="{28A0092B-C50C-407E-A947-70E740481C1C}">
                <ns3:useLocalDpi val="0"/>
              </a:ext>
            </a:extLst>
          </a:blip>
          <a:stretch>
            <a:fillRect/>
          </a:stretch>
        </p:blipFill>
        <p:spPr>
          <a:xfrm>
            <a:off x="6061841" y="1871997"/>
            <a:ext cx="5483713" cy="4134665"/>
          </a:xfrm>
          <a:prstGeom prst="rect">
            <a:avLst/>
          </a:prstGeom>
        </p:spPr>
      </p:pic>
    </p:spTree>
    <p:extLst>
      <p:ext uri="{BB962C8B-B14F-4D97-AF65-F5344CB8AC3E}">
        <ns4:creationId val="3477985203"/>
      </p:ext>
    </p:extLst>
  </p:cSld>
  <p:clrMapOvr>
    <a:masterClrMapping/>
  </p:clrMapOvr>
  <p:timing>
    <p:tnLst>
      <p:par>
        <p:cTn id="1" dur="indefinite" restart="never" nodeType="tmRoot"/>
      </p:par>
    </p:tnLst>
  </p:timing>
</p:sld>
</file>

<file path=ppt/slides/slide9.xml><?xml version="1.0" encoding="utf-8"?>
<p:sld xmlns:a="http://schemas.openxmlformats.org/drawingml/2006/main" xmlns:ns2="http://schemas.microsoft.com/office/drawing/2010/main" xmlns:p="http://schemas.openxmlformats.org/presentationml/2006/main" xmlns:r="http://schemas.openxmlformats.org/officeDocument/2006/relationships">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02920" y="237744"/>
            <a:ext cx="10972800" cy="658368"/>
          </a:xfrm>
          <a:prstGeom prst="rect">
            <a:avLst/>
          </a:prstGeom>
          <a:noFill/>
          <a:ln/>
        </p:spPr>
        <p:txBody>
          <a:bodyPr wrap="square" lIns="0" tIns="0" rIns="0" bIns="0" rtlCol="0" anchor="ctr"/>
          <a:lstStyle/>
          <a:p>
            <a:endParaRPr lang="en-US" sz="2800" b="1" dirty="0" smtClean="0">
              <a:solidFill>
                <a:srgbClr val="1F4A3A"/>
              </a:solidFill>
              <a:latin typeface="Cambria" pitchFamily="34" charset="0"/>
              <a:ea typeface="Cambria" pitchFamily="34" charset="-122"/>
              <a:cs typeface="Cambria" pitchFamily="34" charset="-120"/>
            </a:endParaRPr>
          </a:p>
          <a:p>
            <a:r>
              <a:rPr lang="en-US" sz="2800" b="1" dirty="0">
                <a:solidFill>
                  <a:srgbClr val="1F4A3A"/>
                </a:solidFill>
                <a:latin typeface="Cambria" pitchFamily="34" charset="0"/>
                <a:ea typeface="Cambria" pitchFamily="34" charset="-122"/>
                <a:cs typeface="Cambria" pitchFamily="34" charset="-120"/>
              </a:rPr>
              <a:t>RESULTS </a:t>
            </a:r>
            <a:r>
              <a:rPr lang="en-US" sz="2800" b="1" dirty="0" smtClean="0">
                <a:solidFill>
                  <a:srgbClr val="1F4A3A"/>
                </a:solidFill>
                <a:latin typeface="Cambria" pitchFamily="34" charset="0"/>
                <a:ea typeface="Cambria" pitchFamily="34" charset="-122"/>
                <a:cs typeface="Cambria" pitchFamily="34" charset="-120"/>
              </a:rPr>
              <a:t>OBTAINED (CONT</a:t>
            </a:r>
            <a:r>
              <a:rPr lang="en-US" sz="2800" b="1" dirty="0">
                <a:solidFill>
                  <a:srgbClr val="1F4A3A"/>
                </a:solidFill>
                <a:latin typeface="Cambria" pitchFamily="34" charset="0"/>
                <a:ea typeface="Cambria" pitchFamily="34" charset="-122"/>
                <a:cs typeface="Cambria" pitchFamily="34" charset="-120"/>
              </a:rPr>
              <a:t>.)</a:t>
            </a:r>
            <a:endParaRPr lang="en-US" sz="2800" dirty="0"/>
          </a:p>
          <a:p>
            <a:pPr marL="0" indent="0">
              <a:buNone/>
            </a:pPr>
            <a:endParaRPr lang="en-US" sz="2800" dirty="0"/>
          </a:p>
        </p:txBody>
      </p:sp>
      <p:sp>
        <p:nvSpPr>
          <p:cNvPr id="4" name="Shape 2"/>
          <p:cNvSpPr/>
          <p:nvPr/>
        </p:nvSpPr>
        <p:spPr>
          <a:xfrm>
            <a:off x="502920" y="1024128"/>
            <a:ext cx="11185855" cy="0"/>
          </a:xfrm>
          <a:prstGeom prst="line">
            <a:avLst/>
          </a:prstGeom>
          <a:noFill/>
          <a:ln w="15240">
            <a:solidFill>
              <a:srgbClr val="C9A841"/>
            </a:solidFill>
            <a:prstDash val="solid"/>
          </a:ln>
        </p:spPr>
      </p:sp>
      <p:sp>
        <p:nvSpPr>
          <p:cNvPr id="5" name="Shape 3"/>
          <p:cNvSpPr/>
          <p:nvPr/>
        </p:nvSpPr>
        <p:spPr>
          <a:xfrm>
            <a:off x="457200" y="6400800"/>
            <a:ext cx="11277295" cy="0"/>
          </a:xfrm>
          <a:prstGeom prst="line">
            <a:avLst/>
          </a:prstGeom>
          <a:noFill/>
          <a:ln w="9525">
            <a:solidFill>
              <a:srgbClr val="D4E2DC"/>
            </a:solidFill>
            <a:prstDash val="solid"/>
          </a:ln>
        </p:spPr>
      </p:sp>
      <p:sp>
        <p:nvSpPr>
          <p:cNvPr id="6" name="Text 4"/>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a:p>
            <a:endParaRPr lang="en-US" sz="900" dirty="0"/>
          </a:p>
        </p:txBody>
      </p:sp>
      <p:sp>
        <p:nvSpPr>
          <p:cNvPr id="7" name="Text 5"/>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8" name="Text 6"/>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a:solidFill>
                  <a:srgbClr val="1F4A3A"/>
                </a:solidFill>
                <a:latin typeface="Calibri" pitchFamily="34" charset="0"/>
                <a:ea typeface="Calibri" pitchFamily="34" charset="-122"/>
                <a:cs typeface="Calibri" pitchFamily="34" charset="-120"/>
              </a:rPr>
              <a:t>9</a:t>
            </a:r>
            <a:endParaRPr lang="en-US" sz="900" dirty="0"/>
          </a:p>
        </p:txBody>
      </p:sp>
      <p:sp>
        <p:nvSpPr>
          <p:cNvPr id="9" name="Shape 7"/>
          <p:cNvSpPr/>
          <p:nvPr/>
        </p:nvSpPr>
        <p:spPr>
          <a:xfrm>
            <a:off x="502920" y="1188720"/>
            <a:ext cx="3410712" cy="4983480"/>
          </a:xfrm>
          <a:prstGeom prst="roundRect">
            <a:avLst>
              <a:gd name="adj" fmla="val 2145"/>
            </a:avLst>
          </a:prstGeom>
          <a:solidFill>
            <a:srgbClr val="FFFFFF"/>
          </a:solidFill>
          <a:ln w="12700">
            <a:solidFill>
              <a:srgbClr val="D4E2DC"/>
            </a:solidFill>
            <a:prstDash val="solid"/>
          </a:ln>
          <a:effectLst>
            <a:outerShdw blurRad="63500" dist="25400" dir="5400000" algn="bl" rotWithShape="0">
              <a:srgbClr val="AAAAAA">
                <a:alpha val="10000"/>
              </a:srgbClr>
            </a:outerShdw>
          </a:effectLst>
        </p:spPr>
      </p:sp>
      <p:sp>
        <p:nvSpPr>
          <p:cNvPr id="11" name="Text 9"/>
          <p:cNvSpPr/>
          <p:nvPr/>
        </p:nvSpPr>
        <p:spPr>
          <a:xfrm>
            <a:off x="594360" y="1188720"/>
            <a:ext cx="3227832" cy="5669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Hardware</a:t>
            </a:r>
            <a:endParaRPr lang="en-US" sz="1300" dirty="0"/>
          </a:p>
        </p:txBody>
      </p:sp>
      <p:sp>
        <p:nvSpPr>
          <p:cNvPr id="12" name="Shape 10"/>
          <p:cNvSpPr/>
          <p:nvPr/>
        </p:nvSpPr>
        <p:spPr>
          <a:xfrm>
            <a:off x="685800" y="2048256"/>
            <a:ext cx="201168" cy="201168"/>
          </a:xfrm>
          <a:prstGeom prst="ellipse">
            <a:avLst/>
          </a:prstGeom>
          <a:solidFill>
            <a:srgbClr val="1F4A3A"/>
          </a:solidFill>
          <a:ln/>
        </p:spPr>
      </p:sp>
      <p:sp>
        <p:nvSpPr>
          <p:cNvPr id="13" name="Shape 11"/>
          <p:cNvSpPr/>
          <p:nvPr/>
        </p:nvSpPr>
        <p:spPr>
          <a:xfrm>
            <a:off x="978408" y="1938528"/>
            <a:ext cx="2807208" cy="841248"/>
          </a:xfrm>
          <a:prstGeom prst="roundRect">
            <a:avLst>
              <a:gd name="adj" fmla="val 6522"/>
            </a:avLst>
          </a:prstGeom>
          <a:solidFill>
            <a:srgbClr val="F5FAF8"/>
          </a:solidFill>
          <a:ln w="12700">
            <a:solidFill>
              <a:srgbClr val="D4E2DC"/>
            </a:solidFill>
            <a:prstDash val="dash"/>
          </a:ln>
        </p:spPr>
      </p:sp>
      <p:sp>
        <p:nvSpPr>
          <p:cNvPr id="14" name="Text 12"/>
          <p:cNvSpPr/>
          <p:nvPr/>
        </p:nvSpPr>
        <p:spPr>
          <a:xfrm>
            <a:off x="1143000" y="1938528"/>
            <a:ext cx="2478024" cy="841248"/>
          </a:xfrm>
          <a:prstGeom prst="rect">
            <a:avLst/>
          </a:prstGeom>
          <a:noFill/>
          <a:ln/>
        </p:spPr>
        <p:txBody>
          <a:bodyPr wrap="square" lIns="0" tIns="0" rIns="0" bIns="0" rtlCol="0" anchor="ctr"/>
          <a:lstStyle/>
          <a:p>
            <a:pPr lvl="0" eaLnBrk="0" fontAlgn="base" hangingPunct="0">
              <a:spcBef>
                <a:spcPct val="0"/>
              </a:spcBef>
              <a:spcAft>
                <a:spcPct val="0"/>
              </a:spcAft>
            </a:pPr>
            <a:r>
              <a:rPr lang="en-US" altLang="en-US" sz="1200" dirty="0">
                <a:latin typeface="Times New Roman" panose="02020603050405020304" pitchFamily="18" charset="0"/>
                <a:cs typeface="Times New Roman" panose="02020603050405020304" pitchFamily="18" charset="0"/>
              </a:rPr>
              <a:t>Multi-Core CPU / Docker Container Environment (Lightweight tree boosting, no GPU needed)</a:t>
            </a:r>
            <a:r>
              <a:rPr lang="en-US" altLang="en-US" sz="1200" dirty="0" smtClean="0">
                <a:latin typeface="Times New Roman" panose="02020603050405020304" pitchFamily="18" charset="0"/>
                <a:cs typeface="Times New Roman" panose="02020603050405020304" pitchFamily="18" charset="0"/>
              </a:rPr>
              <a:t/>
            </a:r>
            <a:r>
              <a:rPr lang="en-US" altLang="en-US" sz="1200" dirty="0">
                <a:latin typeface="Times New Roman" panose="02020603050405020304" pitchFamily="18" charset="0"/>
                <a:cs typeface="Times New Roman" panose="02020603050405020304" pitchFamily="18" charset="0"/>
              </a:rPr>
              <a:t/>
            </a:r>
          </a:p>
        </p:txBody>
      </p:sp>
      <p:sp>
        <p:nvSpPr>
          <p:cNvPr id="15" name="Shape 13"/>
          <p:cNvSpPr/>
          <p:nvPr/>
        </p:nvSpPr>
        <p:spPr>
          <a:xfrm>
            <a:off x="685800" y="3072384"/>
            <a:ext cx="201168" cy="201168"/>
          </a:xfrm>
          <a:prstGeom prst="ellipse">
            <a:avLst/>
          </a:prstGeom>
          <a:solidFill>
            <a:srgbClr val="1F4A3A"/>
          </a:solidFill>
          <a:ln/>
        </p:spPr>
      </p:sp>
      <p:sp>
        <p:nvSpPr>
          <p:cNvPr id="16" name="Shape 14"/>
          <p:cNvSpPr/>
          <p:nvPr/>
        </p:nvSpPr>
        <p:spPr>
          <a:xfrm>
            <a:off x="978408" y="2962656"/>
            <a:ext cx="2807208" cy="841248"/>
          </a:xfrm>
          <a:prstGeom prst="roundRect">
            <a:avLst>
              <a:gd name="adj" fmla="val 6522"/>
            </a:avLst>
          </a:prstGeom>
          <a:solidFill>
            <a:srgbClr val="F5FAF8"/>
          </a:solidFill>
          <a:ln w="12700">
            <a:solidFill>
              <a:srgbClr val="D4E2DC"/>
            </a:solidFill>
            <a:prstDash val="dash"/>
          </a:ln>
        </p:spPr>
      </p:sp>
      <p:sp>
        <p:nvSpPr>
          <p:cNvPr id="17" name="Text 15"/>
          <p:cNvSpPr/>
          <p:nvPr/>
        </p:nvSpPr>
        <p:spPr>
          <a:xfrm>
            <a:off x="1143000" y="2962656"/>
            <a:ext cx="2478024" cy="841248"/>
          </a:xfrm>
          <a:prstGeom prst="rect">
            <a:avLst/>
          </a:prstGeom>
          <a:noFill/>
          <a:ln/>
        </p:spPr>
        <p:txBody>
          <a:bodyPr wrap="square" lIns="0" tIns="0" rIns="0" bIns="0" rtlCol="0" anchor="ctr"/>
          <a:lstStyle/>
          <a:p>
            <a:r>
              <a:rPr lang="en-US" sz="1200" dirty="0">
                <a:latin typeface="Times New Roman" panose="02020603050405020304" pitchFamily="18" charset="0"/>
                <a:cs typeface="Times New Roman" panose="02020603050405020304" pitchFamily="18" charset="0"/>
              </a:rPr>
              <a:t>8 GB RAM for 4 containerized services (React, Express, FastAPI, MySQL)</a:t>
            </a:r>
          </a:p>
        </p:txBody>
      </p:sp>
      <p:sp>
        <p:nvSpPr>
          <p:cNvPr id="18" name="Shape 16"/>
          <p:cNvSpPr/>
          <p:nvPr/>
        </p:nvSpPr>
        <p:spPr>
          <a:xfrm>
            <a:off x="685800" y="4096512"/>
            <a:ext cx="201168" cy="201168"/>
          </a:xfrm>
          <a:prstGeom prst="ellipse">
            <a:avLst/>
          </a:prstGeom>
          <a:solidFill>
            <a:srgbClr val="1F4A3A"/>
          </a:solidFill>
          <a:ln/>
        </p:spPr>
      </p:sp>
      <p:sp>
        <p:nvSpPr>
          <p:cNvPr id="19" name="Shape 17"/>
          <p:cNvSpPr/>
          <p:nvPr/>
        </p:nvSpPr>
        <p:spPr>
          <a:xfrm>
            <a:off x="978408" y="3986784"/>
            <a:ext cx="2807208" cy="841248"/>
          </a:xfrm>
          <a:prstGeom prst="roundRect">
            <a:avLst>
              <a:gd name="adj" fmla="val 6522"/>
            </a:avLst>
          </a:prstGeom>
          <a:solidFill>
            <a:srgbClr val="F5FAF8"/>
          </a:solidFill>
          <a:ln w="12700">
            <a:solidFill>
              <a:srgbClr val="D4E2DC"/>
            </a:solidFill>
            <a:prstDash val="dash"/>
          </a:ln>
        </p:spPr>
      </p:sp>
      <p:sp>
        <p:nvSpPr>
          <p:cNvPr id="20" name="Text 18"/>
          <p:cNvSpPr/>
          <p:nvPr/>
        </p:nvSpPr>
        <p:spPr>
          <a:xfrm>
            <a:off x="1143000" y="3986784"/>
            <a:ext cx="2478024" cy="841248"/>
          </a:xfrm>
          <a:prstGeom prst="rect">
            <a:avLst/>
          </a:prstGeom>
          <a:noFill/>
          <a:ln/>
        </p:spPr>
        <p:txBody>
          <a:bodyPr wrap="square" lIns="0" tIns="0" rIns="0" bIns="0" rtlCol="0" anchor="ctr"/>
          <a:lstStyle/>
          <a:p>
            <a:pPr lvl="0" eaLnBrk="0" fontAlgn="base" hangingPunct="0">
              <a:spcBef>
                <a:spcPct val="0"/>
              </a:spcBef>
              <a:spcAft>
                <a:spcPct val="0"/>
              </a:spcAft>
            </a:pPr>
            <a:r>
              <a:rPr lang="en-US" altLang="en-US" sz="1200" dirty="0">
                <a:latin typeface="Times New Roman" panose="02020603050405020304" pitchFamily="18" charset="0"/>
                <a:cs typeface="Times New Roman" panose="02020603050405020304" pitchFamily="18" charset="0"/>
              </a:rPr>
              <a:t>Sub-40ms end-to-end API round-trip on standard consumer/cloud hardware</a:t>
            </a:r>
          </a:p>
        </p:txBody>
      </p:sp>
      <p:sp>
        <p:nvSpPr>
          <p:cNvPr id="21" name="Shape 19"/>
          <p:cNvSpPr/>
          <p:nvPr/>
        </p:nvSpPr>
        <p:spPr>
          <a:xfrm>
            <a:off x="685800" y="5120640"/>
            <a:ext cx="201168" cy="201168"/>
          </a:xfrm>
          <a:prstGeom prst="ellipse">
            <a:avLst/>
          </a:prstGeom>
          <a:solidFill>
            <a:srgbClr val="1F4A3A"/>
          </a:solidFill>
          <a:ln/>
        </p:spPr>
      </p:sp>
      <p:sp>
        <p:nvSpPr>
          <p:cNvPr id="22" name="Shape 20"/>
          <p:cNvSpPr/>
          <p:nvPr/>
        </p:nvSpPr>
        <p:spPr>
          <a:xfrm>
            <a:off x="978408" y="5010912"/>
            <a:ext cx="2807208" cy="841248"/>
          </a:xfrm>
          <a:prstGeom prst="roundRect">
            <a:avLst>
              <a:gd name="adj" fmla="val 6522"/>
            </a:avLst>
          </a:prstGeom>
          <a:solidFill>
            <a:srgbClr val="F5FAF8"/>
          </a:solidFill>
          <a:ln w="12700">
            <a:solidFill>
              <a:srgbClr val="D4E2DC"/>
            </a:solidFill>
            <a:prstDash val="dash"/>
          </a:ln>
        </p:spPr>
      </p:sp>
      <p:sp>
        <p:nvSpPr>
          <p:cNvPr id="23" name="Text 21"/>
          <p:cNvSpPr/>
          <p:nvPr/>
        </p:nvSpPr>
        <p:spPr>
          <a:xfrm>
            <a:off x="1143000" y="5010912"/>
            <a:ext cx="2478024" cy="841248"/>
          </a:xfrm>
          <a:prstGeom prst="rect">
            <a:avLst/>
          </a:prstGeom>
          <a:noFill/>
          <a:ln/>
        </p:spPr>
        <p:txBody>
          <a:bodyPr wrap="square" lIns="0" tIns="0" rIns="0" bIns="0" rtlCol="0" anchor="ctr"/>
          <a:lstStyle/>
          <a:p>
            <a:pPr marL="0" indent="0">
              <a:buNone/>
            </a:pPr>
            <a:r>
              <a:rPr lang="en-US" sz="1100" i="1" dirty="0">
                <a:solidFill>
                  <a:srgbClr val="9AABA2"/>
                </a:solidFill>
                <a:latin typeface="Calibri" pitchFamily="34" charset="0"/>
                <a:ea typeface="Calibri" pitchFamily="34" charset="-122"/>
                <a:cs typeface="Calibri" pitchFamily="34" charset="-120"/>
              </a:rPr>
              <a:t>Standard modern web browser (Chrome, Edge, Firefox) with SVG &amp; Canvas support</a:t>
            </a:r>
            <a:endParaRPr lang="en-US" sz="1100" dirty="0"/>
          </a:p>
        </p:txBody>
      </p:sp>
      <p:sp>
        <p:nvSpPr>
          <p:cNvPr id="24" name="Shape 22"/>
          <p:cNvSpPr/>
          <p:nvPr/>
        </p:nvSpPr>
        <p:spPr>
          <a:xfrm>
            <a:off x="4114800" y="1188720"/>
            <a:ext cx="3410712" cy="5029200"/>
          </a:xfrm>
          <a:prstGeom prst="roundRect">
            <a:avLst>
              <a:gd name="adj" fmla="val 2145"/>
            </a:avLst>
          </a:prstGeom>
          <a:solidFill>
            <a:srgbClr val="FFFFFF"/>
          </a:solidFill>
          <a:ln w="12700">
            <a:solidFill>
              <a:srgbClr val="D4E2DC"/>
            </a:solidFill>
            <a:prstDash val="solid"/>
          </a:ln>
          <a:effectLst>
            <a:outerShdw blurRad="63500" dist="25400" dir="5400000" algn="bl" rotWithShape="0">
              <a:srgbClr val="AAAAAA">
                <a:alpha val="10000"/>
              </a:srgbClr>
            </a:outerShdw>
          </a:effectLst>
        </p:spPr>
      </p:sp>
      <p:sp>
        <p:nvSpPr>
          <p:cNvPr id="25" name="Shape 23"/>
          <p:cNvSpPr/>
          <p:nvPr/>
        </p:nvSpPr>
        <p:spPr>
          <a:xfrm>
            <a:off x="4114800" y="1188720"/>
            <a:ext cx="3410712" cy="566928"/>
          </a:xfrm>
          <a:prstGeom prst="rect">
            <a:avLst/>
          </a:prstGeom>
          <a:solidFill>
            <a:srgbClr val="2471A3"/>
          </a:solidFill>
          <a:ln/>
        </p:spPr>
      </p:sp>
      <p:sp>
        <p:nvSpPr>
          <p:cNvPr id="26" name="Text 24"/>
          <p:cNvSpPr/>
          <p:nvPr/>
        </p:nvSpPr>
        <p:spPr>
          <a:xfrm>
            <a:off x="4206240" y="1188720"/>
            <a:ext cx="3227832" cy="566928"/>
          </a:xfrm>
          <a:prstGeom prst="rect">
            <a:avLst/>
          </a:prstGeom>
          <a:noFill/>
          <a:ln/>
        </p:spPr>
        <p:txBody>
          <a:bodyPr wrap="square" lIns="0" tIns="0" rIns="0" bIns="0" rtlCol="0" anchor="ctr"/>
          <a:lstStyle/>
          <a:p>
            <a:pPr marL="0" indent="0" algn="ctr">
              <a:buNone/>
            </a:pPr>
            <a:endParaRPr lang="en-US" sz="1300" b="1" dirty="0" smtClean="0">
              <a:solidFill>
                <a:srgbClr val="FFFFFF"/>
              </a:solidFill>
              <a:latin typeface="Calibri" pitchFamily="34" charset="0"/>
              <a:ea typeface="Calibri" pitchFamily="34" charset="-122"/>
              <a:cs typeface="Calibri" pitchFamily="34" charset="-120"/>
            </a:endParaRPr>
          </a:p>
          <a:p>
            <a:pPr marL="0" indent="0" algn="ctr">
              <a:buNone/>
            </a:pPr>
            <a:r>
              <a:rPr lang="en-US" sz="1300" b="1" dirty="0" smtClean="0">
                <a:solidFill>
                  <a:srgbClr val="FFFFFF"/>
                </a:solidFill>
                <a:latin typeface="Calibri" pitchFamily="34" charset="0"/>
                <a:ea typeface="Calibri" pitchFamily="34" charset="-122"/>
                <a:cs typeface="Calibri" pitchFamily="34" charset="-120"/>
              </a:rPr>
              <a:t>EBM WATERFALL</a:t>
            </a:r>
            <a:endParaRPr lang="en-US" sz="1300" dirty="0"/>
          </a:p>
        </p:txBody>
      </p:sp>
      <p:sp>
        <p:nvSpPr>
          <p:cNvPr id="27" name="Shape 25"/>
          <p:cNvSpPr/>
          <p:nvPr/>
        </p:nvSpPr>
        <p:spPr>
          <a:xfrm>
            <a:off x="4297680" y="2048256"/>
            <a:ext cx="201168" cy="201168"/>
          </a:xfrm>
          <a:prstGeom prst="ellipse">
            <a:avLst/>
          </a:prstGeom>
          <a:solidFill>
            <a:srgbClr val="2471A3"/>
          </a:solidFill>
          <a:ln/>
        </p:spPr>
      </p:sp>
      <p:sp>
        <p:nvSpPr>
          <p:cNvPr id="28" name="Shape 26"/>
          <p:cNvSpPr/>
          <p:nvPr/>
        </p:nvSpPr>
        <p:spPr>
          <a:xfrm>
            <a:off x="4590288" y="1938528"/>
            <a:ext cx="2807208" cy="841248"/>
          </a:xfrm>
          <a:prstGeom prst="roundRect">
            <a:avLst>
              <a:gd name="adj" fmla="val 6522"/>
            </a:avLst>
          </a:prstGeom>
          <a:solidFill>
            <a:srgbClr val="F5FAF8"/>
          </a:solidFill>
          <a:ln w="12700">
            <a:solidFill>
              <a:srgbClr val="D4E2DC"/>
            </a:solidFill>
            <a:prstDash val="dash"/>
          </a:ln>
        </p:spPr>
      </p:sp>
      <p:sp>
        <p:nvSpPr>
          <p:cNvPr id="29" name="Text 27"/>
          <p:cNvSpPr/>
          <p:nvPr/>
        </p:nvSpPr>
        <p:spPr>
          <a:xfrm>
            <a:off x="4754880" y="1938528"/>
            <a:ext cx="2478024" cy="841248"/>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React 18 + TypeScript + Tailwind CSS</a:t>
            </a:r>
          </a:p>
        </p:txBody>
      </p:sp>
      <p:sp>
        <p:nvSpPr>
          <p:cNvPr id="30" name="Shape 28"/>
          <p:cNvSpPr/>
          <p:nvPr/>
        </p:nvSpPr>
        <p:spPr>
          <a:xfrm>
            <a:off x="4297680" y="3072384"/>
            <a:ext cx="201168" cy="201168"/>
          </a:xfrm>
          <a:prstGeom prst="ellipse">
            <a:avLst/>
          </a:prstGeom>
          <a:solidFill>
            <a:srgbClr val="2471A3"/>
          </a:solidFill>
          <a:ln/>
        </p:spPr>
      </p:sp>
      <p:sp>
        <p:nvSpPr>
          <p:cNvPr id="31" name="Shape 29"/>
          <p:cNvSpPr/>
          <p:nvPr/>
        </p:nvSpPr>
        <p:spPr>
          <a:xfrm>
            <a:off x="4590288" y="2962656"/>
            <a:ext cx="2807208" cy="841248"/>
          </a:xfrm>
          <a:prstGeom prst="roundRect">
            <a:avLst>
              <a:gd name="adj" fmla="val 6522"/>
            </a:avLst>
          </a:prstGeom>
          <a:solidFill>
            <a:srgbClr val="F5FAF8"/>
          </a:solidFill>
          <a:ln w="12700">
            <a:solidFill>
              <a:srgbClr val="D4E2DC"/>
            </a:solidFill>
            <a:prstDash val="dash"/>
          </a:ln>
        </p:spPr>
      </p:sp>
      <p:sp>
        <p:nvSpPr>
          <p:cNvPr id="32" name="Text 30"/>
          <p:cNvSpPr/>
          <p:nvPr/>
        </p:nvSpPr>
        <p:spPr>
          <a:xfrm>
            <a:off x="4754880" y="2962656"/>
            <a:ext cx="2478024" cy="841248"/>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Node.js + Express + Prisma ORM</a:t>
            </a:r>
          </a:p>
        </p:txBody>
      </p:sp>
      <p:sp>
        <p:nvSpPr>
          <p:cNvPr id="33" name="Shape 31"/>
          <p:cNvSpPr/>
          <p:nvPr/>
        </p:nvSpPr>
        <p:spPr>
          <a:xfrm>
            <a:off x="4297680" y="4096512"/>
            <a:ext cx="201168" cy="201168"/>
          </a:xfrm>
          <a:prstGeom prst="ellipse">
            <a:avLst/>
          </a:prstGeom>
          <a:solidFill>
            <a:srgbClr val="2471A3"/>
          </a:solidFill>
          <a:ln/>
        </p:spPr>
      </p:sp>
      <p:sp>
        <p:nvSpPr>
          <p:cNvPr id="34" name="Shape 32"/>
          <p:cNvSpPr/>
          <p:nvPr/>
        </p:nvSpPr>
        <p:spPr>
          <a:xfrm>
            <a:off x="4590288" y="3986784"/>
            <a:ext cx="2807208" cy="841248"/>
          </a:xfrm>
          <a:prstGeom prst="roundRect">
            <a:avLst>
              <a:gd name="adj" fmla="val 6522"/>
            </a:avLst>
          </a:prstGeom>
          <a:solidFill>
            <a:srgbClr val="F5FAF8"/>
          </a:solidFill>
          <a:ln w="12700">
            <a:solidFill>
              <a:srgbClr val="D4E2DC"/>
            </a:solidFill>
            <a:prstDash val="dash"/>
          </a:ln>
        </p:spPr>
      </p:sp>
      <p:sp>
        <p:nvSpPr>
          <p:cNvPr id="35" name="Text 33"/>
          <p:cNvSpPr/>
          <p:nvPr/>
        </p:nvSpPr>
        <p:spPr>
          <a:xfrm>
            <a:off x="4754880" y="3986784"/>
            <a:ext cx="2478024" cy="841248"/>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Python 3.11 + FastAPI REST API</a:t>
            </a:r>
          </a:p>
        </p:txBody>
      </p:sp>
      <p:sp>
        <p:nvSpPr>
          <p:cNvPr id="36" name="Shape 34"/>
          <p:cNvSpPr/>
          <p:nvPr/>
        </p:nvSpPr>
        <p:spPr>
          <a:xfrm>
            <a:off x="4297680" y="5120640"/>
            <a:ext cx="201168" cy="201168"/>
          </a:xfrm>
          <a:prstGeom prst="ellipse">
            <a:avLst/>
          </a:prstGeom>
          <a:solidFill>
            <a:srgbClr val="2471A3"/>
          </a:solidFill>
          <a:ln/>
        </p:spPr>
      </p:sp>
      <p:sp>
        <p:nvSpPr>
          <p:cNvPr id="37" name="Shape 35"/>
          <p:cNvSpPr/>
          <p:nvPr/>
        </p:nvSpPr>
        <p:spPr>
          <a:xfrm>
            <a:off x="4590288" y="5010912"/>
            <a:ext cx="2807208" cy="841248"/>
          </a:xfrm>
          <a:prstGeom prst="roundRect">
            <a:avLst>
              <a:gd name="adj" fmla="val 6522"/>
            </a:avLst>
          </a:prstGeom>
          <a:solidFill>
            <a:srgbClr val="F5FAF8"/>
          </a:solidFill>
          <a:ln w="12700">
            <a:solidFill>
              <a:srgbClr val="D4E2DC"/>
            </a:solidFill>
            <a:prstDash val="dash"/>
          </a:ln>
        </p:spPr>
      </p:sp>
      <p:sp>
        <p:nvSpPr>
          <p:cNvPr id="38" name="Text 36"/>
          <p:cNvSpPr/>
          <p:nvPr/>
        </p:nvSpPr>
        <p:spPr>
          <a:xfrm>
            <a:off x="4754880" y="5010912"/>
            <a:ext cx="2478024" cy="841248"/>
          </a:xfrm>
          <a:prstGeom prst="rect">
            <a:avLst/>
          </a:prstGeom>
          <a:noFill/>
          <a:ln/>
        </p:spPr>
        <p:txBody>
          <a:bodyPr wrap="square" lIns="0" tIns="0" rIns="0" bIns="0" rtlCol="0" anchor="ctr"/>
          <a:lstStyle/>
          <a:p>
            <a:r>
              <a:rPr lang="en-IN" sz="1200" dirty="0">
                <a:latin typeface="Times New Roman" panose="02020603050405020304" pitchFamily="18" charset="0"/>
                <a:cs typeface="Times New Roman" panose="02020603050405020304" pitchFamily="18" charset="0"/>
              </a:rPr>
              <a:t>MySQL 8.0 Relational DB (6 Tables)</a:t>
            </a:r>
          </a:p>
        </p:txBody>
      </p:sp>
      <p:sp>
        <p:nvSpPr>
          <p:cNvPr id="39" name="Shape 37"/>
          <p:cNvSpPr/>
          <p:nvPr/>
        </p:nvSpPr>
        <p:spPr>
          <a:xfrm>
            <a:off x="7726680" y="1188720"/>
            <a:ext cx="3410712" cy="5029200"/>
          </a:xfrm>
          <a:prstGeom prst="roundRect">
            <a:avLst>
              <a:gd name="adj" fmla="val 2145"/>
            </a:avLst>
          </a:prstGeom>
          <a:solidFill>
            <a:srgbClr val="FFFFFF"/>
          </a:solidFill>
          <a:ln w="12700">
            <a:solidFill>
              <a:srgbClr val="D4E2DC"/>
            </a:solidFill>
            <a:prstDash val="solid"/>
          </a:ln>
          <a:effectLst>
            <a:outerShdw blurRad="63500" dist="25400" dir="5400000" algn="bl" rotWithShape="0">
              <a:srgbClr val="AAAAAA">
                <a:alpha val="10000"/>
              </a:srgbClr>
            </a:outerShdw>
          </a:effectLst>
        </p:spPr>
      </p:sp>
      <p:sp>
        <p:nvSpPr>
          <p:cNvPr id="40" name="Shape 38"/>
          <p:cNvSpPr/>
          <p:nvPr/>
        </p:nvSpPr>
        <p:spPr>
          <a:xfrm>
            <a:off x="7726680" y="1188720"/>
            <a:ext cx="3410712" cy="566928"/>
          </a:xfrm>
          <a:prstGeom prst="rect">
            <a:avLst/>
          </a:prstGeom>
          <a:solidFill>
            <a:srgbClr val="8E44AD"/>
          </a:solidFill>
          <a:ln/>
        </p:spPr>
      </p:sp>
      <p:sp>
        <p:nvSpPr>
          <p:cNvPr id="41" name="Text 39"/>
          <p:cNvSpPr/>
          <p:nvPr/>
        </p:nvSpPr>
        <p:spPr>
          <a:xfrm>
            <a:off x="7818120" y="1188720"/>
            <a:ext cx="3227832" cy="566928"/>
          </a:xfrm>
          <a:prstGeom prst="rect">
            <a:avLst/>
          </a:prstGeom>
          <a:noFill/>
          <a:ln/>
        </p:spPr>
        <p:txBody>
          <a:bodyPr wrap="square" lIns="0" tIns="0" rIns="0" bIns="0" rtlCol="0" anchor="ctr"/>
          <a:lstStyle/>
          <a:p>
            <a:pPr marL="0" indent="0" algn="ctr">
              <a:buNone/>
            </a:pPr>
            <a:endParaRPr lang="en-US" sz="1300" b="1" dirty="0" smtClean="0">
              <a:solidFill>
                <a:srgbClr val="FFFFFF"/>
              </a:solidFill>
              <a:latin typeface="Calibri" pitchFamily="34" charset="0"/>
              <a:ea typeface="Calibri" pitchFamily="34" charset="-122"/>
              <a:cs typeface="Calibri" pitchFamily="34" charset="-120"/>
            </a:endParaRPr>
          </a:p>
          <a:p>
            <a:pPr marL="0" indent="0" algn="ctr">
              <a:buNone/>
            </a:pPr>
            <a:r>
              <a:rPr lang="en-US" sz="1300" b="1" dirty="0" smtClean="0">
                <a:solidFill>
                  <a:srgbClr val="FFFFFF"/>
                </a:solidFill>
                <a:latin typeface="Calibri" pitchFamily="34" charset="0"/>
                <a:ea typeface="Calibri" pitchFamily="34" charset="-122"/>
                <a:cs typeface="Calibri" pitchFamily="34" charset="-120"/>
              </a:rPr>
              <a:t>MODEL METRICS</a:t>
            </a:r>
            <a:endParaRPr lang="en-US" sz="1300" dirty="0"/>
          </a:p>
        </p:txBody>
      </p:sp>
      <p:sp>
        <p:nvSpPr>
          <p:cNvPr id="42" name="Shape 40"/>
          <p:cNvSpPr/>
          <p:nvPr/>
        </p:nvSpPr>
        <p:spPr>
          <a:xfrm>
            <a:off x="7909560" y="2048256"/>
            <a:ext cx="201168" cy="201168"/>
          </a:xfrm>
          <a:prstGeom prst="ellipse">
            <a:avLst/>
          </a:prstGeom>
          <a:solidFill>
            <a:srgbClr val="8E44AD"/>
          </a:solidFill>
          <a:ln/>
        </p:spPr>
      </p:sp>
      <p:sp>
        <p:nvSpPr>
          <p:cNvPr id="43" name="Shape 41"/>
          <p:cNvSpPr/>
          <p:nvPr/>
        </p:nvSpPr>
        <p:spPr>
          <a:xfrm>
            <a:off x="8202168" y="1938528"/>
            <a:ext cx="2807208" cy="841248"/>
          </a:xfrm>
          <a:prstGeom prst="roundRect">
            <a:avLst>
              <a:gd name="adj" fmla="val 6522"/>
            </a:avLst>
          </a:prstGeom>
          <a:solidFill>
            <a:srgbClr val="F5FAF8"/>
          </a:solidFill>
          <a:ln w="12700">
            <a:solidFill>
              <a:srgbClr val="D4E2DC"/>
            </a:solidFill>
            <a:prstDash val="dash"/>
          </a:ln>
        </p:spPr>
      </p:sp>
      <p:sp>
        <p:nvSpPr>
          <p:cNvPr id="44" name="Text 42"/>
          <p:cNvSpPr/>
          <p:nvPr/>
        </p:nvSpPr>
        <p:spPr>
          <a:xfrm>
            <a:off x="8366760" y="1938528"/>
            <a:ext cx="2478024" cy="841248"/>
          </a:xfrm>
          <a:prstGeom prst="rect">
            <a:avLst/>
          </a:prstGeom>
          <a:noFill/>
          <a:ln/>
        </p:spPr>
        <p:txBody>
          <a:bodyPr wrap="square" lIns="0" tIns="0" rIns="0" bIns="0" rtlCol="0" anchor="ctr"/>
          <a:lstStyle/>
          <a:p>
            <a:r>
              <a:rPr lang="en-IN" sz="1200" dirty="0" err="1">
                <a:latin typeface="Times New Roman" panose="02020603050405020304" pitchFamily="18" charset="0"/>
                <a:cs typeface="Times New Roman" panose="02020603050405020304" pitchFamily="18" charset="0"/>
              </a:rPr>
              <a:t>Microsoft InterpretML</a:t>
            </a:r>
            <a:r>
              <a:rPr lang="en-IN" sz="1200" dirty="0">
                <a:latin typeface="Times New Roman" panose="02020603050405020304" pitchFamily="18" charset="0"/>
                <a:cs typeface="Times New Roman" panose="02020603050405020304" pitchFamily="18" charset="0"/>
              </a:rPr>
              <a:t> (ExplainableBoostingClassifier)</a:t>
            </a:r>
          </a:p>
        </p:txBody>
      </p:sp>
      <p:sp>
        <p:nvSpPr>
          <p:cNvPr id="45" name="Shape 43"/>
          <p:cNvSpPr/>
          <p:nvPr/>
        </p:nvSpPr>
        <p:spPr>
          <a:xfrm>
            <a:off x="7909560" y="3072384"/>
            <a:ext cx="201168" cy="201168"/>
          </a:xfrm>
          <a:prstGeom prst="ellipse">
            <a:avLst/>
          </a:prstGeom>
          <a:solidFill>
            <a:srgbClr val="8E44AD"/>
          </a:solidFill>
          <a:ln/>
        </p:spPr>
      </p:sp>
      <p:sp>
        <p:nvSpPr>
          <p:cNvPr id="46" name="Shape 44"/>
          <p:cNvSpPr/>
          <p:nvPr/>
        </p:nvSpPr>
        <p:spPr>
          <a:xfrm>
            <a:off x="8202168" y="2962656"/>
            <a:ext cx="2807208" cy="841248"/>
          </a:xfrm>
          <a:prstGeom prst="roundRect">
            <a:avLst>
              <a:gd name="adj" fmla="val 6522"/>
            </a:avLst>
          </a:prstGeom>
          <a:solidFill>
            <a:srgbClr val="F5FAF8"/>
          </a:solidFill>
          <a:ln w="12700">
            <a:solidFill>
              <a:srgbClr val="D4E2DC"/>
            </a:solidFill>
            <a:prstDash val="dash"/>
          </a:ln>
        </p:spPr>
      </p:sp>
      <p:sp>
        <p:nvSpPr>
          <p:cNvPr id="47" name="Text 45"/>
          <p:cNvSpPr/>
          <p:nvPr/>
        </p:nvSpPr>
        <p:spPr>
          <a:xfrm>
            <a:off x="8366760" y="2962656"/>
            <a:ext cx="2478024" cy="841248"/>
          </a:xfrm>
          <a:prstGeom prst="rect">
            <a:avLst/>
          </a:prstGeom>
          <a:noFill/>
          <a:ln/>
        </p:spPr>
        <p:txBody>
          <a:bodyPr wrap="square" lIns="0" tIns="0" rIns="0" bIns="0" rtlCol="0" anchor="ctr"/>
          <a:lstStyle/>
          <a:p>
            <a:r>
              <a:rPr lang="en-US" sz="1200" dirty="0">
                <a:latin typeface="Times New Roman" panose="02020603050405020304" pitchFamily="18" charset="0"/>
                <a:cs typeface="Times New Roman" panose="02020603050405020304" pitchFamily="18" charset="0"/>
              </a:rPr>
              <a:t>Scikit-Learn (</a:t>
            </a:r>
            <a:r>
              <a:rPr lang="en-US" sz="1200" dirty="0" err="1">
                <a:latin typeface="Times New Roman" panose="02020603050405020304" pitchFamily="18" charset="0"/>
                <a:cs typeface="Times New Roman" panose="02020603050405020304" pitchFamily="18" charset="0"/>
              </a:rPr>
              <a:t>Metrics &amp; Baseline</a:t>
            </a:r>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
            </a:r>
            <a:r>
              <a:rPr lang="en-US" sz="1200" dirty="0">
                <a:latin typeface="Times New Roman" panose="02020603050405020304" pitchFamily="18" charset="0"/>
                <a:cs typeface="Times New Roman" panose="02020603050405020304" pitchFamily="18" charset="0"/>
              </a:rPr>
              <a:t/>
            </a:r>
          </a:p>
        </p:txBody>
      </p:sp>
      <p:sp>
        <p:nvSpPr>
          <p:cNvPr id="48" name="Shape 46"/>
          <p:cNvSpPr/>
          <p:nvPr/>
        </p:nvSpPr>
        <p:spPr>
          <a:xfrm>
            <a:off x="7909560" y="4096512"/>
            <a:ext cx="201168" cy="201168"/>
          </a:xfrm>
          <a:prstGeom prst="ellipse">
            <a:avLst/>
          </a:prstGeom>
          <a:solidFill>
            <a:srgbClr val="8E44AD"/>
          </a:solidFill>
          <a:ln/>
        </p:spPr>
      </p:sp>
      <p:sp>
        <p:nvSpPr>
          <p:cNvPr id="49" name="Shape 47"/>
          <p:cNvSpPr/>
          <p:nvPr/>
        </p:nvSpPr>
        <p:spPr>
          <a:xfrm>
            <a:off x="8202168" y="3986784"/>
            <a:ext cx="2807208" cy="841248"/>
          </a:xfrm>
          <a:prstGeom prst="roundRect">
            <a:avLst>
              <a:gd name="adj" fmla="val 6522"/>
            </a:avLst>
          </a:prstGeom>
          <a:solidFill>
            <a:srgbClr val="F5FAF8"/>
          </a:solidFill>
          <a:ln w="12700">
            <a:solidFill>
              <a:srgbClr val="D4E2DC"/>
            </a:solidFill>
            <a:prstDash val="dash"/>
          </a:ln>
        </p:spPr>
      </p:sp>
      <p:sp>
        <p:nvSpPr>
          <p:cNvPr id="50" name="Text 48"/>
          <p:cNvSpPr/>
          <p:nvPr/>
        </p:nvSpPr>
        <p:spPr>
          <a:xfrm>
            <a:off x="8366760" y="3986784"/>
            <a:ext cx="2478024" cy="841248"/>
          </a:xfrm>
          <a:prstGeom prst="rect">
            <a:avLst/>
          </a:prstGeom>
          <a:noFill/>
          <a:ln/>
        </p:spPr>
        <p:txBody>
          <a:bodyPr wrap="square" lIns="0" tIns="0" rIns="0" bIns="0" rtlCol="0" anchor="ctr"/>
          <a:lstStyle/>
          <a:p>
            <a:r>
              <a:rPr lang="en-IN" sz="1200" dirty="0" err="1">
                <a:latin typeface="Times New Roman" panose="02020603050405020304" pitchFamily="18" charset="0"/>
                <a:cs typeface="Times New Roman" panose="02020603050405020304" pitchFamily="18" charset="0"/>
              </a:rPr>
              <a:t>Recharts</a:t>
            </a:r>
            <a:r>
              <a:rPr lang="en-IN" sz="1200" dirty="0"/>
              <a:t> </a:t>
            </a:r>
            <a:r>
              <a:rPr lang="en-IN" sz="1200" dirty="0" smtClean="0"/>
              <a:t>- </a:t>
            </a:r>
            <a:r>
              <a:rPr lang="en-IN" sz="1200" dirty="0"/>
              <a:t>interactive SVG waterfall </a:t>
            </a:r>
            <a:r>
              <a:rPr lang="en-IN" sz="1200" dirty="0">
                <a:latin typeface="Times New Roman" panose="02020603050405020304" pitchFamily="18" charset="0"/>
                <a:cs typeface="Times New Roman" panose="02020603050405020304" pitchFamily="18" charset="0"/>
              </a:rPr>
              <a:t>charts</a:t>
            </a:r>
          </a:p>
        </p:txBody>
      </p:sp>
      <p:sp>
        <p:nvSpPr>
          <p:cNvPr id="51" name="Shape 49"/>
          <p:cNvSpPr/>
          <p:nvPr/>
        </p:nvSpPr>
        <p:spPr>
          <a:xfrm>
            <a:off x="7909560" y="5120640"/>
            <a:ext cx="201168" cy="201168"/>
          </a:xfrm>
          <a:prstGeom prst="ellipse">
            <a:avLst/>
          </a:prstGeom>
          <a:solidFill>
            <a:srgbClr val="8E44AD"/>
          </a:solidFill>
          <a:ln/>
        </p:spPr>
      </p:sp>
      <p:sp>
        <p:nvSpPr>
          <p:cNvPr id="52" name="Shape 50"/>
          <p:cNvSpPr/>
          <p:nvPr/>
        </p:nvSpPr>
        <p:spPr>
          <a:xfrm>
            <a:off x="8202168" y="5010912"/>
            <a:ext cx="2807208" cy="841248"/>
          </a:xfrm>
          <a:prstGeom prst="roundRect">
            <a:avLst>
              <a:gd name="adj" fmla="val 6522"/>
            </a:avLst>
          </a:prstGeom>
          <a:solidFill>
            <a:srgbClr val="F5FAF8"/>
          </a:solidFill>
          <a:ln w="12700">
            <a:solidFill>
              <a:srgbClr val="D4E2DC"/>
            </a:solidFill>
            <a:prstDash val="dash"/>
          </a:ln>
        </p:spPr>
      </p:sp>
      <p:sp>
        <p:nvSpPr>
          <p:cNvPr id="53" name="Text 51"/>
          <p:cNvSpPr/>
          <p:nvPr/>
        </p:nvSpPr>
        <p:spPr>
          <a:xfrm>
            <a:off x="8366760" y="5010912"/>
            <a:ext cx="2478024" cy="841248"/>
          </a:xfrm>
          <a:prstGeom prst="rect">
            <a:avLst/>
          </a:prstGeom>
          <a:noFill/>
          <a:ln/>
        </p:spPr>
        <p:txBody>
          <a:bodyPr wrap="square" lIns="0" tIns="0" rIns="0" bIns="0" rtlCol="0" anchor="ctr"/>
          <a:lstStyle/>
          <a:p>
            <a:r>
              <a:rPr lang="en-US" sz="1200" dirty="0" err="1">
                <a:latin typeface="Times New Roman" panose="02020603050405020304" pitchFamily="18" charset="0"/>
                <a:cs typeface="Times New Roman" panose="02020603050405020304" pitchFamily="18" charset="0"/>
              </a:rPr>
              <a:t>Docker Compose</a:t>
            </a:r>
            <a:r>
              <a:rPr lang="en-US" sz="1200" dirty="0">
                <a:latin typeface="Times New Roman" panose="02020603050405020304" pitchFamily="18" charset="0"/>
                <a:cs typeface="Times New Roman" panose="02020603050405020304" pitchFamily="18" charset="0"/>
              </a:rPr>
              <a:t> (multi-service </a:t>
            </a:r>
            <a:r>
              <a:rPr lang="en-US" sz="1200" dirty="0" err="1">
                <a:latin typeface="Times New Roman" panose="02020603050405020304" pitchFamily="18" charset="0"/>
                <a:cs typeface="Times New Roman" panose="02020603050405020304" pitchFamily="18" charset="0"/>
              </a:rPr>
              <a:t>orchestration</a:t>
            </a:r>
            <a:r>
              <a:rPr lang="en-US" sz="1200" dirty="0">
                <a:latin typeface="Times New Roman" panose="02020603050405020304" pitchFamily="18" charset="0"/>
                <a:cs typeface="Times New Roman" panose="02020603050405020304" pitchFamily="18" charset="0"/>
              </a:rPr>
              <a:t>)</a:t>
            </a:r>
          </a:p>
        </p:txBody>
      </p:sp>
      <p:sp>
        <p:nvSpPr>
          <p:cNvPr id="54" name="Rectangle 1"/>
          <p:cNvSpPr>
            <a:spLocks noChangeArrowheads="1"/>
          </p:cNvSpPr>
          <p:nvPr/>
        </p:nvSpPr>
        <p:spPr bwMode="auto">
          <a:xfrm>
            <a:off x="0" y="-323165"/>
            <a:ext cx="184731" cy="646331"/>
          </a:xfrm>
          <a:prstGeom prst="rect">
            <a:avLst/>
          </a:prstGeom>
          <a:noFill/>
          <a:ln>
            <a:noFill/>
          </a:ln>
          <a:effectLst/>
          <a:extLst>
            <a:ext uri="{909E8E84-426E-40DD-AFC4-6F175D3DCCD1}">
              <ns2:hiddenFill>
                <a:solidFill>
                  <a:schemeClr val="accent1"/>
                </a:solidFill>
              </ns2:hiddenFill>
            </a:ext>
            <a:ext uri="{91240B29-F687-4F45-9708-019B960494DF}">
              <ns2:hiddenLine w="9525">
                <a:solidFill>
                  <a:schemeClr val="tx1"/>
                </a:solidFill>
                <a:miter lim="800000"/>
                <a:headEnd/>
                <a:tailEnd/>
              </ns2:hiddenLine>
            </a:ext>
            <a:ext uri="{AF507438-7753-43E0-B8FC-AC1667EBCBE1}">
              <ns2:hiddenEffects>
                <a:effectLst>
                  <a:outerShdw dist="35921" dir="2700000" algn="ctr" rotWithShape="0">
                    <a:schemeClr val="bg2"/>
                  </a:outerShdw>
                </a:effectLst>
              </ns2: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57" name="Shape 23"/>
          <p:cNvSpPr/>
          <p:nvPr/>
        </p:nvSpPr>
        <p:spPr>
          <a:xfrm>
            <a:off x="502920" y="1207009"/>
            <a:ext cx="3410712" cy="566928"/>
          </a:xfrm>
          <a:prstGeom prst="rect">
            <a:avLst/>
          </a:prstGeom>
          <a:solidFill>
            <a:schemeClr val="accent6">
              <a:lumMod val="75000"/>
            </a:schemeClr>
          </a:solidFill>
          <a:ln/>
        </p:spPr>
        <p:txBody>
          <a:bodyPr/>
          <a:lstStyle/>
          <a:p>
            <a:pPr algn="ctr"/>
            <a:endParaRPr lang="en-US" sz="1300" b="1" dirty="0">
              <a:solidFill>
                <a:srgbClr val="FFFFFF"/>
              </a:solidFill>
              <a:latin typeface="Calibri" pitchFamily="34" charset="0"/>
              <a:ea typeface="Calibri" pitchFamily="34" charset="-122"/>
              <a:cs typeface="Calibri" pitchFamily="34" charset="-120"/>
            </a:endParaRPr>
          </a:p>
          <a:p>
            <a:pPr algn="ctr"/>
            <a:r>
              <a:rPr lang="en-US" sz="1300" b="1" dirty="0" smtClean="0">
                <a:solidFill>
                  <a:srgbClr val="FFFFFF"/>
                </a:solidFill>
                <a:latin typeface="Calibri" pitchFamily="34" charset="0"/>
                <a:ea typeface="Calibri" pitchFamily="34" charset="-122"/>
                <a:cs typeface="Calibri" pitchFamily="34" charset="-120"/>
              </a:rPr>
              <a:t>PORTFOLIO DASHBOARD</a:t>
            </a:r>
            <a:endParaRPr lang="en-US" sz="1300" dirty="0"/>
          </a:p>
        </p:txBody>
      </p:sp>
      <p:pic>
        <p:nvPicPr>
          <p:cNvPr id="59" name="Picture 58"/>
          <p:cNvPicPr>
            <a:picLocks noChangeAspect="1"/>
          </p:cNvPicPr>
          <p:nvPr/>
        </p:nvPicPr>
        <p:blipFill>
          <a:blip r:embed="rId3">
            <a:extLst>
              <a:ext uri="{28A0092B-C50C-407E-A947-70E740481C1C}">
                <ns2:useLocalDpi val="0"/>
              </a:ext>
            </a:extLst>
          </a:blip>
          <a:stretch>
            <a:fillRect/>
          </a:stretch>
        </p:blipFill>
        <p:spPr>
          <a:xfrm>
            <a:off x="502919" y="1792226"/>
            <a:ext cx="3410712" cy="4425694"/>
          </a:xfrm>
          <a:prstGeom prst="rect">
            <a:avLst/>
          </a:prstGeom>
        </p:spPr>
      </p:pic>
      <p:pic>
        <p:nvPicPr>
          <p:cNvPr id="60" name="Picture 59"/>
          <p:cNvPicPr>
            <a:picLocks noChangeAspect="1"/>
          </p:cNvPicPr>
          <p:nvPr/>
        </p:nvPicPr>
        <p:blipFill>
          <a:blip r:embed="rId4">
            <a:extLst>
              <a:ext uri="{28A0092B-C50C-407E-A947-70E740481C1C}">
                <ns2:useLocalDpi val="0"/>
              </a:ext>
            </a:extLst>
          </a:blip>
          <a:stretch>
            <a:fillRect/>
          </a:stretch>
        </p:blipFill>
        <p:spPr>
          <a:xfrm>
            <a:off x="4114799" y="1755649"/>
            <a:ext cx="3410713" cy="4400786"/>
          </a:xfrm>
          <a:prstGeom prst="rect">
            <a:avLst/>
          </a:prstGeom>
        </p:spPr>
      </p:pic>
      <p:pic>
        <p:nvPicPr>
          <p:cNvPr id="61" name="Picture 60"/>
          <p:cNvPicPr>
            <a:picLocks noChangeAspect="1"/>
          </p:cNvPicPr>
          <p:nvPr/>
        </p:nvPicPr>
        <p:blipFill>
          <a:blip r:embed="rId5">
            <a:extLst>
              <a:ext uri="{28A0092B-C50C-407E-A947-70E740481C1C}">
                <ns2:useLocalDpi val="0"/>
              </a:ext>
            </a:extLst>
          </a:blip>
          <a:stretch>
            <a:fillRect/>
          </a:stretch>
        </p:blipFill>
        <p:spPr>
          <a:xfrm>
            <a:off x="7690103" y="1755648"/>
            <a:ext cx="3447289" cy="4517135"/>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C9A841"/>
          </a:solidFill>
          <a:ln/>
        </p:spPr>
      </p:sp>
      <p:sp>
        <p:nvSpPr>
          <p:cNvPr id="3" name="Text 1"/>
          <p:cNvSpPr/>
          <p:nvPr/>
        </p:nvSpPr>
        <p:spPr>
          <a:xfrm>
            <a:off x="533095" y="630936"/>
            <a:ext cx="10972800" cy="658368"/>
          </a:xfrm>
          <a:prstGeom prst="rect">
            <a:avLst/>
          </a:prstGeom>
          <a:noFill/>
          <a:ln/>
        </p:spPr>
        <p:txBody>
          <a:bodyPr wrap="square" lIns="0" tIns="0" rIns="0" bIns="0" rtlCol="0" anchor="ctr"/>
          <a:lstStyle/>
          <a:p>
            <a:pPr marL="0" indent="0">
              <a:buNone/>
            </a:pPr>
            <a:r>
              <a:rPr lang="en-US" sz="2800" b="1" dirty="0">
                <a:solidFill>
                  <a:srgbClr val="1F4A3A"/>
                </a:solidFill>
                <a:latin typeface="Times New Roman" panose="02020603050405020304" pitchFamily="18" charset="0"/>
                <a:ea typeface="Cambria" pitchFamily="34" charset="-122"/>
                <a:cs typeface="Times New Roman" panose="02020603050405020304" pitchFamily="18" charset="0"/>
              </a:rPr>
              <a:t>REFERENCES</a:t>
            </a:r>
            <a:endParaRPr lang="en-US" sz="2800" dirty="0">
              <a:latin typeface="Times New Roman" panose="02020603050405020304" pitchFamily="18" charset="0"/>
              <a:cs typeface="Times New Roman" panose="02020603050405020304" pitchFamily="18" charset="0"/>
            </a:endParaRPr>
          </a:p>
        </p:txBody>
      </p:sp>
      <p:sp>
        <p:nvSpPr>
          <p:cNvPr id="4"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5" name="Shape 3"/>
          <p:cNvSpPr/>
          <p:nvPr/>
        </p:nvSpPr>
        <p:spPr>
          <a:xfrm>
            <a:off x="502920" y="1275588"/>
            <a:ext cx="11185855" cy="0"/>
          </a:xfrm>
          <a:prstGeom prst="line">
            <a:avLst/>
          </a:prstGeom>
          <a:noFill/>
          <a:ln w="15240">
            <a:solidFill>
              <a:srgbClr val="C9A841"/>
            </a:solidFill>
            <a:prstDash val="solid"/>
          </a:ln>
        </p:spPr>
      </p:sp>
      <p:sp>
        <p:nvSpPr>
          <p:cNvPr id="6" name="Shape 4"/>
          <p:cNvSpPr/>
          <p:nvPr/>
        </p:nvSpPr>
        <p:spPr>
          <a:xfrm>
            <a:off x="457200" y="6400800"/>
            <a:ext cx="11277295" cy="0"/>
          </a:xfrm>
          <a:prstGeom prst="line">
            <a:avLst/>
          </a:prstGeom>
          <a:noFill/>
          <a:ln w="9525">
            <a:solidFill>
              <a:srgbClr val="D4E2DC"/>
            </a:solidFill>
            <a:prstDash val="solid"/>
          </a:ln>
        </p:spPr>
      </p:sp>
      <p:sp>
        <p:nvSpPr>
          <p:cNvPr id="7" name="Text 5"/>
          <p:cNvSpPr/>
          <p:nvPr/>
        </p:nvSpPr>
        <p:spPr>
          <a:xfrm>
            <a:off x="457200" y="6455664"/>
            <a:ext cx="2926080" cy="274320"/>
          </a:xfrm>
          <a:prstGeom prst="rect">
            <a:avLst/>
          </a:prstGeom>
          <a:noFill/>
          <a:ln/>
        </p:spPr>
        <p:txBody>
          <a:bodyPr wrap="square" lIns="0" tIns="0" rIns="0" bIns="0" rtlCol="0" anchor="ctr"/>
          <a:lstStyle/>
          <a:p>
            <a:r>
              <a:rPr lang="en-US" sz="1000" dirty="0">
                <a:solidFill>
                  <a:srgbClr val="6B7B73"/>
                </a:solidFill>
                <a:latin typeface="Calibri" pitchFamily="34" charset="0"/>
                <a:ea typeface="Calibri" pitchFamily="34" charset="-122"/>
                <a:cs typeface="Calibri" pitchFamily="34" charset="-120"/>
              </a:rPr>
              <a:t>14/10/2026</a:t>
            </a:r>
            <a:endParaRPr lang="en-US" sz="1000" dirty="0"/>
          </a:p>
          <a:p>
            <a:endParaRPr lang="en-US" sz="1000" dirty="0"/>
          </a:p>
        </p:txBody>
      </p:sp>
      <p:sp>
        <p:nvSpPr>
          <p:cNvPr id="8" name="Text 6"/>
          <p:cNvSpPr/>
          <p:nvPr/>
        </p:nvSpPr>
        <p:spPr>
          <a:xfrm>
            <a:off x="3474720" y="6455664"/>
            <a:ext cx="5239512" cy="274320"/>
          </a:xfrm>
          <a:prstGeom prst="rect">
            <a:avLst/>
          </a:prstGeom>
          <a:noFill/>
          <a:ln/>
        </p:spPr>
        <p:txBody>
          <a:bodyPr wrap="square" lIns="0" tIns="0" rIns="0" bIns="0" rtlCol="0" anchor="ctr"/>
          <a:lstStyle/>
          <a:p>
            <a:r>
              <a:rPr lang="en-US" sz="10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1000" dirty="0"/>
          </a:p>
        </p:txBody>
      </p:sp>
      <p:sp>
        <p:nvSpPr>
          <p:cNvPr id="9" name="Text 7"/>
          <p:cNvSpPr/>
          <p:nvPr/>
        </p:nvSpPr>
        <p:spPr>
          <a:xfrm>
            <a:off x="11277295" y="6455664"/>
            <a:ext cx="457200" cy="274320"/>
          </a:xfrm>
          <a:prstGeom prst="rect">
            <a:avLst/>
          </a:prstGeom>
          <a:noFill/>
          <a:ln/>
        </p:spPr>
        <p:txBody>
          <a:bodyPr wrap="square" lIns="0" tIns="0" rIns="0" bIns="0" rtlCol="0" anchor="ctr"/>
          <a:lstStyle/>
          <a:p>
            <a:pPr marL="0" indent="0">
              <a:buNone/>
            </a:pPr>
            <a:r>
              <a:rPr lang="en-US" sz="1000" b="1" dirty="0" smtClean="0">
                <a:solidFill>
                  <a:srgbClr val="1F4A3A"/>
                </a:solidFill>
                <a:latin typeface="Times New Roman" panose="02020603050405020304" pitchFamily="18" charset="0"/>
                <a:ea typeface="Calibri" pitchFamily="34" charset="-122"/>
                <a:cs typeface="Times New Roman" panose="02020603050405020304" pitchFamily="18" charset="0"/>
              </a:rPr>
              <a:t>10</a:t>
            </a:r>
            <a:endParaRPr lang="en-US" sz="1000" dirty="0">
              <a:latin typeface="Times New Roman" panose="02020603050405020304" pitchFamily="18" charset="0"/>
              <a:cs typeface="Times New Roman" panose="02020603050405020304" pitchFamily="18" charset="0"/>
            </a:endParaRPr>
          </a:p>
        </p:txBody>
      </p:sp>
      <p:sp>
        <p:nvSpPr>
          <p:cNvPr id="11" name="Text 9"/>
          <p:cNvSpPr/>
          <p:nvPr/>
        </p:nvSpPr>
        <p:spPr>
          <a:xfrm>
            <a:off x="685800" y="1170432"/>
            <a:ext cx="10820095" cy="320040"/>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2" name="Text 10"/>
          <p:cNvSpPr/>
          <p:nvPr/>
        </p:nvSpPr>
        <p:spPr>
          <a:xfrm>
            <a:off x="685800" y="1444752"/>
            <a:ext cx="10820095" cy="256032"/>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13" name="Shape 11"/>
          <p:cNvSpPr/>
          <p:nvPr/>
        </p:nvSpPr>
        <p:spPr>
          <a:xfrm>
            <a:off x="502920" y="1883664"/>
            <a:ext cx="11185855" cy="475488"/>
          </a:xfrm>
          <a:prstGeom prst="roundRect">
            <a:avLst>
              <a:gd name="adj" fmla="val 9615"/>
            </a:avLst>
          </a:prstGeom>
          <a:solidFill>
            <a:srgbClr val="FFFFFF"/>
          </a:solidFill>
          <a:ln w="6350">
            <a:solidFill>
              <a:srgbClr val="D4E2DC"/>
            </a:solidFill>
            <a:prstDash val="solid"/>
          </a:ln>
        </p:spPr>
      </p:sp>
      <p:sp>
        <p:nvSpPr>
          <p:cNvPr id="14" name="Text 12"/>
          <p:cNvSpPr/>
          <p:nvPr/>
        </p:nvSpPr>
        <p:spPr>
          <a:xfrm>
            <a:off x="685800" y="1883664"/>
            <a:ext cx="10820095" cy="475488"/>
          </a:xfrm>
          <a:prstGeom prst="rect">
            <a:avLst/>
          </a:prstGeom>
          <a:noFill/>
          <a:ln/>
        </p:spPr>
        <p:txBody>
          <a:bodyPr wrap="square" lIns="0" tIns="0" rIns="0" bIns="0" rtlCol="0" anchor="ctr"/>
          <a:lstStyle/>
          <a:p>
            <a:r>
              <a:rPr lang="en-US" sz="1000" dirty="0"/>
              <a:t>[1] Y. Lou, R. Caruana, J. Gehrke, and G. Hooker, "Accurate intelligible models with pairwise interactions," in Proc. 19th ACM SIGKDD Int. Conf. Knowledge Discovery and Data Mining (KDD), 2013, pp. 623-631.</a:t>
            </a:r>
            <a:r>
              <a:rPr lang="en-US" sz="1000" dirty="0" err="1"/>
              <a:t/>
            </a:r>
            <a:r>
              <a:rPr lang="en-US" sz="1000" dirty="0"/>
              <a:t/>
            </a:r>
            <a:r>
              <a:rPr lang="en-US" sz="1000" dirty="0" err="1"/>
              <a:t/>
            </a:r>
            <a:r>
              <a:rPr lang="en-US" sz="1000" dirty="0"/>
              <a:t/>
            </a:r>
            <a:r>
              <a:rPr lang="en-US" sz="1000" dirty="0" err="1"/>
              <a:t/>
            </a:r>
            <a:r>
              <a:rPr lang="en-US" sz="1000" dirty="0"/>
              <a:t/>
            </a:r>
            <a:r>
              <a:rPr lang="en-US" sz="1000" dirty="0" err="1"/>
              <a:t/>
            </a:r>
            <a:r>
              <a:rPr lang="en-US" sz="1000" dirty="0"/>
              <a:t/>
            </a:r>
            <a:r>
              <a:rPr lang="en-US" sz="1000" i="1" dirty="0"/>
              <a:t/>
            </a:r>
            <a:r>
              <a:rPr lang="en-US" sz="1000" dirty="0"/>
              <a:t/>
            </a:r>
          </a:p>
          <a:p>
            <a:r>
              <a:rPr lang="en-US" sz="1000" dirty="0"/>
              <a:t/>
            </a:r>
            <a:br>
              <a:rPr lang="en-US" sz="1000" dirty="0"/>
            </a:br>
            <a:endParaRPr lang="en-US" sz="1000" dirty="0">
              <a:latin typeface="Times New Roman" panose="02020603050405020304" pitchFamily="18" charset="0"/>
              <a:cs typeface="Times New Roman" panose="02020603050405020304" pitchFamily="18" charset="0"/>
            </a:endParaRPr>
          </a:p>
        </p:txBody>
      </p:sp>
      <p:sp>
        <p:nvSpPr>
          <p:cNvPr id="15" name="Shape 13"/>
          <p:cNvSpPr/>
          <p:nvPr/>
        </p:nvSpPr>
        <p:spPr>
          <a:xfrm>
            <a:off x="502920" y="2395728"/>
            <a:ext cx="11185855" cy="475488"/>
          </a:xfrm>
          <a:prstGeom prst="roundRect">
            <a:avLst>
              <a:gd name="adj" fmla="val 9615"/>
            </a:avLst>
          </a:prstGeom>
          <a:solidFill>
            <a:srgbClr val="E8F5F0"/>
          </a:solidFill>
          <a:ln w="6350">
            <a:solidFill>
              <a:srgbClr val="D4E2DC"/>
            </a:solidFill>
            <a:prstDash val="solid"/>
          </a:ln>
        </p:spPr>
      </p:sp>
      <p:sp>
        <p:nvSpPr>
          <p:cNvPr id="16" name="Text 14"/>
          <p:cNvSpPr/>
          <p:nvPr/>
        </p:nvSpPr>
        <p:spPr>
          <a:xfrm>
            <a:off x="685800" y="2395728"/>
            <a:ext cx="10820095" cy="475488"/>
          </a:xfrm>
          <a:prstGeom prst="rect">
            <a:avLst/>
          </a:prstGeom>
          <a:noFill/>
          <a:ln/>
        </p:spPr>
        <p:txBody>
          <a:bodyPr wrap="square" lIns="0" tIns="0" rIns="0" bIns="0" rtlCol="0" anchor="ctr"/>
          <a:lstStyle/>
          <a:p>
            <a:r>
              <a:rPr lang="en-US" sz="1000" dirty="0"/>
              <a:t>[2] H. Nori, S. Jenkins, P. Koch, and R. Caruana, "InterpretML: A unified framework for machine learning interpretability," arXiv preprint arXiv:1909.09223, 2019.</a:t>
            </a:r>
            <a:r>
              <a:rPr lang="en-US" sz="1000" dirty="0" err="1"/>
              <a:t/>
            </a:r>
            <a:r>
              <a:rPr lang="en-US" sz="1000" dirty="0"/>
              <a:t/>
            </a:r>
            <a:r>
              <a:rPr lang="en-US" sz="1000" i="1" dirty="0"/>
              <a:t/>
            </a:r>
            <a:r>
              <a:rPr lang="en-US" sz="1000" dirty="0"/>
              <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17" name="Shape 15"/>
          <p:cNvSpPr/>
          <p:nvPr/>
        </p:nvSpPr>
        <p:spPr>
          <a:xfrm>
            <a:off x="502920" y="2907792"/>
            <a:ext cx="11185855" cy="475488"/>
          </a:xfrm>
          <a:prstGeom prst="roundRect">
            <a:avLst>
              <a:gd name="adj" fmla="val 9615"/>
            </a:avLst>
          </a:prstGeom>
          <a:solidFill>
            <a:srgbClr val="FFFFFF"/>
          </a:solidFill>
          <a:ln w="6350">
            <a:solidFill>
              <a:srgbClr val="D4E2DC"/>
            </a:solidFill>
            <a:prstDash val="solid"/>
          </a:ln>
        </p:spPr>
      </p:sp>
      <p:sp>
        <p:nvSpPr>
          <p:cNvPr id="18" name="Text 16"/>
          <p:cNvSpPr/>
          <p:nvPr/>
        </p:nvSpPr>
        <p:spPr>
          <a:xfrm>
            <a:off x="685800" y="2907792"/>
            <a:ext cx="10820095" cy="475488"/>
          </a:xfrm>
          <a:prstGeom prst="rect">
            <a:avLst/>
          </a:prstGeom>
          <a:noFill/>
          <a:ln/>
        </p:spPr>
        <p:txBody>
          <a:bodyPr wrap="square" lIns="0" tIns="0" rIns="0" bIns="0" rtlCol="0" anchor="ctr"/>
          <a:lstStyle/>
          <a:p>
            <a:r>
              <a:rPr lang="en-US" sz="1000" dirty="0"/>
              <a:t>[3] S. M. Lundberg and S.-I. Lee, "A unified approach to interpreting model predictions," in Advances in Neural Information Processing Systems (NeurIPS), vol. 30, 2017, pp. 4765-4774.</a:t>
            </a:r>
            <a:r>
              <a:rPr lang="en-US" sz="1000" dirty="0" err="1"/>
              <a:t/>
            </a:r>
            <a:r>
              <a:rPr lang="en-US" sz="1000" dirty="0"/>
              <a:t/>
            </a:r>
            <a:r>
              <a:rPr lang="en-US" sz="1000" i="1" dirty="0"/>
              <a:t/>
            </a:r>
            <a:r>
              <a:rPr lang="en-US" sz="1000" dirty="0"/>
              <a:t/>
            </a:r>
            <a:r>
              <a:rPr lang="en-US" sz="1000" dirty="0" err="1"/>
              <a:t/>
            </a:r>
            <a:r>
              <a:rPr lang="en-US" sz="1000" dirty="0"/>
              <a:t/>
            </a:r>
            <a:r>
              <a:rPr lang="en-US" sz="1000" i="1" dirty="0"/>
              <a:t/>
            </a:r>
            <a:r>
              <a:rPr lang="en-US" sz="1000" dirty="0"/>
              <a:t/>
            </a:r>
          </a:p>
          <a:p>
            <a:r>
              <a:rPr lang="en-US" sz="1000" dirty="0"/>
              <a:t/>
            </a:r>
            <a:br>
              <a:rPr lang="en-US" sz="1000" dirty="0"/>
            </a:br>
            <a:endParaRPr lang="en-US" sz="1000" dirty="0">
              <a:latin typeface="Times New Roman" panose="02020603050405020304" pitchFamily="18" charset="0"/>
              <a:cs typeface="Times New Roman" panose="02020603050405020304" pitchFamily="18" charset="0"/>
            </a:endParaRPr>
          </a:p>
        </p:txBody>
      </p:sp>
      <p:sp>
        <p:nvSpPr>
          <p:cNvPr id="19" name="Shape 17"/>
          <p:cNvSpPr/>
          <p:nvPr/>
        </p:nvSpPr>
        <p:spPr>
          <a:xfrm>
            <a:off x="502920" y="3419856"/>
            <a:ext cx="11185855" cy="475488"/>
          </a:xfrm>
          <a:prstGeom prst="roundRect">
            <a:avLst>
              <a:gd name="adj" fmla="val 9615"/>
            </a:avLst>
          </a:prstGeom>
          <a:solidFill>
            <a:srgbClr val="E8F5F0"/>
          </a:solidFill>
          <a:ln w="6350">
            <a:solidFill>
              <a:srgbClr val="D4E2DC"/>
            </a:solidFill>
            <a:prstDash val="solid"/>
          </a:ln>
        </p:spPr>
      </p:sp>
      <p:sp>
        <p:nvSpPr>
          <p:cNvPr id="20" name="Text 18"/>
          <p:cNvSpPr/>
          <p:nvPr/>
        </p:nvSpPr>
        <p:spPr>
          <a:xfrm>
            <a:off x="685800" y="3419856"/>
            <a:ext cx="10820095" cy="475488"/>
          </a:xfrm>
          <a:prstGeom prst="rect">
            <a:avLst/>
          </a:prstGeom>
          <a:noFill/>
          <a:ln/>
        </p:spPr>
        <p:txBody>
          <a:bodyPr wrap="square" lIns="0" tIns="0" rIns="0" bIns="0" rtlCol="0" anchor="ctr"/>
          <a:lstStyle/>
          <a:p>
            <a:r>
              <a:rPr lang="en-US" sz="1000" dirty="0"/>
              <a:t>[4] M. T. Ribeiro, S. Singh, and C. Guestrin, "'Why should I trust you?': Explaining the predictions of any classifier," in Proc. 22nd ACM SIGKDD Int. Conf. Knowledge Discovery and Data Mining, 2016, pp. 1135-1144.</a:t>
            </a:r>
            <a:r>
              <a:rPr lang="en-US" sz="1000" dirty="0" err="1"/>
              <a:t/>
            </a:r>
            <a:r>
              <a:rPr lang="en-US" sz="1000" dirty="0"/>
              <a:t/>
            </a:r>
            <a:r>
              <a:rPr lang="en-US" sz="1000" i="1" dirty="0"/>
              <a:t/>
            </a:r>
            <a:r>
              <a:rPr lang="en-US" sz="1000" dirty="0"/>
              <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21" name="Shape 19"/>
          <p:cNvSpPr/>
          <p:nvPr/>
        </p:nvSpPr>
        <p:spPr>
          <a:xfrm>
            <a:off x="502920" y="3931920"/>
            <a:ext cx="11185855" cy="475488"/>
          </a:xfrm>
          <a:prstGeom prst="roundRect">
            <a:avLst>
              <a:gd name="adj" fmla="val 9615"/>
            </a:avLst>
          </a:prstGeom>
          <a:solidFill>
            <a:srgbClr val="FFFFFF"/>
          </a:solidFill>
          <a:ln w="6350">
            <a:solidFill>
              <a:srgbClr val="D4E2DC"/>
            </a:solidFill>
            <a:prstDash val="solid"/>
          </a:ln>
        </p:spPr>
      </p:sp>
      <p:sp>
        <p:nvSpPr>
          <p:cNvPr id="22" name="Text 20"/>
          <p:cNvSpPr/>
          <p:nvPr/>
        </p:nvSpPr>
        <p:spPr>
          <a:xfrm>
            <a:off x="685800" y="3931920"/>
            <a:ext cx="10820095" cy="475488"/>
          </a:xfrm>
          <a:prstGeom prst="rect">
            <a:avLst/>
          </a:prstGeom>
          <a:noFill/>
          <a:ln/>
        </p:spPr>
        <p:txBody>
          <a:bodyPr wrap="square" lIns="0" tIns="0" rIns="0" bIns="0" rtlCol="0" anchor="ctr"/>
          <a:lstStyle/>
          <a:p>
            <a:r>
              <a:rPr lang="en-US" sz="1000" dirty="0"/>
              <a:t>[5] C. Rudin, "Stop explaining black box machine learning models for high stakes decisions and use interpretable models instead," Nature Machine Intelligence, vol. 1, no. 5, pp. 206-215, 2019.</a:t>
            </a:r>
            <a:r>
              <a:rPr lang="en-US" sz="1000" dirty="0" err="1"/>
              <a:t/>
            </a:r>
            <a:r>
              <a:rPr lang="en-US" sz="1000" dirty="0"/>
              <a:t/>
            </a:r>
            <a:r>
              <a:rPr lang="en-US" sz="1000" dirty="0" err="1"/>
              <a:t/>
            </a:r>
            <a:r>
              <a:rPr lang="en-US" sz="1000" dirty="0"/>
              <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23" name="Shape 21"/>
          <p:cNvSpPr/>
          <p:nvPr/>
        </p:nvSpPr>
        <p:spPr>
          <a:xfrm>
            <a:off x="502920" y="4443984"/>
            <a:ext cx="11185855" cy="475488"/>
          </a:xfrm>
          <a:prstGeom prst="roundRect">
            <a:avLst>
              <a:gd name="adj" fmla="val 9615"/>
            </a:avLst>
          </a:prstGeom>
          <a:solidFill>
            <a:srgbClr val="E8F5F0"/>
          </a:solidFill>
          <a:ln w="6350">
            <a:solidFill>
              <a:srgbClr val="D4E2DC"/>
            </a:solidFill>
            <a:prstDash val="solid"/>
          </a:ln>
        </p:spPr>
      </p:sp>
      <p:sp>
        <p:nvSpPr>
          <p:cNvPr id="24" name="Text 22"/>
          <p:cNvSpPr/>
          <p:nvPr/>
        </p:nvSpPr>
        <p:spPr>
          <a:xfrm>
            <a:off x="685800" y="4443984"/>
            <a:ext cx="10820095" cy="475488"/>
          </a:xfrm>
          <a:prstGeom prst="rect">
            <a:avLst/>
          </a:prstGeom>
          <a:noFill/>
          <a:ln/>
        </p:spPr>
        <p:txBody>
          <a:bodyPr wrap="square" lIns="0" tIns="0" rIns="0" bIns="0" rtlCol="0" anchor="ctr"/>
          <a:lstStyle/>
          <a:p>
            <a:r>
              <a:rPr lang="en-US" sz="1000" dirty="0"/>
              <a:t>[6] S. Lessmann, B. Baesens, H.-V. Seow, and L. C. Thomas, "Benchmarking state-of-the-art classification algorithms for credit scoring: An update of research," European Journal of Operational Research, vol. 247, no. 1, pp. 124-136, 2015.</a:t>
            </a:r>
            <a:r>
              <a:rPr lang="en-US" sz="1000" dirty="0" err="1"/>
              <a:t/>
            </a:r>
            <a:r>
              <a:rPr lang="en-US" sz="1000" dirty="0"/>
              <a:t/>
            </a:r>
            <a:r>
              <a:rPr lang="en-US" sz="1000" dirty="0" err="1"/>
              <a:t/>
            </a:r>
            <a:r>
              <a:rPr lang="en-US" sz="1000" dirty="0"/>
              <a:t/>
            </a:r>
            <a:r>
              <a:rPr lang="en-US" sz="1000" dirty="0" err="1"/>
              <a:t/>
            </a:r>
            <a:r>
              <a:rPr lang="en-US" sz="1000" dirty="0"/>
              <a:t/>
            </a:r>
            <a:r>
              <a:rPr lang="en-US" sz="1000" dirty="0" err="1"/>
              <a:t/>
            </a:r>
            <a:r>
              <a:rPr lang="en-US" sz="1000" dirty="0"/>
              <a:t/>
            </a:r>
            <a:r>
              <a:rPr lang="en-US" sz="1000" i="1" dirty="0"/>
              <a:t/>
            </a:r>
            <a:r>
              <a:rPr lang="en-US" sz="1000" dirty="0"/>
              <a:t/>
            </a:r>
          </a:p>
          <a:p>
            <a:r>
              <a:rPr lang="en-US" sz="1000" dirty="0"/>
              <a:t/>
            </a:r>
            <a:br>
              <a:rPr lang="en-US" sz="1000" dirty="0"/>
            </a:br>
            <a:endParaRPr lang="en-US" sz="1000" dirty="0">
              <a:latin typeface="Times New Roman" panose="02020603050405020304" pitchFamily="18" charset="0"/>
              <a:cs typeface="Times New Roman" panose="02020603050405020304" pitchFamily="18" charset="0"/>
            </a:endParaRPr>
          </a:p>
        </p:txBody>
      </p:sp>
      <p:sp>
        <p:nvSpPr>
          <p:cNvPr id="25" name="Shape 23"/>
          <p:cNvSpPr/>
          <p:nvPr/>
        </p:nvSpPr>
        <p:spPr>
          <a:xfrm>
            <a:off x="502920" y="4956048"/>
            <a:ext cx="11185855" cy="475488"/>
          </a:xfrm>
          <a:prstGeom prst="roundRect">
            <a:avLst>
              <a:gd name="adj" fmla="val 9615"/>
            </a:avLst>
          </a:prstGeom>
          <a:solidFill>
            <a:srgbClr val="FFFFFF"/>
          </a:solidFill>
          <a:ln w="6350">
            <a:solidFill>
              <a:srgbClr val="D4E2DC"/>
            </a:solidFill>
            <a:prstDash val="solid"/>
          </a:ln>
        </p:spPr>
      </p:sp>
      <p:sp>
        <p:nvSpPr>
          <p:cNvPr id="26" name="Text 24"/>
          <p:cNvSpPr/>
          <p:nvPr/>
        </p:nvSpPr>
        <p:spPr>
          <a:xfrm>
            <a:off x="685800" y="4956048"/>
            <a:ext cx="10820095" cy="475488"/>
          </a:xfrm>
          <a:prstGeom prst="rect">
            <a:avLst/>
          </a:prstGeom>
          <a:noFill/>
          <a:ln/>
        </p:spPr>
        <p:txBody>
          <a:bodyPr wrap="square" lIns="0" tIns="0" rIns="0" bIns="0" rtlCol="0" anchor="ctr"/>
          <a:lstStyle/>
          <a:p>
            <a:r>
              <a:rPr lang="en-US" sz="1000" dirty="0"/>
              <a:t>[7] N. Siddiqi, Intelligent Credit Scoring: Building and Implementing Better Credit Risk Scorecards, 2nd ed. Hoboken, NJ, USA: Wiley, 2017.</a:t>
            </a:r>
            <a:r>
              <a:rPr lang="en-US" sz="1000" dirty="0" err="1"/>
              <a:t/>
            </a:r>
            <a:r>
              <a:rPr lang="en-US" sz="1000" dirty="0"/>
              <a:t/>
            </a:r>
            <a:r>
              <a:rPr lang="en-US" sz="1000" i="1" dirty="0"/>
              <a:t/>
            </a:r>
            <a:r>
              <a:rPr lang="en-US" sz="1000" dirty="0"/>
              <a:t/>
            </a:r>
            <a:r>
              <a:rPr lang="en-US" sz="1000" i="1" dirty="0"/>
              <a:t/>
            </a:r>
            <a:r>
              <a:rPr lang="en-US" sz="1000" dirty="0"/>
              <a:t/>
            </a:r>
          </a:p>
          <a:p>
            <a:r>
              <a:rPr lang="en-US" sz="1000" dirty="0"/>
              <a:t/>
            </a:r>
            <a:br>
              <a:rPr lang="en-US" sz="1000" dirty="0"/>
            </a:br>
            <a:endParaRPr lang="en-US" sz="1000" dirty="0">
              <a:latin typeface="Times New Roman" panose="02020603050405020304" pitchFamily="18" charset="0"/>
              <a:cs typeface="Times New Roman" panose="02020603050405020304" pitchFamily="18" charset="0"/>
            </a:endParaRPr>
          </a:p>
        </p:txBody>
      </p:sp>
      <p:sp>
        <p:nvSpPr>
          <p:cNvPr id="27" name="Shape 25"/>
          <p:cNvSpPr/>
          <p:nvPr/>
        </p:nvSpPr>
        <p:spPr>
          <a:xfrm>
            <a:off x="502920" y="5468112"/>
            <a:ext cx="11185855" cy="475488"/>
          </a:xfrm>
          <a:prstGeom prst="roundRect">
            <a:avLst>
              <a:gd name="adj" fmla="val 9615"/>
            </a:avLst>
          </a:prstGeom>
          <a:solidFill>
            <a:srgbClr val="E8F5F0"/>
          </a:solidFill>
          <a:ln w="6350">
            <a:solidFill>
              <a:srgbClr val="D4E2DC"/>
            </a:solidFill>
            <a:prstDash val="solid"/>
          </a:ln>
        </p:spPr>
      </p:sp>
      <p:sp>
        <p:nvSpPr>
          <p:cNvPr id="28" name="Text 26"/>
          <p:cNvSpPr/>
          <p:nvPr/>
        </p:nvSpPr>
        <p:spPr>
          <a:xfrm>
            <a:off x="685800" y="5468112"/>
            <a:ext cx="10820095" cy="475488"/>
          </a:xfrm>
          <a:prstGeom prst="rect">
            <a:avLst/>
          </a:prstGeom>
          <a:noFill/>
          <a:ln/>
        </p:spPr>
        <p:txBody>
          <a:bodyPr wrap="square" lIns="0" tIns="0" rIns="0" bIns="0" rtlCol="0" anchor="ctr"/>
          <a:lstStyle/>
          <a:p>
            <a:r>
              <a:rPr lang="en-US" sz="1000" dirty="0"/>
              <a:t>[8] T. Chen and C. Guestrin, "XGBoost: A scalable tree boosting system," in Proc. 22nd ACM SIGKDD Int. Conf. Knowledge Discovery and Data Mining, 2016, pp. 785-794.</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30" name="Text 28"/>
          <p:cNvSpPr/>
          <p:nvPr/>
        </p:nvSpPr>
        <p:spPr>
          <a:xfrm>
            <a:off x="685800" y="6016752"/>
            <a:ext cx="10820095" cy="365760"/>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Text 2"/>
          <p:cNvSpPr/>
          <p:nvPr/>
        </p:nvSpPr>
        <p:spPr>
          <a:xfrm>
            <a:off x="502920" y="859536"/>
            <a:ext cx="9144000" cy="256032"/>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3" name="Shape 3"/>
          <p:cNvSpPr/>
          <p:nvPr/>
        </p:nvSpPr>
        <p:spPr>
          <a:xfrm>
            <a:off x="502920" y="1298448"/>
            <a:ext cx="11185855" cy="0"/>
          </a:xfrm>
          <a:prstGeom prst="line">
            <a:avLst/>
          </a:prstGeom>
          <a:noFill/>
          <a:ln w="15240">
            <a:solidFill>
              <a:srgbClr val="C9A841"/>
            </a:solidFill>
            <a:prstDash val="solid"/>
          </a:ln>
        </p:spPr>
      </p:sp>
      <p:sp>
        <p:nvSpPr>
          <p:cNvPr id="4" name="Shape 4"/>
          <p:cNvSpPr/>
          <p:nvPr/>
        </p:nvSpPr>
        <p:spPr>
          <a:xfrm>
            <a:off x="457200" y="6400800"/>
            <a:ext cx="11277295" cy="0"/>
          </a:xfrm>
          <a:prstGeom prst="line">
            <a:avLst/>
          </a:prstGeom>
          <a:noFill/>
          <a:ln w="9525">
            <a:solidFill>
              <a:srgbClr val="D4E2DC"/>
            </a:solidFill>
            <a:prstDash val="solid"/>
          </a:ln>
        </p:spPr>
      </p:sp>
      <p:sp>
        <p:nvSpPr>
          <p:cNvPr id="6" name="Text 9"/>
          <p:cNvSpPr/>
          <p:nvPr/>
        </p:nvSpPr>
        <p:spPr>
          <a:xfrm>
            <a:off x="685800" y="1170432"/>
            <a:ext cx="10820095" cy="320040"/>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8" name="Shape 11"/>
          <p:cNvSpPr/>
          <p:nvPr/>
        </p:nvSpPr>
        <p:spPr>
          <a:xfrm>
            <a:off x="502920" y="1883664"/>
            <a:ext cx="11185855" cy="475488"/>
          </a:xfrm>
          <a:prstGeom prst="roundRect">
            <a:avLst>
              <a:gd name="adj" fmla="val 9615"/>
            </a:avLst>
          </a:prstGeom>
          <a:solidFill>
            <a:srgbClr val="FFFFFF"/>
          </a:solidFill>
          <a:ln w="6350">
            <a:solidFill>
              <a:srgbClr val="D4E2DC"/>
            </a:solidFill>
            <a:prstDash val="solid"/>
          </a:ln>
        </p:spPr>
      </p:sp>
      <p:sp>
        <p:nvSpPr>
          <p:cNvPr id="9" name="Text 12"/>
          <p:cNvSpPr/>
          <p:nvPr/>
        </p:nvSpPr>
        <p:spPr>
          <a:xfrm>
            <a:off x="685800" y="1883664"/>
            <a:ext cx="10820095" cy="475488"/>
          </a:xfrm>
          <a:prstGeom prst="rect">
            <a:avLst/>
          </a:prstGeom>
          <a:noFill/>
          <a:ln/>
        </p:spPr>
        <p:txBody>
          <a:bodyPr wrap="square" lIns="0" tIns="0" rIns="0" bIns="0" rtlCol="0" anchor="ctr"/>
          <a:lstStyle/>
          <a:p>
            <a:r>
              <a:rPr lang="en-US" sz="1000" dirty="0"/>
              <a:t>[9] Reserve Bank of India, "Guidelines on Digital Lending," RBI/2022-23/111 DOR.CRE.REC.66/21.07.001/2022-23, Mumbai, India, Sep. 2022.</a:t>
            </a:r>
            <a:r>
              <a:rPr lang="en-US" sz="1000" i="1" dirty="0"/>
              <a:t/>
            </a:r>
            <a:r>
              <a:rPr lang="en-US" sz="1000" dirty="0"/>
              <a:t/>
            </a:r>
            <a:r>
              <a:rPr lang="en-US" sz="1000" i="1" dirty="0"/>
              <a:t/>
            </a:r>
            <a:r>
              <a:rPr lang="en-US" sz="1000" dirty="0"/>
              <a:t/>
            </a:r>
          </a:p>
          <a:p>
            <a:r>
              <a:rPr lang="en-US" sz="1000" dirty="0"/>
              <a:t/>
            </a:r>
            <a:br>
              <a:rPr lang="en-US" sz="1000" dirty="0"/>
            </a:br>
            <a:endParaRPr lang="en-US" sz="1000" dirty="0">
              <a:latin typeface="Times New Roman" panose="02020603050405020304" pitchFamily="18" charset="0"/>
              <a:cs typeface="Times New Roman" panose="02020603050405020304" pitchFamily="18" charset="0"/>
            </a:endParaRPr>
          </a:p>
        </p:txBody>
      </p:sp>
      <p:sp>
        <p:nvSpPr>
          <p:cNvPr id="10" name="Shape 13"/>
          <p:cNvSpPr/>
          <p:nvPr/>
        </p:nvSpPr>
        <p:spPr>
          <a:xfrm>
            <a:off x="502920" y="2395728"/>
            <a:ext cx="11185855" cy="475488"/>
          </a:xfrm>
          <a:prstGeom prst="roundRect">
            <a:avLst>
              <a:gd name="adj" fmla="val 9615"/>
            </a:avLst>
          </a:prstGeom>
          <a:solidFill>
            <a:srgbClr val="E8F5F0"/>
          </a:solidFill>
          <a:ln w="6350">
            <a:solidFill>
              <a:srgbClr val="D4E2DC"/>
            </a:solidFill>
            <a:prstDash val="solid"/>
          </a:ln>
        </p:spPr>
      </p:sp>
      <p:sp>
        <p:nvSpPr>
          <p:cNvPr id="11" name="Text 14"/>
          <p:cNvSpPr/>
          <p:nvPr/>
        </p:nvSpPr>
        <p:spPr>
          <a:xfrm>
            <a:off x="685800" y="2395728"/>
            <a:ext cx="10820095" cy="475488"/>
          </a:xfrm>
          <a:prstGeom prst="rect">
            <a:avLst/>
          </a:prstGeom>
          <a:noFill/>
          <a:ln/>
        </p:spPr>
        <p:txBody>
          <a:bodyPr wrap="square" lIns="0" tIns="0" rIns="0" bIns="0" rtlCol="0" anchor="ctr"/>
          <a:lstStyle/>
          <a:p>
            <a:r>
              <a:rPr lang="en-US" sz="1000" dirty="0"/>
              <a:t>[10] Basel Committee on Banking Supervision, "Principles for the Management of Credit Risk," Bank for International Settlements (BIS), Basel, Switzerland, Tech. Rep., 2000.</a:t>
            </a:r>
            <a:r>
              <a:rPr lang="en-US" sz="1000" i="1" dirty="0"/>
              <a:t/>
            </a:r>
            <a:r>
              <a:rPr lang="en-US" sz="1000" dirty="0"/>
              <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12" name="Shape 15"/>
          <p:cNvSpPr/>
          <p:nvPr/>
        </p:nvSpPr>
        <p:spPr>
          <a:xfrm>
            <a:off x="502920" y="2907792"/>
            <a:ext cx="11185855" cy="475488"/>
          </a:xfrm>
          <a:prstGeom prst="roundRect">
            <a:avLst>
              <a:gd name="adj" fmla="val 9615"/>
            </a:avLst>
          </a:prstGeom>
          <a:solidFill>
            <a:srgbClr val="FFFFFF"/>
          </a:solidFill>
          <a:ln w="6350">
            <a:solidFill>
              <a:srgbClr val="D4E2DC"/>
            </a:solidFill>
            <a:prstDash val="solid"/>
          </a:ln>
        </p:spPr>
      </p:sp>
      <p:sp>
        <p:nvSpPr>
          <p:cNvPr id="13" name="Text 16"/>
          <p:cNvSpPr/>
          <p:nvPr/>
        </p:nvSpPr>
        <p:spPr>
          <a:xfrm>
            <a:off x="685800" y="2907792"/>
            <a:ext cx="10820095" cy="475488"/>
          </a:xfrm>
          <a:prstGeom prst="rect">
            <a:avLst/>
          </a:prstGeom>
          <a:noFill/>
          <a:ln/>
        </p:spPr>
        <p:txBody>
          <a:bodyPr wrap="square" lIns="0" tIns="0" rIns="0" bIns="0" rtlCol="0" anchor="ctr"/>
          <a:lstStyle/>
          <a:p>
            <a:r>
              <a:rPr lang="en-IN" sz="1000" dirty="0"/>
              <a:t>[11] L. Breiman, "Random forests," Machine Learning, vol. 45, no. 1, pp. 5-32, 2001.</a:t>
            </a:r>
            <a:r>
              <a:rPr lang="en-IN" sz="1000" i="1" dirty="0"/>
              <a:t/>
            </a:r>
            <a:r>
              <a:rPr lang="en-IN" sz="1000" dirty="0"/>
              <a:t/>
            </a:r>
            <a:r>
              <a:rPr lang="en-IN" sz="1000" i="1" dirty="0"/>
              <a:t/>
            </a:r>
            <a:r>
              <a:rPr lang="en-IN" sz="1000" i="1" dirty="0" err="1"/>
              <a:t/>
            </a:r>
            <a:r>
              <a:rPr lang="en-IN" sz="1000" dirty="0"/>
              <a:t/>
            </a:r>
          </a:p>
          <a:p>
            <a:r>
              <a:rPr lang="en-IN" sz="1000" dirty="0"/>
              <a:t/>
            </a:r>
            <a:br>
              <a:rPr lang="en-IN" sz="1000" dirty="0"/>
            </a:br>
            <a:endParaRPr lang="en-US" sz="1000" dirty="0">
              <a:latin typeface="Times New Roman" panose="02020603050405020304" pitchFamily="18" charset="0"/>
              <a:cs typeface="Times New Roman" panose="02020603050405020304" pitchFamily="18" charset="0"/>
            </a:endParaRPr>
          </a:p>
        </p:txBody>
      </p:sp>
      <p:sp>
        <p:nvSpPr>
          <p:cNvPr id="14" name="Shape 17"/>
          <p:cNvSpPr/>
          <p:nvPr/>
        </p:nvSpPr>
        <p:spPr>
          <a:xfrm>
            <a:off x="502920" y="3419856"/>
            <a:ext cx="11185855" cy="475488"/>
          </a:xfrm>
          <a:prstGeom prst="roundRect">
            <a:avLst>
              <a:gd name="adj" fmla="val 9615"/>
            </a:avLst>
          </a:prstGeom>
          <a:solidFill>
            <a:srgbClr val="E8F5F0"/>
          </a:solidFill>
          <a:ln w="6350">
            <a:solidFill>
              <a:srgbClr val="D4E2DC"/>
            </a:solidFill>
            <a:prstDash val="solid"/>
          </a:ln>
        </p:spPr>
      </p:sp>
      <p:sp>
        <p:nvSpPr>
          <p:cNvPr id="15" name="Text 18"/>
          <p:cNvSpPr/>
          <p:nvPr/>
        </p:nvSpPr>
        <p:spPr>
          <a:xfrm>
            <a:off x="685800" y="3419856"/>
            <a:ext cx="10820095" cy="475488"/>
          </a:xfrm>
          <a:prstGeom prst="rect">
            <a:avLst/>
          </a:prstGeom>
          <a:noFill/>
          <a:ln/>
        </p:spPr>
        <p:txBody>
          <a:bodyPr wrap="square" lIns="0" tIns="0" rIns="0" bIns="0" rtlCol="0" anchor="ctr"/>
          <a:lstStyle/>
          <a:p>
            <a:r>
              <a:rPr lang="en-US" sz="1000" dirty="0"/>
              <a:t>[12] J. H. Friedman, "Greedy function approximation: A gradient boosting machine," Annals of Statistics, vol. 29, no. 5, pp. 1189-1232, 2001.</a:t>
            </a:r>
            <a:r>
              <a:rPr lang="en-US" sz="1000" i="1" dirty="0"/>
              <a:t/>
            </a:r>
            <a:r>
              <a:rPr lang="en-US" sz="1000" dirty="0"/>
              <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16" name="Shape 19"/>
          <p:cNvSpPr/>
          <p:nvPr/>
        </p:nvSpPr>
        <p:spPr>
          <a:xfrm>
            <a:off x="502920" y="3931920"/>
            <a:ext cx="11185855" cy="475488"/>
          </a:xfrm>
          <a:prstGeom prst="roundRect">
            <a:avLst>
              <a:gd name="adj" fmla="val 9615"/>
            </a:avLst>
          </a:prstGeom>
          <a:solidFill>
            <a:srgbClr val="FFFFFF"/>
          </a:solidFill>
          <a:ln w="6350">
            <a:solidFill>
              <a:srgbClr val="D4E2DC"/>
            </a:solidFill>
            <a:prstDash val="solid"/>
          </a:ln>
        </p:spPr>
      </p:sp>
      <p:sp>
        <p:nvSpPr>
          <p:cNvPr id="17" name="Text 20"/>
          <p:cNvSpPr/>
          <p:nvPr/>
        </p:nvSpPr>
        <p:spPr>
          <a:xfrm>
            <a:off x="685800" y="3931920"/>
            <a:ext cx="10820095" cy="475488"/>
          </a:xfrm>
          <a:prstGeom prst="rect">
            <a:avLst/>
          </a:prstGeom>
          <a:noFill/>
          <a:ln/>
        </p:spPr>
        <p:txBody>
          <a:bodyPr wrap="square" lIns="0" tIns="0" rIns="0" bIns="0" rtlCol="0" anchor="ctr"/>
          <a:lstStyle/>
          <a:p>
            <a:r>
              <a:rPr lang="en-US" sz="1000" dirty="0"/>
              <a:t>[13] N. Bussmann, P. Giudici, D. Marinelli, and J. Papenbrock, "Explainable machine learning in credit risk management," Computational Economics, vol. 57, no. 1, pp. 203-216, 2021.</a:t>
            </a:r>
            <a:r>
              <a:rPr lang="en-US" sz="1000" i="1" dirty="0"/>
              <a:t/>
            </a:r>
            <a:r>
              <a:rPr lang="en-US" sz="1000" dirty="0"/>
              <a:t/>
            </a:r>
            <a:r>
              <a:rPr lang="en-US" sz="1000" i="1" dirty="0"/>
              <a:t/>
            </a:r>
            <a:r>
              <a:rPr lang="en-US" sz="1000" dirty="0"/>
              <a:t/>
            </a:r>
          </a:p>
          <a:p>
            <a:r>
              <a:rPr lang="en-US" sz="1000" dirty="0"/>
              <a:t/>
            </a:r>
            <a:br>
              <a:rPr lang="en-US" sz="1000" dirty="0"/>
            </a:br>
            <a:endParaRPr lang="en-IN" sz="1000" dirty="0">
              <a:latin typeface="Times New Roman" panose="02020603050405020304" pitchFamily="18" charset="0"/>
              <a:cs typeface="Times New Roman" panose="02020603050405020304" pitchFamily="18" charset="0"/>
            </a:endParaRPr>
          </a:p>
        </p:txBody>
      </p:sp>
      <p:sp>
        <p:nvSpPr>
          <p:cNvPr id="18" name="Shape 21"/>
          <p:cNvSpPr/>
          <p:nvPr/>
        </p:nvSpPr>
        <p:spPr>
          <a:xfrm>
            <a:off x="502920" y="4443984"/>
            <a:ext cx="11185855" cy="475488"/>
          </a:xfrm>
          <a:prstGeom prst="roundRect">
            <a:avLst>
              <a:gd name="adj" fmla="val 9615"/>
            </a:avLst>
          </a:prstGeom>
          <a:solidFill>
            <a:srgbClr val="E8F5F0"/>
          </a:solidFill>
          <a:ln w="6350">
            <a:solidFill>
              <a:srgbClr val="D4E2DC"/>
            </a:solidFill>
            <a:prstDash val="solid"/>
          </a:ln>
        </p:spPr>
      </p:sp>
      <p:sp>
        <p:nvSpPr>
          <p:cNvPr id="19" name="Text 22"/>
          <p:cNvSpPr/>
          <p:nvPr/>
        </p:nvSpPr>
        <p:spPr>
          <a:xfrm>
            <a:off x="685800" y="4443984"/>
            <a:ext cx="10820095" cy="475488"/>
          </a:xfrm>
          <a:prstGeom prst="rect">
            <a:avLst/>
          </a:prstGeom>
          <a:noFill/>
          <a:ln/>
        </p:spPr>
        <p:txBody>
          <a:bodyPr wrap="square" lIns="0" tIns="0" rIns="0" bIns="0" rtlCol="0" anchor="ctr"/>
          <a:lstStyle/>
          <a:p>
            <a:r>
              <a:rPr lang="en-US" sz="1000" dirty="0"/>
              <a:t>[14] M. Bucker, G. Szepannek, A. Gosiewska, and P. Biecek, "Transparency, auditability, and explainability of machine learning models in credit scoring," Journal of the Operational Research Society, vol. 73, no. 1, pp. 70-90, 2022.</a:t>
            </a:r>
            <a:r>
              <a:rPr lang="en-US" sz="1000" i="1" dirty="0"/>
              <a:t/>
            </a:r>
            <a:r>
              <a:rPr lang="en-US" sz="1000" dirty="0"/>
              <a:t/>
            </a:r>
            <a:r>
              <a:rPr lang="en-US" sz="1000" i="1" dirty="0"/>
              <a:t/>
            </a:r>
            <a:r>
              <a:rPr lang="en-US" sz="1000" dirty="0"/>
              <a:t/>
            </a:r>
          </a:p>
          <a:p>
            <a:r>
              <a:rPr lang="en-US" sz="1000" dirty="0"/>
              <a:t/>
            </a:r>
            <a:br>
              <a:rPr lang="en-US" sz="1000" dirty="0"/>
            </a:br>
            <a:endParaRPr lang="en-US" sz="1000" dirty="0">
              <a:latin typeface="Times New Roman" panose="02020603050405020304" pitchFamily="18" charset="0"/>
              <a:cs typeface="Times New Roman" panose="02020603050405020304" pitchFamily="18" charset="0"/>
            </a:endParaRPr>
          </a:p>
        </p:txBody>
      </p:sp>
      <p:sp>
        <p:nvSpPr>
          <p:cNvPr id="20" name="Shape 23"/>
          <p:cNvSpPr/>
          <p:nvPr/>
        </p:nvSpPr>
        <p:spPr>
          <a:xfrm>
            <a:off x="502920" y="4969521"/>
            <a:ext cx="11185855" cy="475488"/>
          </a:xfrm>
          <a:prstGeom prst="roundRect">
            <a:avLst>
              <a:gd name="adj" fmla="val 9615"/>
            </a:avLst>
          </a:prstGeom>
          <a:solidFill>
            <a:srgbClr val="FFFFFF"/>
          </a:solidFill>
          <a:ln w="6350">
            <a:solidFill>
              <a:srgbClr val="D4E2DC"/>
            </a:solidFill>
            <a:prstDash val="solid"/>
          </a:ln>
        </p:spPr>
        <p:txBody>
          <a:bodyPr/>
          <a:lstStyle/>
          <a:p>
            <a:r>
              <a:rPr lang="en-US" sz="1000" dirty="0" smtClean="0"/>
              <a:t>       </a:t>
            </a:r>
            <a:endParaRPr lang="en-IN" sz="1000" dirty="0"/>
          </a:p>
        </p:txBody>
      </p:sp>
      <p:sp>
        <p:nvSpPr>
          <p:cNvPr id="21" name="Text 24"/>
          <p:cNvSpPr/>
          <p:nvPr/>
        </p:nvSpPr>
        <p:spPr>
          <a:xfrm>
            <a:off x="685800" y="4956048"/>
            <a:ext cx="10820095" cy="475488"/>
          </a:xfrm>
          <a:prstGeom prst="rect">
            <a:avLst/>
          </a:prstGeom>
          <a:noFill/>
          <a:ln/>
        </p:spPr>
        <p:txBody>
          <a:bodyPr wrap="square" lIns="0" tIns="0" rIns="0" bIns="0" rtlCol="0" anchor="ctr"/>
          <a:lstStyle/>
          <a:p>
            <a:r>
              <a:rPr lang="en-US" sz="1000" dirty="0" smtClean="0">
                <a:latin typeface="Times New Roman" panose="02020603050405020304" pitchFamily="18" charset="0"/>
                <a:cs typeface="Times New Roman" panose="02020603050405020304" pitchFamily="18" charset="0"/>
              </a:rPr>
              <a:t>[15] V. Moscato, A. Picariello, and G. Sperli, "A benchmark of machine learning approaches for credit score prediction," Expert Systems with Applications, vol. 165, art. 113986, 2021.</a:t>
            </a:r>
            <a:r>
              <a:rPr lang="en-US" sz="1000" dirty="0" err="1" smtClean="0">
                <a:latin typeface="Times New Roman" panose="02020603050405020304" pitchFamily="18" charset="0"/>
                <a:cs typeface="Times New Roman" panose="02020603050405020304" pitchFamily="18" charset="0"/>
              </a:rPr>
              <a:t/>
            </a:r>
            <a:r>
              <a:rPr lang="en-US" sz="1000" dirty="0" smtClean="0">
                <a:latin typeface="Times New Roman" panose="02020603050405020304" pitchFamily="18" charset="0"/>
                <a:cs typeface="Times New Roman" panose="02020603050405020304" pitchFamily="18" charset="0"/>
              </a:rPr>
              <a:t/>
            </a:r>
            <a:r>
              <a:rPr lang="en-US" sz="1000" dirty="0" err="1" smtClean="0">
                <a:latin typeface="Times New Roman" panose="02020603050405020304" pitchFamily="18" charset="0"/>
                <a:cs typeface="Times New Roman" panose="02020603050405020304" pitchFamily="18" charset="0"/>
              </a:rPr>
              <a:t/>
            </a:r>
            <a:r>
              <a:rPr lang="en-US" sz="1000" dirty="0" smtClean="0">
                <a:latin typeface="Times New Roman" panose="02020603050405020304" pitchFamily="18" charset="0"/>
                <a:cs typeface="Times New Roman" panose="02020603050405020304" pitchFamily="18" charset="0"/>
              </a:rPr>
              <a:t/>
            </a:r>
            <a:endParaRPr lang="en-US" sz="1000" dirty="0">
              <a:latin typeface="Times New Roman" panose="02020603050405020304" pitchFamily="18" charset="0"/>
              <a:cs typeface="Times New Roman" panose="02020603050405020304" pitchFamily="18" charset="0"/>
            </a:endParaRPr>
          </a:p>
        </p:txBody>
      </p:sp>
      <p:sp>
        <p:nvSpPr>
          <p:cNvPr id="23" name="Text 26"/>
          <p:cNvSpPr/>
          <p:nvPr/>
        </p:nvSpPr>
        <p:spPr>
          <a:xfrm>
            <a:off x="685800" y="5468112"/>
            <a:ext cx="10820095" cy="475488"/>
          </a:xfrm>
          <a:prstGeom prst="rect">
            <a:avLst/>
          </a:prstGeom>
          <a:noFill/>
          <a:ln/>
        </p:spPr>
        <p:txBody>
          <a:bodyPr wrap="square" lIns="0" tIns="0" rIns="0" bIns="0" rtlCol="0" anchor="ctr"/>
          <a:lstStyle/>
          <a:p>
            <a:endParaRPr lang="en-IN" sz="1000" dirty="0">
              <a:latin typeface="Times New Roman" panose="02020603050405020304" pitchFamily="18" charset="0"/>
              <a:cs typeface="Times New Roman" panose="02020603050405020304" pitchFamily="18" charset="0"/>
            </a:endParaRPr>
          </a:p>
        </p:txBody>
      </p:sp>
      <p:sp>
        <p:nvSpPr>
          <p:cNvPr id="25" name="Text 28"/>
          <p:cNvSpPr/>
          <p:nvPr/>
        </p:nvSpPr>
        <p:spPr>
          <a:xfrm>
            <a:off x="685800" y="6016752"/>
            <a:ext cx="10820095" cy="365760"/>
          </a:xfrm>
          <a:prstGeom prst="rect">
            <a:avLst/>
          </a:prstGeom>
          <a:noFill/>
          <a:ln/>
        </p:spPr>
        <p:txBody>
          <a:bodyPr wrap="square" lIns="0" tIns="0" rIns="0" bIns="0" rtlCol="0" anchor="ctr"/>
          <a:lstStyle/>
          <a:p>
            <a:pPr marL="0" indent="0">
              <a:buNone/>
            </a:pPr>
            <a:endParaRPr lang="en-US" sz="1000" dirty="0">
              <a:latin typeface="Times New Roman" panose="02020603050405020304" pitchFamily="18" charset="0"/>
              <a:cs typeface="Times New Roman" panose="02020603050405020304" pitchFamily="18" charset="0"/>
            </a:endParaRPr>
          </a:p>
        </p:txBody>
      </p:sp>
      <p:sp>
        <p:nvSpPr>
          <p:cNvPr id="26" name="Shape 0"/>
          <p:cNvSpPr/>
          <p:nvPr/>
        </p:nvSpPr>
        <p:spPr>
          <a:xfrm>
            <a:off x="0" y="0"/>
            <a:ext cx="12191695" cy="164592"/>
          </a:xfrm>
          <a:prstGeom prst="rect">
            <a:avLst/>
          </a:prstGeom>
          <a:solidFill>
            <a:srgbClr val="C9A841"/>
          </a:solidFill>
          <a:ln/>
        </p:spPr>
      </p:sp>
      <p:sp>
        <p:nvSpPr>
          <p:cNvPr id="27" name="Rectangle 26"/>
          <p:cNvSpPr/>
          <p:nvPr/>
        </p:nvSpPr>
        <p:spPr>
          <a:xfrm>
            <a:off x="443011" y="680222"/>
            <a:ext cx="6564761" cy="523220"/>
          </a:xfrm>
          <a:prstGeom prst="rect">
            <a:avLst/>
          </a:prstGeom>
        </p:spPr>
        <p:txBody>
          <a:bodyPr wrap="square">
            <a:spAutoFit/>
          </a:bodyPr>
          <a:lstStyle/>
          <a:p>
            <a:r>
              <a:rPr lang="en-US" sz="2800" b="1" dirty="0" smtClean="0">
                <a:solidFill>
                  <a:srgbClr val="1F4A3A"/>
                </a:solidFill>
                <a:latin typeface="Times New Roman" panose="02020603050405020304" pitchFamily="18" charset="0"/>
                <a:ea typeface="Cambria" pitchFamily="34" charset="-122"/>
                <a:cs typeface="Times New Roman" panose="02020603050405020304" pitchFamily="18" charset="0"/>
              </a:rPr>
              <a:t>REFERENCES </a:t>
            </a:r>
            <a:r>
              <a:rPr lang="en-US" sz="2800" b="1" dirty="0" smtClean="0">
                <a:solidFill>
                  <a:srgbClr val="1F4A3A"/>
                </a:solidFill>
                <a:latin typeface="Cambria" pitchFamily="34" charset="0"/>
                <a:ea typeface="Cambria" pitchFamily="34" charset="-122"/>
                <a:cs typeface="Cambria" pitchFamily="34" charset="-120"/>
              </a:rPr>
              <a:t>(</a:t>
            </a:r>
            <a:r>
              <a:rPr lang="en-US" sz="2800" b="1" dirty="0">
                <a:solidFill>
                  <a:srgbClr val="1F4A3A"/>
                </a:solidFill>
                <a:latin typeface="Cambria" pitchFamily="34" charset="0"/>
                <a:ea typeface="Cambria" pitchFamily="34" charset="-122"/>
                <a:cs typeface="Cambria" pitchFamily="34" charset="-120"/>
              </a:rPr>
              <a:t>CONT.)</a:t>
            </a:r>
            <a:endParaRPr lang="en-US" sz="2800" dirty="0"/>
          </a:p>
        </p:txBody>
      </p:sp>
      <p:sp>
        <p:nvSpPr>
          <p:cNvPr id="28" name="Text 5"/>
          <p:cNvSpPr/>
          <p:nvPr/>
        </p:nvSpPr>
        <p:spPr>
          <a:xfrm>
            <a:off x="457200" y="6455664"/>
            <a:ext cx="2926080" cy="274320"/>
          </a:xfrm>
          <a:prstGeom prst="rect">
            <a:avLst/>
          </a:prstGeom>
          <a:noFill/>
          <a:ln/>
        </p:spPr>
        <p:txBody>
          <a:bodyPr wrap="square" lIns="0" tIns="0" rIns="0" bIns="0" rtlCol="0" anchor="ctr"/>
          <a:lstStyle/>
          <a:p>
            <a:r>
              <a:rPr lang="en-US" sz="1000" dirty="0">
                <a:solidFill>
                  <a:srgbClr val="6B7B73"/>
                </a:solidFill>
                <a:latin typeface="Calibri" pitchFamily="34" charset="0"/>
                <a:ea typeface="Calibri" pitchFamily="34" charset="-122"/>
                <a:cs typeface="Calibri" pitchFamily="34" charset="-120"/>
              </a:rPr>
              <a:t>14/10/2026</a:t>
            </a:r>
            <a:endParaRPr lang="en-US" sz="1000" dirty="0"/>
          </a:p>
          <a:p>
            <a:endParaRPr lang="en-US" sz="1000" dirty="0"/>
          </a:p>
        </p:txBody>
      </p:sp>
      <p:sp>
        <p:nvSpPr>
          <p:cNvPr id="29" name="Text 6"/>
          <p:cNvSpPr/>
          <p:nvPr/>
        </p:nvSpPr>
        <p:spPr>
          <a:xfrm>
            <a:off x="3474720" y="6455664"/>
            <a:ext cx="5239512" cy="274320"/>
          </a:xfrm>
          <a:prstGeom prst="rect">
            <a:avLst/>
          </a:prstGeom>
          <a:noFill/>
          <a:ln/>
        </p:spPr>
        <p:txBody>
          <a:bodyPr wrap="square" lIns="0" tIns="0" rIns="0" bIns="0" rtlCol="0" anchor="ctr"/>
          <a:lstStyle/>
          <a:p>
            <a:pPr algn="ctr"/>
            <a:r>
              <a:rPr lang="en-US" sz="10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1000" dirty="0"/>
          </a:p>
        </p:txBody>
      </p:sp>
      <p:sp>
        <p:nvSpPr>
          <p:cNvPr id="30" name="Text 7"/>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1000" b="1" dirty="0" smtClean="0">
                <a:solidFill>
                  <a:srgbClr val="1F4A3A"/>
                </a:solidFill>
                <a:latin typeface="Times New Roman" panose="02020603050405020304" pitchFamily="18" charset="0"/>
                <a:ea typeface="Calibri" pitchFamily="34" charset="-122"/>
                <a:cs typeface="Times New Roman" panose="02020603050405020304" pitchFamily="18" charset="0"/>
              </a:rPr>
              <a:t>11</a:t>
            </a:r>
            <a:endParaRPr lang="en-US" sz="1000" dirty="0">
              <a:latin typeface="Times New Roman" panose="02020603050405020304" pitchFamily="18" charset="0"/>
              <a:cs typeface="Times New Roman" panose="02020603050405020304" pitchFamily="18" charset="0"/>
            </a:endParaRPr>
          </a:p>
        </p:txBody>
      </p:sp>
    </p:spTree>
    <p:extLst>
      <p:ext uri="{BB962C8B-B14F-4D97-AF65-F5344CB8AC3E}">
        <ns2:creationId val="1773106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p="http://schemas.openxmlformats.org/presentationml/2006/main" xmlns:r="http://schemas.openxmlformats.org/officeDocument/2006/relationships">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C9A841"/>
          </a:solidFill>
          <a:ln/>
        </p:spPr>
      </p:sp>
      <p:pic>
        <p:nvPicPr>
          <p:cNvPr id="3" name="Image 0" descr="SRIT__logo.png"/>
          <p:cNvPicPr>
            <a:picLocks noChangeAspect="1"/>
          </p:cNvPicPr>
          <p:nvPr/>
        </p:nvPicPr>
        <p:blipFill>
          <a:blip r:embed="rId3"/>
          <a:stretch>
            <a:fillRect/>
          </a:stretch>
        </p:blipFill>
        <p:spPr>
          <a:xfrm>
            <a:off x="4998568" y="1325880"/>
            <a:ext cx="822960" cy="822960"/>
          </a:xfrm>
          <a:prstGeom prst="rect">
            <a:avLst/>
          </a:prstGeom>
        </p:spPr>
      </p:pic>
      <p:pic>
        <p:nvPicPr>
          <p:cNvPr id="4" name="Image 1" descr="SNR_tRUST_logo.png"/>
          <p:cNvPicPr>
            <a:picLocks noChangeAspect="1"/>
          </p:cNvPicPr>
          <p:nvPr/>
        </p:nvPicPr>
        <p:blipFill>
          <a:blip r:embed="rId4"/>
          <a:stretch>
            <a:fillRect/>
          </a:stretch>
        </p:blipFill>
        <p:spPr>
          <a:xfrm>
            <a:off x="6370168" y="1325880"/>
            <a:ext cx="822960" cy="822960"/>
          </a:xfrm>
          <a:prstGeom prst="rect">
            <a:avLst/>
          </a:prstGeom>
        </p:spPr>
      </p:pic>
      <p:sp>
        <p:nvSpPr>
          <p:cNvPr id="5" name="Shape 1"/>
          <p:cNvSpPr/>
          <p:nvPr/>
        </p:nvSpPr>
        <p:spPr>
          <a:xfrm>
            <a:off x="5986120" y="1024128"/>
            <a:ext cx="128016" cy="128016"/>
          </a:xfrm>
          <a:prstGeom prst="ellipse">
            <a:avLst/>
          </a:prstGeom>
          <a:solidFill>
            <a:srgbClr val="C9A841"/>
          </a:solidFill>
          <a:ln/>
        </p:spPr>
      </p:sp>
      <p:sp>
        <p:nvSpPr>
          <p:cNvPr id="6" name="Shape 2"/>
          <p:cNvSpPr/>
          <p:nvPr/>
        </p:nvSpPr>
        <p:spPr>
          <a:xfrm>
            <a:off x="6132424" y="1024128"/>
            <a:ext cx="128016" cy="128016"/>
          </a:xfrm>
          <a:prstGeom prst="ellipse">
            <a:avLst/>
          </a:prstGeom>
          <a:solidFill>
            <a:srgbClr val="C9A841"/>
          </a:solidFill>
          <a:ln/>
        </p:spPr>
      </p:sp>
      <p:sp>
        <p:nvSpPr>
          <p:cNvPr id="7" name="Shape 3"/>
          <p:cNvSpPr/>
          <p:nvPr/>
        </p:nvSpPr>
        <p:spPr>
          <a:xfrm>
            <a:off x="6059272" y="896112"/>
            <a:ext cx="128016" cy="128016"/>
          </a:xfrm>
          <a:prstGeom prst="ellipse">
            <a:avLst/>
          </a:prstGeom>
          <a:solidFill>
            <a:srgbClr val="C9A841"/>
          </a:solidFill>
          <a:ln/>
        </p:spPr>
      </p:sp>
      <p:sp>
        <p:nvSpPr>
          <p:cNvPr id="8" name="Shape 4"/>
          <p:cNvSpPr/>
          <p:nvPr/>
        </p:nvSpPr>
        <p:spPr>
          <a:xfrm>
            <a:off x="6059272" y="1152144"/>
            <a:ext cx="128016" cy="128016"/>
          </a:xfrm>
          <a:prstGeom prst="ellipse">
            <a:avLst/>
          </a:prstGeom>
          <a:solidFill>
            <a:srgbClr val="C9A841"/>
          </a:solidFill>
          <a:ln/>
        </p:spPr>
      </p:sp>
      <p:sp>
        <p:nvSpPr>
          <p:cNvPr id="9" name="Text 5"/>
          <p:cNvSpPr/>
          <p:nvPr/>
        </p:nvSpPr>
        <p:spPr>
          <a:xfrm>
            <a:off x="0" y="2395728"/>
            <a:ext cx="12191695" cy="914400"/>
          </a:xfrm>
          <a:prstGeom prst="rect">
            <a:avLst/>
          </a:prstGeom>
          <a:noFill/>
          <a:ln/>
        </p:spPr>
        <p:txBody>
          <a:bodyPr wrap="square" lIns="0" tIns="0" rIns="0" bIns="0" rtlCol="0" anchor="ctr"/>
          <a:lstStyle/>
          <a:p>
            <a:pPr marL="0" indent="0" algn="ctr">
              <a:buNone/>
            </a:pPr>
            <a:r>
              <a:rPr lang="en-US" sz="4800" b="1" kern="0" spc="300" dirty="0">
                <a:solidFill>
                  <a:srgbClr val="1F4A3A"/>
                </a:solidFill>
                <a:latin typeface="Cambria" pitchFamily="34" charset="0"/>
                <a:ea typeface="Cambria" pitchFamily="34" charset="-122"/>
                <a:cs typeface="Cambria" pitchFamily="34" charset="-120"/>
              </a:rPr>
              <a:t>THANK YOU</a:t>
            </a:r>
            <a:endParaRPr lang="en-US" sz="4800" dirty="0"/>
          </a:p>
        </p:txBody>
      </p:sp>
      <p:sp>
        <p:nvSpPr>
          <p:cNvPr id="10" name="Text 6"/>
          <p:cNvSpPr/>
          <p:nvPr/>
        </p:nvSpPr>
        <p:spPr>
          <a:xfrm>
            <a:off x="0" y="3337560"/>
            <a:ext cx="12191695" cy="457200"/>
          </a:xfrm>
          <a:prstGeom prst="rect">
            <a:avLst/>
          </a:prstGeom>
          <a:noFill/>
          <a:ln/>
        </p:spPr>
        <p:txBody>
          <a:bodyPr wrap="square" lIns="0" tIns="0" rIns="0" bIns="0" rtlCol="0" anchor="ctr"/>
          <a:lstStyle/>
          <a:p>
            <a:pPr marL="0" indent="0" algn="ctr">
              <a:buNone/>
            </a:pPr>
            <a:r>
              <a:rPr lang="en-US" sz="1400" i="1" dirty="0">
                <a:solidFill>
                  <a:srgbClr val="C9A841"/>
                </a:solidFill>
                <a:latin typeface="Calibri" pitchFamily="34" charset="0"/>
                <a:ea typeface="Calibri" pitchFamily="34" charset="-122"/>
                <a:cs typeface="Calibri" pitchFamily="34" charset="-120"/>
              </a:rPr>
              <a:t>Questions, Comments &amp; Suggestions are Welcome</a:t>
            </a:r>
            <a:endParaRPr lang="en-US" sz="1400" dirty="0"/>
          </a:p>
        </p:txBody>
      </p:sp>
      <p:sp>
        <p:nvSpPr>
          <p:cNvPr id="13" name="Shape 9"/>
          <p:cNvSpPr/>
          <p:nvPr/>
        </p:nvSpPr>
        <p:spPr>
          <a:xfrm>
            <a:off x="457200" y="6400800"/>
            <a:ext cx="11277295" cy="0"/>
          </a:xfrm>
          <a:prstGeom prst="line">
            <a:avLst/>
          </a:prstGeom>
          <a:noFill/>
          <a:ln w="9525">
            <a:solidFill>
              <a:srgbClr val="D4E2DC"/>
            </a:solidFill>
            <a:prstDash val="solid"/>
          </a:ln>
        </p:spPr>
      </p:sp>
      <p:sp>
        <p:nvSpPr>
          <p:cNvPr id="14" name="Text 10"/>
          <p:cNvSpPr/>
          <p:nvPr/>
        </p:nvSpPr>
        <p:spPr>
          <a:xfrm>
            <a:off x="457200" y="6455664"/>
            <a:ext cx="2926080" cy="274320"/>
          </a:xfrm>
          <a:prstGeom prst="rect">
            <a:avLst/>
          </a:prstGeom>
          <a:noFill/>
          <a:ln/>
        </p:spPr>
        <p:txBody>
          <a:bodyPr wrap="square" lIns="0" tIns="0" rIns="0" bIns="0" rtlCol="0" anchor="ctr"/>
          <a:lstStyle/>
          <a:p>
            <a:r>
              <a:rPr lang="en-US" sz="900" dirty="0">
                <a:solidFill>
                  <a:srgbClr val="6B7B73"/>
                </a:solidFill>
                <a:latin typeface="Calibri" pitchFamily="34" charset="0"/>
                <a:ea typeface="Calibri" pitchFamily="34" charset="-122"/>
                <a:cs typeface="Calibri" pitchFamily="34" charset="-120"/>
              </a:rPr>
              <a:t>14/10/2026</a:t>
            </a:r>
            <a:endParaRPr lang="en-US" sz="900" dirty="0"/>
          </a:p>
          <a:p>
            <a:endParaRPr lang="en-US" sz="900" dirty="0"/>
          </a:p>
        </p:txBody>
      </p:sp>
      <p:sp>
        <p:nvSpPr>
          <p:cNvPr id="15" name="Text 11"/>
          <p:cNvSpPr/>
          <p:nvPr/>
        </p:nvSpPr>
        <p:spPr>
          <a:xfrm>
            <a:off x="3474720" y="6455664"/>
            <a:ext cx="5239512" cy="274320"/>
          </a:xfrm>
          <a:prstGeom prst="rect">
            <a:avLst/>
          </a:prstGeom>
          <a:noFill/>
          <a:ln/>
        </p:spPr>
        <p:txBody>
          <a:bodyPr wrap="square" lIns="0" tIns="0" rIns="0" bIns="0" rtlCol="0" anchor="ctr"/>
          <a:lstStyle/>
          <a:p>
            <a:pPr algn="ctr"/>
            <a:r>
              <a:rPr lang="en-US" sz="900" i="1" dirty="0">
                <a:solidFill>
                  <a:srgbClr val="6B7B73"/>
                </a:solidFill>
                <a:latin typeface="Calibri" pitchFamily="34" charset="0"/>
                <a:ea typeface="Calibri" pitchFamily="34" charset="-122"/>
                <a:cs typeface="Calibri" pitchFamily="34" charset="-120"/>
              </a:rPr>
              <a:t>An Intelligent Banking Solution for Loan Eligibility Prediction</a:t>
            </a:r>
            <a:endParaRPr lang="en-US" sz="900" dirty="0"/>
          </a:p>
        </p:txBody>
      </p:sp>
      <p:sp>
        <p:nvSpPr>
          <p:cNvPr id="16" name="Text 12"/>
          <p:cNvSpPr/>
          <p:nvPr/>
        </p:nvSpPr>
        <p:spPr>
          <a:xfrm>
            <a:off x="11277295" y="6455664"/>
            <a:ext cx="457200" cy="274320"/>
          </a:xfrm>
          <a:prstGeom prst="rect">
            <a:avLst/>
          </a:prstGeom>
          <a:noFill/>
          <a:ln/>
        </p:spPr>
        <p:txBody>
          <a:bodyPr wrap="square" lIns="0" tIns="0" rIns="0" bIns="0" rtlCol="0" anchor="ctr"/>
          <a:lstStyle/>
          <a:p>
            <a:pPr marL="0" indent="0" algn="r">
              <a:buNone/>
            </a:pPr>
            <a:r>
              <a:rPr lang="en-US" sz="900" b="1" dirty="0" smtClean="0">
                <a:solidFill>
                  <a:srgbClr val="1F4A3A"/>
                </a:solidFill>
                <a:latin typeface="Calibri" pitchFamily="34" charset="0"/>
                <a:ea typeface="Calibri" pitchFamily="34" charset="-122"/>
                <a:cs typeface="Calibri" pitchFamily="34" charset="-120"/>
              </a:rPr>
              <a:t>12</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227</TotalTime>
  <Words>1521</Words>
  <Application>Microsoft Office PowerPoint</Application>
  <PresentationFormat>Widescreen</PresentationFormat>
  <Paragraphs>173</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 Zeroth Review Template</dc:title>
  <dc:subject>PptxGenJS Presentation</dc:subject>
  <dc:creator>SRIT - Department of CSE</dc:creator>
  <cp:lastModifiedBy>91956</cp:lastModifiedBy>
  <cp:revision>26</cp:revision>
  <dcterms:created xsi:type="dcterms:W3CDTF">2026-07-09T08:08:57Z</dcterms:created>
  <dcterms:modified xsi:type="dcterms:W3CDTF">2026-10-05T14:51:05Z</dcterms:modified>
</cp:coreProperties>
</file>