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8" r:id="rId13"/>
    <p:sldId id="269" r:id="rId14"/>
    <p:sldId id="270" r:id="rId15"/>
    <p:sldId id="271" r:id="rId16"/>
    <p:sldId id="272" r:id="rId17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862B558-5D5F-4539-9109-80A3D1164470}" v="31" dt="2026-10-30T04:02:23.445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114" d="100"/>
          <a:sy n="114" d="100"/>
        </p:scale>
        <p:origin x="438" y="108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microsoft.com/office/2015/10/relationships/revisionInfo" Target="revisionInfo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12189460" cy="274320"/>
          </a:xfrm>
          <a:custGeom>
            <a:avLst/>
            <a:gdLst/>
            <a:ahLst/>
            <a:cxnLst/>
            <a:rect l="l" t="t" r="r" b="b"/>
            <a:pathLst>
              <a:path w="12189460" h="274320">
                <a:moveTo>
                  <a:pt x="12188952" y="0"/>
                </a:moveTo>
                <a:lnTo>
                  <a:pt x="0" y="0"/>
                </a:lnTo>
                <a:lnTo>
                  <a:pt x="0" y="274320"/>
                </a:lnTo>
                <a:lnTo>
                  <a:pt x="12188952" y="274320"/>
                </a:lnTo>
                <a:lnTo>
                  <a:pt x="12188952" y="0"/>
                </a:lnTo>
                <a:close/>
              </a:path>
            </a:pathLst>
          </a:custGeom>
          <a:solidFill>
            <a:srgbClr val="C8A83E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502919" y="6400800"/>
            <a:ext cx="11183620" cy="0"/>
          </a:xfrm>
          <a:custGeom>
            <a:avLst/>
            <a:gdLst/>
            <a:ahLst/>
            <a:cxnLst/>
            <a:rect l="l" t="t" r="r" b="b"/>
            <a:pathLst>
              <a:path w="11183620">
                <a:moveTo>
                  <a:pt x="0" y="0"/>
                </a:moveTo>
                <a:lnTo>
                  <a:pt x="11183112" y="0"/>
                </a:lnTo>
              </a:path>
            </a:pathLst>
          </a:custGeom>
          <a:ln w="9144">
            <a:solidFill>
              <a:srgbClr val="BED7CA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8" name="bg object 1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138928" y="1417319"/>
            <a:ext cx="566927" cy="749808"/>
          </a:xfrm>
          <a:prstGeom prst="rect">
            <a:avLst/>
          </a:prstGeom>
        </p:spPr>
      </p:pic>
      <p:pic>
        <p:nvPicPr>
          <p:cNvPr id="19" name="bg object 19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400800" y="1417319"/>
            <a:ext cx="585216" cy="749808"/>
          </a:xfrm>
          <a:prstGeom prst="rect">
            <a:avLst/>
          </a:prstGeom>
        </p:spPr>
      </p:pic>
      <p:pic>
        <p:nvPicPr>
          <p:cNvPr id="20" name="bg object 20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5800344" y="816863"/>
            <a:ext cx="432816" cy="313944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4140834" y="2679014"/>
            <a:ext cx="3865245" cy="788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800" b="1" i="0">
                <a:solidFill>
                  <a:srgbClr val="1F4D39"/>
                </a:solidFill>
                <a:latin typeface="Cambria"/>
                <a:cs typeface="Cambri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850" b="0" i="1">
                <a:solidFill>
                  <a:srgbClr val="6B6B6B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910"/>
              </a:lnSpc>
            </a:pPr>
            <a:r>
              <a:rPr spc="-10" dirty="0"/>
              <a:t>Real-</a:t>
            </a:r>
            <a:r>
              <a:rPr dirty="0"/>
              <a:t>Time</a:t>
            </a:r>
            <a:r>
              <a:rPr spc="-35" dirty="0"/>
              <a:t> </a:t>
            </a:r>
            <a:r>
              <a:rPr spc="-10" dirty="0"/>
              <a:t>Multi-</a:t>
            </a:r>
            <a:r>
              <a:rPr dirty="0"/>
              <a:t>Camera</a:t>
            </a:r>
            <a:r>
              <a:rPr spc="-15" dirty="0"/>
              <a:t> </a:t>
            </a:r>
            <a:r>
              <a:rPr dirty="0"/>
              <a:t>People</a:t>
            </a:r>
            <a:r>
              <a:rPr spc="-30" dirty="0"/>
              <a:t> </a:t>
            </a:r>
            <a:r>
              <a:rPr dirty="0"/>
              <a:t>Counting,</a:t>
            </a:r>
            <a:r>
              <a:rPr spc="-20" dirty="0"/>
              <a:t> </a:t>
            </a:r>
            <a:r>
              <a:rPr dirty="0"/>
              <a:t>Tracking</a:t>
            </a:r>
            <a:r>
              <a:rPr spc="-40" dirty="0"/>
              <a:t> </a:t>
            </a:r>
            <a:r>
              <a:rPr dirty="0"/>
              <a:t>and</a:t>
            </a:r>
            <a:r>
              <a:rPr spc="-25" dirty="0"/>
              <a:t> </a:t>
            </a:r>
            <a:r>
              <a:rPr dirty="0"/>
              <a:t>Crowd</a:t>
            </a:r>
            <a:r>
              <a:rPr spc="-5" dirty="0"/>
              <a:t> </a:t>
            </a:r>
            <a:r>
              <a:rPr dirty="0"/>
              <a:t>Monitoring </a:t>
            </a:r>
            <a:r>
              <a:rPr spc="-10" dirty="0"/>
              <a:t>System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850" b="0" i="0">
                <a:solidFill>
                  <a:srgbClr val="6B6B6B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910"/>
              </a:lnSpc>
            </a:pPr>
            <a:r>
              <a:rPr spc="-10" dirty="0"/>
              <a:t>[13/10/2026]</a:t>
            </a: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900" b="1" i="0">
                <a:solidFill>
                  <a:srgbClr val="1A1A1A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955"/>
              </a:lnSpc>
            </a:pPr>
            <a:fld id="{81D60167-4931-47E6-BA6A-407CBD079E47}" type="slidenum">
              <a:rPr spc="-25" dirty="0"/>
              <a:t>‹#›</a:t>
            </a:fld>
            <a:endParaRPr spc="-25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800" b="1" i="0">
                <a:solidFill>
                  <a:srgbClr val="1F4D39"/>
                </a:solidFill>
                <a:latin typeface="Cambria"/>
                <a:cs typeface="Cambri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850" b="0" i="1">
                <a:solidFill>
                  <a:srgbClr val="6B6B6B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910"/>
              </a:lnSpc>
            </a:pPr>
            <a:r>
              <a:rPr spc="-10" dirty="0"/>
              <a:t>Real-</a:t>
            </a:r>
            <a:r>
              <a:rPr dirty="0"/>
              <a:t>Time</a:t>
            </a:r>
            <a:r>
              <a:rPr spc="-35" dirty="0"/>
              <a:t> </a:t>
            </a:r>
            <a:r>
              <a:rPr spc="-10" dirty="0"/>
              <a:t>Multi-</a:t>
            </a:r>
            <a:r>
              <a:rPr dirty="0"/>
              <a:t>Camera</a:t>
            </a:r>
            <a:r>
              <a:rPr spc="-15" dirty="0"/>
              <a:t> </a:t>
            </a:r>
            <a:r>
              <a:rPr dirty="0"/>
              <a:t>People</a:t>
            </a:r>
            <a:r>
              <a:rPr spc="-30" dirty="0"/>
              <a:t> </a:t>
            </a:r>
            <a:r>
              <a:rPr dirty="0"/>
              <a:t>Counting,</a:t>
            </a:r>
            <a:r>
              <a:rPr spc="-20" dirty="0"/>
              <a:t> </a:t>
            </a:r>
            <a:r>
              <a:rPr dirty="0"/>
              <a:t>Tracking</a:t>
            </a:r>
            <a:r>
              <a:rPr spc="-40" dirty="0"/>
              <a:t> </a:t>
            </a:r>
            <a:r>
              <a:rPr dirty="0"/>
              <a:t>and</a:t>
            </a:r>
            <a:r>
              <a:rPr spc="-25" dirty="0"/>
              <a:t> </a:t>
            </a:r>
            <a:r>
              <a:rPr dirty="0"/>
              <a:t>Crowd</a:t>
            </a:r>
            <a:r>
              <a:rPr spc="-5" dirty="0"/>
              <a:t> </a:t>
            </a:r>
            <a:r>
              <a:rPr dirty="0"/>
              <a:t>Monitoring </a:t>
            </a:r>
            <a:r>
              <a:rPr spc="-10" dirty="0"/>
              <a:t>System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850" b="0" i="0">
                <a:solidFill>
                  <a:srgbClr val="6B6B6B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910"/>
              </a:lnSpc>
            </a:pPr>
            <a:r>
              <a:rPr spc="-10" dirty="0"/>
              <a:t>[13/10/2026]</a:t>
            </a: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900" b="1" i="0">
                <a:solidFill>
                  <a:srgbClr val="1A1A1A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955"/>
              </a:lnSpc>
            </a:pPr>
            <a:fld id="{81D60167-4931-47E6-BA6A-407CBD079E47}" type="slidenum">
              <a:rPr spc="-25" dirty="0"/>
              <a:t>‹#›</a:t>
            </a:fld>
            <a:endParaRPr spc="-25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800" b="1" i="0">
                <a:solidFill>
                  <a:srgbClr val="1F4D39"/>
                </a:solidFill>
                <a:latin typeface="Cambria"/>
                <a:cs typeface="Cambri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850" b="0" i="1">
                <a:solidFill>
                  <a:srgbClr val="6B6B6B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910"/>
              </a:lnSpc>
            </a:pPr>
            <a:r>
              <a:rPr spc="-10" dirty="0"/>
              <a:t>Real-</a:t>
            </a:r>
            <a:r>
              <a:rPr dirty="0"/>
              <a:t>Time</a:t>
            </a:r>
            <a:r>
              <a:rPr spc="-35" dirty="0"/>
              <a:t> </a:t>
            </a:r>
            <a:r>
              <a:rPr spc="-10" dirty="0"/>
              <a:t>Multi-</a:t>
            </a:r>
            <a:r>
              <a:rPr dirty="0"/>
              <a:t>Camera</a:t>
            </a:r>
            <a:r>
              <a:rPr spc="-15" dirty="0"/>
              <a:t> </a:t>
            </a:r>
            <a:r>
              <a:rPr dirty="0"/>
              <a:t>People</a:t>
            </a:r>
            <a:r>
              <a:rPr spc="-30" dirty="0"/>
              <a:t> </a:t>
            </a:r>
            <a:r>
              <a:rPr dirty="0"/>
              <a:t>Counting,</a:t>
            </a:r>
            <a:r>
              <a:rPr spc="-20" dirty="0"/>
              <a:t> </a:t>
            </a:r>
            <a:r>
              <a:rPr dirty="0"/>
              <a:t>Tracking</a:t>
            </a:r>
            <a:r>
              <a:rPr spc="-40" dirty="0"/>
              <a:t> </a:t>
            </a:r>
            <a:r>
              <a:rPr dirty="0"/>
              <a:t>and</a:t>
            </a:r>
            <a:r>
              <a:rPr spc="-25" dirty="0"/>
              <a:t> </a:t>
            </a:r>
            <a:r>
              <a:rPr dirty="0"/>
              <a:t>Crowd</a:t>
            </a:r>
            <a:r>
              <a:rPr spc="-5" dirty="0"/>
              <a:t> </a:t>
            </a:r>
            <a:r>
              <a:rPr dirty="0"/>
              <a:t>Monitoring </a:t>
            </a:r>
            <a:r>
              <a:rPr spc="-10" dirty="0"/>
              <a:t>System</a:t>
            </a: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850" b="0" i="0">
                <a:solidFill>
                  <a:srgbClr val="6B6B6B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910"/>
              </a:lnSpc>
            </a:pPr>
            <a:r>
              <a:rPr spc="-10" dirty="0"/>
              <a:t>[13/10/2026]</a:t>
            </a:r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900" b="1" i="0">
                <a:solidFill>
                  <a:srgbClr val="1A1A1A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955"/>
              </a:lnSpc>
            </a:pPr>
            <a:fld id="{81D60167-4931-47E6-BA6A-407CBD079E47}" type="slidenum">
              <a:rPr spc="-25" dirty="0"/>
              <a:t>‹#›</a:t>
            </a:fld>
            <a:endParaRPr spc="-25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800" b="1" i="0">
                <a:solidFill>
                  <a:srgbClr val="1F4D39"/>
                </a:solidFill>
                <a:latin typeface="Cambria"/>
                <a:cs typeface="Cambri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850" b="0" i="1">
                <a:solidFill>
                  <a:srgbClr val="6B6B6B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910"/>
              </a:lnSpc>
            </a:pPr>
            <a:r>
              <a:rPr spc="-10" dirty="0"/>
              <a:t>Real-</a:t>
            </a:r>
            <a:r>
              <a:rPr dirty="0"/>
              <a:t>Time</a:t>
            </a:r>
            <a:r>
              <a:rPr spc="-35" dirty="0"/>
              <a:t> </a:t>
            </a:r>
            <a:r>
              <a:rPr spc="-10" dirty="0"/>
              <a:t>Multi-</a:t>
            </a:r>
            <a:r>
              <a:rPr dirty="0"/>
              <a:t>Camera</a:t>
            </a:r>
            <a:r>
              <a:rPr spc="-15" dirty="0"/>
              <a:t> </a:t>
            </a:r>
            <a:r>
              <a:rPr dirty="0"/>
              <a:t>People</a:t>
            </a:r>
            <a:r>
              <a:rPr spc="-30" dirty="0"/>
              <a:t> </a:t>
            </a:r>
            <a:r>
              <a:rPr dirty="0"/>
              <a:t>Counting,</a:t>
            </a:r>
            <a:r>
              <a:rPr spc="-20" dirty="0"/>
              <a:t> </a:t>
            </a:r>
            <a:r>
              <a:rPr dirty="0"/>
              <a:t>Tracking</a:t>
            </a:r>
            <a:r>
              <a:rPr spc="-40" dirty="0"/>
              <a:t> </a:t>
            </a:r>
            <a:r>
              <a:rPr dirty="0"/>
              <a:t>and</a:t>
            </a:r>
            <a:r>
              <a:rPr spc="-25" dirty="0"/>
              <a:t> </a:t>
            </a:r>
            <a:r>
              <a:rPr dirty="0"/>
              <a:t>Crowd</a:t>
            </a:r>
            <a:r>
              <a:rPr spc="-5" dirty="0"/>
              <a:t> </a:t>
            </a:r>
            <a:r>
              <a:rPr dirty="0"/>
              <a:t>Monitoring </a:t>
            </a:r>
            <a:r>
              <a:rPr spc="-10" dirty="0"/>
              <a:t>System</a:t>
            </a: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850" b="0" i="0">
                <a:solidFill>
                  <a:srgbClr val="6B6B6B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910"/>
              </a:lnSpc>
            </a:pPr>
            <a:r>
              <a:rPr spc="-10" dirty="0"/>
              <a:t>[13/10/2026]</a:t>
            </a:r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900" b="1" i="0">
                <a:solidFill>
                  <a:srgbClr val="1A1A1A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955"/>
              </a:lnSpc>
            </a:pPr>
            <a:fld id="{81D60167-4931-47E6-BA6A-407CBD079E47}" type="slidenum">
              <a:rPr spc="-25" dirty="0"/>
              <a:t>‹#›</a:t>
            </a:fld>
            <a:endParaRPr spc="-25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850" b="0" i="1">
                <a:solidFill>
                  <a:srgbClr val="6B6B6B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910"/>
              </a:lnSpc>
            </a:pPr>
            <a:r>
              <a:rPr spc="-10" dirty="0"/>
              <a:t>Real-</a:t>
            </a:r>
            <a:r>
              <a:rPr dirty="0"/>
              <a:t>Time</a:t>
            </a:r>
            <a:r>
              <a:rPr spc="-35" dirty="0"/>
              <a:t> </a:t>
            </a:r>
            <a:r>
              <a:rPr spc="-10" dirty="0"/>
              <a:t>Multi-</a:t>
            </a:r>
            <a:r>
              <a:rPr dirty="0"/>
              <a:t>Camera</a:t>
            </a:r>
            <a:r>
              <a:rPr spc="-15" dirty="0"/>
              <a:t> </a:t>
            </a:r>
            <a:r>
              <a:rPr dirty="0"/>
              <a:t>People</a:t>
            </a:r>
            <a:r>
              <a:rPr spc="-30" dirty="0"/>
              <a:t> </a:t>
            </a:r>
            <a:r>
              <a:rPr dirty="0"/>
              <a:t>Counting,</a:t>
            </a:r>
            <a:r>
              <a:rPr spc="-20" dirty="0"/>
              <a:t> </a:t>
            </a:r>
            <a:r>
              <a:rPr dirty="0"/>
              <a:t>Tracking</a:t>
            </a:r>
            <a:r>
              <a:rPr spc="-40" dirty="0"/>
              <a:t> </a:t>
            </a:r>
            <a:r>
              <a:rPr dirty="0"/>
              <a:t>and</a:t>
            </a:r>
            <a:r>
              <a:rPr spc="-25" dirty="0"/>
              <a:t> </a:t>
            </a:r>
            <a:r>
              <a:rPr dirty="0"/>
              <a:t>Crowd</a:t>
            </a:r>
            <a:r>
              <a:rPr spc="-5" dirty="0"/>
              <a:t> </a:t>
            </a:r>
            <a:r>
              <a:rPr dirty="0"/>
              <a:t>Monitoring </a:t>
            </a:r>
            <a:r>
              <a:rPr spc="-10" dirty="0"/>
              <a:t>System</a:t>
            </a: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850" b="0" i="0">
                <a:solidFill>
                  <a:srgbClr val="6B6B6B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910"/>
              </a:lnSpc>
            </a:pPr>
            <a:r>
              <a:rPr spc="-10" dirty="0"/>
              <a:t>[13/10/2026]</a:t>
            </a:r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900" b="1" i="0">
                <a:solidFill>
                  <a:srgbClr val="1A1A1A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955"/>
              </a:lnSpc>
            </a:pPr>
            <a:fld id="{81D60167-4931-47E6-BA6A-407CBD079E47}" type="slidenum">
              <a:rPr spc="-25" dirty="0"/>
              <a:t>‹#›</a:t>
            </a:fld>
            <a:endParaRPr spc="-25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12189460" cy="274320"/>
          </a:xfrm>
          <a:custGeom>
            <a:avLst/>
            <a:gdLst/>
            <a:ahLst/>
            <a:cxnLst/>
            <a:rect l="l" t="t" r="r" b="b"/>
            <a:pathLst>
              <a:path w="12189460" h="274320">
                <a:moveTo>
                  <a:pt x="12188952" y="0"/>
                </a:moveTo>
                <a:lnTo>
                  <a:pt x="0" y="0"/>
                </a:lnTo>
                <a:lnTo>
                  <a:pt x="0" y="274320"/>
                </a:lnTo>
                <a:lnTo>
                  <a:pt x="12188952" y="274320"/>
                </a:lnTo>
                <a:lnTo>
                  <a:pt x="12188952" y="0"/>
                </a:lnTo>
                <a:close/>
              </a:path>
            </a:pathLst>
          </a:custGeom>
          <a:solidFill>
            <a:srgbClr val="C8A83E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502919" y="6400800"/>
            <a:ext cx="11183620" cy="0"/>
          </a:xfrm>
          <a:custGeom>
            <a:avLst/>
            <a:gdLst/>
            <a:ahLst/>
            <a:cxnLst/>
            <a:rect l="l" t="t" r="r" b="b"/>
            <a:pathLst>
              <a:path w="11183620">
                <a:moveTo>
                  <a:pt x="0" y="0"/>
                </a:moveTo>
                <a:lnTo>
                  <a:pt x="11183112" y="0"/>
                </a:lnTo>
              </a:path>
            </a:pathLst>
          </a:custGeom>
          <a:ln w="9144">
            <a:solidFill>
              <a:srgbClr val="BED7CA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490219" y="435610"/>
            <a:ext cx="8150859" cy="45211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800" b="1" i="0">
                <a:solidFill>
                  <a:srgbClr val="1F4D39"/>
                </a:solidFill>
                <a:latin typeface="Cambria"/>
                <a:cs typeface="Cambri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461644" y="1551305"/>
            <a:ext cx="11266170" cy="4114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274058" y="6531584"/>
            <a:ext cx="3609975" cy="13398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850" b="0" i="1">
                <a:solidFill>
                  <a:srgbClr val="6B6B6B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910"/>
              </a:lnSpc>
            </a:pPr>
            <a:r>
              <a:rPr spc="-10" dirty="0"/>
              <a:t>Real-</a:t>
            </a:r>
            <a:r>
              <a:rPr dirty="0"/>
              <a:t>Time</a:t>
            </a:r>
            <a:r>
              <a:rPr spc="-35" dirty="0"/>
              <a:t> </a:t>
            </a:r>
            <a:r>
              <a:rPr spc="-10" dirty="0"/>
              <a:t>Multi-</a:t>
            </a:r>
            <a:r>
              <a:rPr dirty="0"/>
              <a:t>Camera</a:t>
            </a:r>
            <a:r>
              <a:rPr spc="-15" dirty="0"/>
              <a:t> </a:t>
            </a:r>
            <a:r>
              <a:rPr dirty="0"/>
              <a:t>People</a:t>
            </a:r>
            <a:r>
              <a:rPr spc="-30" dirty="0"/>
              <a:t> </a:t>
            </a:r>
            <a:r>
              <a:rPr dirty="0"/>
              <a:t>Counting,</a:t>
            </a:r>
            <a:r>
              <a:rPr spc="-20" dirty="0"/>
              <a:t> </a:t>
            </a:r>
            <a:r>
              <a:rPr dirty="0"/>
              <a:t>Tracking</a:t>
            </a:r>
            <a:r>
              <a:rPr spc="-40" dirty="0"/>
              <a:t> </a:t>
            </a:r>
            <a:r>
              <a:rPr dirty="0"/>
              <a:t>and</a:t>
            </a:r>
            <a:r>
              <a:rPr spc="-25" dirty="0"/>
              <a:t> </a:t>
            </a:r>
            <a:r>
              <a:rPr dirty="0"/>
              <a:t>Crowd</a:t>
            </a:r>
            <a:r>
              <a:rPr spc="-5" dirty="0"/>
              <a:t> </a:t>
            </a:r>
            <a:r>
              <a:rPr dirty="0"/>
              <a:t>Monitoring </a:t>
            </a:r>
            <a:r>
              <a:rPr spc="-10" dirty="0"/>
              <a:t>System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90219" y="6531584"/>
            <a:ext cx="610235" cy="13398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850" b="0" i="0">
                <a:solidFill>
                  <a:srgbClr val="6B6B6B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910"/>
              </a:lnSpc>
            </a:pPr>
            <a:r>
              <a:rPr spc="-10" dirty="0"/>
              <a:t>[13/10/2026]</a:t>
            </a: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1485880" y="6510858"/>
            <a:ext cx="255904" cy="1397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1" i="0">
                <a:solidFill>
                  <a:srgbClr val="1A1A1A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ts val="955"/>
              </a:lnSpc>
            </a:pPr>
            <a:fld id="{81D60167-4931-47E6-BA6A-407CBD079E47}" type="slidenum">
              <a:rPr spc="-25" dirty="0"/>
              <a:t>‹#›</a:t>
            </a:fld>
            <a:endParaRPr spc="-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/>
          <p:nvPr/>
        </p:nvSpPr>
        <p:spPr>
          <a:xfrm>
            <a:off x="0" y="0"/>
            <a:ext cx="12189460" cy="274320"/>
          </a:xfrm>
          <a:custGeom>
            <a:avLst/>
            <a:gdLst/>
            <a:ahLst/>
            <a:cxnLst/>
            <a:rect l="l" t="t" r="r" b="b"/>
            <a:pathLst>
              <a:path w="12189460" h="274320">
                <a:moveTo>
                  <a:pt x="12188952" y="0"/>
                </a:moveTo>
                <a:lnTo>
                  <a:pt x="0" y="0"/>
                </a:lnTo>
                <a:lnTo>
                  <a:pt x="0" y="274320"/>
                </a:lnTo>
                <a:lnTo>
                  <a:pt x="12188952" y="274320"/>
                </a:lnTo>
                <a:lnTo>
                  <a:pt x="12188952" y="0"/>
                </a:lnTo>
                <a:close/>
              </a:path>
            </a:pathLst>
          </a:custGeom>
          <a:solidFill>
            <a:srgbClr val="C8A83E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5" name="object 5" descr="tr/srit.png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8640" y="338327"/>
            <a:ext cx="548640" cy="731520"/>
          </a:xfrm>
          <a:prstGeom prst="rect">
            <a:avLst/>
          </a:prstGeom>
        </p:spPr>
      </p:pic>
      <p:sp>
        <p:nvSpPr>
          <p:cNvPr id="7" name="object 7" descr="$PPTXTitle"/>
          <p:cNvSpPr txBox="1">
            <a:spLocks noGrp="1"/>
          </p:cNvSpPr>
          <p:nvPr>
            <p:ph type="title"/>
          </p:nvPr>
        </p:nvSpPr>
        <p:spPr>
          <a:xfrm>
            <a:off x="2565273" y="328371"/>
            <a:ext cx="7030720" cy="4064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500" dirty="0"/>
              <a:t>SRI</a:t>
            </a:r>
            <a:r>
              <a:rPr sz="2500" spc="-35" dirty="0"/>
              <a:t> </a:t>
            </a:r>
            <a:r>
              <a:rPr sz="2500" spc="-10" dirty="0"/>
              <a:t>RAMAKRISHNA</a:t>
            </a:r>
            <a:r>
              <a:rPr sz="2500" spc="-65" dirty="0"/>
              <a:t> </a:t>
            </a:r>
            <a:r>
              <a:rPr sz="2500" spc="-10" dirty="0"/>
              <a:t>INSTITUTE</a:t>
            </a:r>
            <a:r>
              <a:rPr sz="2500" spc="-5" dirty="0"/>
              <a:t> </a:t>
            </a:r>
            <a:r>
              <a:rPr sz="2500" dirty="0"/>
              <a:t>OF</a:t>
            </a:r>
            <a:r>
              <a:rPr sz="2500" spc="-40" dirty="0"/>
              <a:t> </a:t>
            </a:r>
            <a:r>
              <a:rPr sz="2500" spc="-10" dirty="0"/>
              <a:t>TECHNOLOGY</a:t>
            </a:r>
            <a:endParaRPr sz="2500"/>
          </a:p>
        </p:txBody>
      </p:sp>
      <p:pic>
        <p:nvPicPr>
          <p:cNvPr id="6" name="object 6" descr="tr/snr.png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1064240" y="338327"/>
            <a:ext cx="566927" cy="731520"/>
          </a:xfrm>
          <a:prstGeom prst="rect">
            <a:avLst/>
          </a:prstGeom>
        </p:spPr>
      </p:pic>
      <p:sp>
        <p:nvSpPr>
          <p:cNvPr id="8" name="object 8"/>
          <p:cNvSpPr/>
          <p:nvPr/>
        </p:nvSpPr>
        <p:spPr>
          <a:xfrm>
            <a:off x="3200400" y="1371600"/>
            <a:ext cx="5760720" cy="0"/>
          </a:xfrm>
          <a:custGeom>
            <a:avLst/>
            <a:gdLst/>
            <a:ahLst/>
            <a:cxnLst/>
            <a:rect l="l" t="t" r="r" b="b"/>
            <a:pathLst>
              <a:path w="5760720">
                <a:moveTo>
                  <a:pt x="0" y="0"/>
                </a:moveTo>
                <a:lnTo>
                  <a:pt x="5760720" y="0"/>
                </a:lnTo>
              </a:path>
            </a:pathLst>
          </a:custGeom>
          <a:ln w="9144">
            <a:solidFill>
              <a:srgbClr val="C8A83E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3376421" y="694214"/>
            <a:ext cx="5408930" cy="988694"/>
          </a:xfrm>
          <a:prstGeom prst="rect">
            <a:avLst/>
          </a:prstGeom>
        </p:spPr>
        <p:txBody>
          <a:bodyPr vert="horz" wrap="square" lIns="0" tIns="10350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815"/>
              </a:spcBef>
            </a:pPr>
            <a:r>
              <a:rPr sz="1050" i="1" dirty="0">
                <a:solidFill>
                  <a:srgbClr val="6B6B6B"/>
                </a:solidFill>
                <a:latin typeface="Arial"/>
                <a:cs typeface="Arial"/>
              </a:rPr>
              <a:t>(An</a:t>
            </a:r>
            <a:r>
              <a:rPr sz="1050" i="1" spc="-40" dirty="0">
                <a:solidFill>
                  <a:srgbClr val="6B6B6B"/>
                </a:solidFill>
                <a:latin typeface="Arial"/>
                <a:cs typeface="Arial"/>
              </a:rPr>
              <a:t> </a:t>
            </a:r>
            <a:r>
              <a:rPr sz="1050" i="1" dirty="0">
                <a:solidFill>
                  <a:srgbClr val="6B6B6B"/>
                </a:solidFill>
                <a:latin typeface="Arial"/>
                <a:cs typeface="Arial"/>
              </a:rPr>
              <a:t>Autonomous</a:t>
            </a:r>
            <a:r>
              <a:rPr sz="1050" i="1" spc="-10" dirty="0">
                <a:solidFill>
                  <a:srgbClr val="6B6B6B"/>
                </a:solidFill>
                <a:latin typeface="Arial"/>
                <a:cs typeface="Arial"/>
              </a:rPr>
              <a:t> </a:t>
            </a:r>
            <a:r>
              <a:rPr sz="1050" i="1" dirty="0">
                <a:solidFill>
                  <a:srgbClr val="6B6B6B"/>
                </a:solidFill>
                <a:latin typeface="Arial"/>
                <a:cs typeface="Arial"/>
              </a:rPr>
              <a:t>Institution)</a:t>
            </a:r>
            <a:r>
              <a:rPr sz="1050" i="1" spc="225" dirty="0">
                <a:solidFill>
                  <a:srgbClr val="6B6B6B"/>
                </a:solidFill>
                <a:latin typeface="Arial"/>
                <a:cs typeface="Arial"/>
              </a:rPr>
              <a:t> </a:t>
            </a:r>
            <a:r>
              <a:rPr sz="1050" i="1" dirty="0">
                <a:solidFill>
                  <a:srgbClr val="6B6B6B"/>
                </a:solidFill>
                <a:latin typeface="Arial"/>
                <a:cs typeface="Arial"/>
              </a:rPr>
              <a:t>·</a:t>
            </a:r>
            <a:r>
              <a:rPr sz="1050" i="1" spc="240" dirty="0">
                <a:solidFill>
                  <a:srgbClr val="6B6B6B"/>
                </a:solidFill>
                <a:latin typeface="Arial"/>
                <a:cs typeface="Arial"/>
              </a:rPr>
              <a:t> </a:t>
            </a:r>
            <a:r>
              <a:rPr sz="1050" i="1" dirty="0">
                <a:solidFill>
                  <a:srgbClr val="6B6B6B"/>
                </a:solidFill>
                <a:latin typeface="Arial"/>
                <a:cs typeface="Arial"/>
              </a:rPr>
              <a:t>Pachapalayam,</a:t>
            </a:r>
            <a:r>
              <a:rPr sz="1050" i="1" spc="-25" dirty="0">
                <a:solidFill>
                  <a:srgbClr val="6B6B6B"/>
                </a:solidFill>
                <a:latin typeface="Arial"/>
                <a:cs typeface="Arial"/>
              </a:rPr>
              <a:t> </a:t>
            </a:r>
            <a:r>
              <a:rPr sz="1050" i="1" dirty="0">
                <a:solidFill>
                  <a:srgbClr val="6B6B6B"/>
                </a:solidFill>
                <a:latin typeface="Arial"/>
                <a:cs typeface="Arial"/>
              </a:rPr>
              <a:t>Perur</a:t>
            </a:r>
            <a:r>
              <a:rPr sz="1050" i="1" spc="-30" dirty="0">
                <a:solidFill>
                  <a:srgbClr val="6B6B6B"/>
                </a:solidFill>
                <a:latin typeface="Arial"/>
                <a:cs typeface="Arial"/>
              </a:rPr>
              <a:t> </a:t>
            </a:r>
            <a:r>
              <a:rPr sz="1050" i="1" dirty="0">
                <a:solidFill>
                  <a:srgbClr val="6B6B6B"/>
                </a:solidFill>
                <a:latin typeface="Arial"/>
                <a:cs typeface="Arial"/>
              </a:rPr>
              <a:t>Chettipalayam,</a:t>
            </a:r>
            <a:r>
              <a:rPr sz="1050" i="1" spc="-25" dirty="0">
                <a:solidFill>
                  <a:srgbClr val="6B6B6B"/>
                </a:solidFill>
                <a:latin typeface="Arial"/>
                <a:cs typeface="Arial"/>
              </a:rPr>
              <a:t> </a:t>
            </a:r>
            <a:r>
              <a:rPr sz="1050" i="1" dirty="0">
                <a:solidFill>
                  <a:srgbClr val="6B6B6B"/>
                </a:solidFill>
                <a:latin typeface="Arial"/>
                <a:cs typeface="Arial"/>
              </a:rPr>
              <a:t>Coimbatore</a:t>
            </a:r>
            <a:r>
              <a:rPr sz="1050" i="1" spc="-5" dirty="0">
                <a:solidFill>
                  <a:srgbClr val="6B6B6B"/>
                </a:solidFill>
                <a:latin typeface="Arial"/>
                <a:cs typeface="Arial"/>
              </a:rPr>
              <a:t> </a:t>
            </a:r>
            <a:r>
              <a:rPr sz="1050" i="1" dirty="0">
                <a:solidFill>
                  <a:srgbClr val="6B6B6B"/>
                </a:solidFill>
                <a:latin typeface="Arial"/>
                <a:cs typeface="Arial"/>
              </a:rPr>
              <a:t>-</a:t>
            </a:r>
            <a:r>
              <a:rPr sz="1050" i="1" spc="-15" dirty="0">
                <a:solidFill>
                  <a:srgbClr val="6B6B6B"/>
                </a:solidFill>
                <a:latin typeface="Arial"/>
                <a:cs typeface="Arial"/>
              </a:rPr>
              <a:t> </a:t>
            </a:r>
            <a:r>
              <a:rPr sz="1050" i="1" dirty="0">
                <a:solidFill>
                  <a:srgbClr val="6B6B6B"/>
                </a:solidFill>
                <a:latin typeface="Arial"/>
                <a:cs typeface="Arial"/>
              </a:rPr>
              <a:t>641</a:t>
            </a:r>
            <a:r>
              <a:rPr sz="1050" i="1" spc="-30" dirty="0">
                <a:solidFill>
                  <a:srgbClr val="6B6B6B"/>
                </a:solidFill>
                <a:latin typeface="Arial"/>
                <a:cs typeface="Arial"/>
              </a:rPr>
              <a:t> </a:t>
            </a:r>
            <a:r>
              <a:rPr sz="1050" i="1" spc="-25" dirty="0">
                <a:solidFill>
                  <a:srgbClr val="6B6B6B"/>
                </a:solidFill>
                <a:latin typeface="Arial"/>
                <a:cs typeface="Arial"/>
              </a:rPr>
              <a:t>010</a:t>
            </a:r>
            <a:endParaRPr sz="1050">
              <a:latin typeface="Arial"/>
              <a:cs typeface="Arial"/>
            </a:endParaRPr>
          </a:p>
          <a:p>
            <a:pPr marR="11430" algn="ctr">
              <a:lnSpc>
                <a:spcPct val="100000"/>
              </a:lnSpc>
              <a:spcBef>
                <a:spcPts val="810"/>
              </a:spcBef>
            </a:pPr>
            <a:r>
              <a:rPr sz="1200" b="1" spc="75" dirty="0">
                <a:solidFill>
                  <a:srgbClr val="1F4D39"/>
                </a:solidFill>
                <a:latin typeface="Arial"/>
                <a:cs typeface="Arial"/>
              </a:rPr>
              <a:t>DEPARTMENT</a:t>
            </a:r>
            <a:r>
              <a:rPr sz="1200" b="1" spc="280" dirty="0">
                <a:solidFill>
                  <a:srgbClr val="1F4D39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1F4D39"/>
                </a:solidFill>
                <a:latin typeface="Arial"/>
                <a:cs typeface="Arial"/>
              </a:rPr>
              <a:t>OF</a:t>
            </a:r>
            <a:r>
              <a:rPr sz="1200" b="1" spc="229" dirty="0">
                <a:solidFill>
                  <a:srgbClr val="1F4D39"/>
                </a:solidFill>
                <a:latin typeface="Arial"/>
                <a:cs typeface="Arial"/>
              </a:rPr>
              <a:t> </a:t>
            </a:r>
            <a:r>
              <a:rPr sz="1200" b="1" spc="75" dirty="0">
                <a:solidFill>
                  <a:srgbClr val="1F4D39"/>
                </a:solidFill>
                <a:latin typeface="Arial"/>
                <a:cs typeface="Arial"/>
              </a:rPr>
              <a:t>COMPUTER</a:t>
            </a:r>
            <a:r>
              <a:rPr sz="1200" b="1" spc="254" dirty="0">
                <a:solidFill>
                  <a:srgbClr val="1F4D39"/>
                </a:solidFill>
                <a:latin typeface="Arial"/>
                <a:cs typeface="Arial"/>
              </a:rPr>
              <a:t> </a:t>
            </a:r>
            <a:r>
              <a:rPr sz="1200" b="1" spc="75" dirty="0">
                <a:solidFill>
                  <a:srgbClr val="1F4D39"/>
                </a:solidFill>
                <a:latin typeface="Arial"/>
                <a:cs typeface="Arial"/>
              </a:rPr>
              <a:t>SCIENCE</a:t>
            </a:r>
            <a:r>
              <a:rPr sz="1200" b="1" spc="250" dirty="0">
                <a:solidFill>
                  <a:srgbClr val="1F4D39"/>
                </a:solidFill>
                <a:latin typeface="Arial"/>
                <a:cs typeface="Arial"/>
              </a:rPr>
              <a:t> </a:t>
            </a:r>
            <a:r>
              <a:rPr sz="1200" b="1" spc="45" dirty="0">
                <a:solidFill>
                  <a:srgbClr val="1F4D39"/>
                </a:solidFill>
                <a:latin typeface="Arial"/>
                <a:cs typeface="Arial"/>
              </a:rPr>
              <a:t>AND</a:t>
            </a:r>
            <a:r>
              <a:rPr sz="1200" b="1" spc="270" dirty="0">
                <a:solidFill>
                  <a:srgbClr val="1F4D39"/>
                </a:solidFill>
                <a:latin typeface="Arial"/>
                <a:cs typeface="Arial"/>
              </a:rPr>
              <a:t> </a:t>
            </a:r>
            <a:r>
              <a:rPr sz="1200" b="1" spc="70" dirty="0">
                <a:solidFill>
                  <a:srgbClr val="1F4D39"/>
                </a:solidFill>
                <a:latin typeface="Arial"/>
                <a:cs typeface="Arial"/>
              </a:rPr>
              <a:t>ENGINEERING</a:t>
            </a:r>
            <a:endParaRPr sz="12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415"/>
              </a:spcBef>
            </a:pPr>
            <a:endParaRPr sz="1200">
              <a:latin typeface="Arial"/>
              <a:cs typeface="Arial"/>
            </a:endParaRPr>
          </a:p>
          <a:p>
            <a:pPr marR="4445" algn="ctr">
              <a:lnSpc>
                <a:spcPct val="100000"/>
              </a:lnSpc>
            </a:pPr>
            <a:r>
              <a:rPr sz="1300" dirty="0">
                <a:solidFill>
                  <a:srgbClr val="C8A83E"/>
                </a:solidFill>
                <a:latin typeface="Arial"/>
                <a:cs typeface="Arial"/>
              </a:rPr>
              <a:t>20CS902</a:t>
            </a:r>
            <a:r>
              <a:rPr sz="1300" spc="240" dirty="0">
                <a:solidFill>
                  <a:srgbClr val="C8A83E"/>
                </a:solidFill>
                <a:latin typeface="Arial"/>
                <a:cs typeface="Arial"/>
              </a:rPr>
              <a:t> </a:t>
            </a:r>
            <a:r>
              <a:rPr sz="1300" dirty="0">
                <a:solidFill>
                  <a:srgbClr val="C8A83E"/>
                </a:solidFill>
                <a:latin typeface="Arial"/>
                <a:cs typeface="Arial"/>
              </a:rPr>
              <a:t>-FINAL</a:t>
            </a:r>
            <a:r>
              <a:rPr sz="1300" spc="229" dirty="0">
                <a:solidFill>
                  <a:srgbClr val="C8A83E"/>
                </a:solidFill>
                <a:latin typeface="Arial"/>
                <a:cs typeface="Arial"/>
              </a:rPr>
              <a:t> </a:t>
            </a:r>
            <a:r>
              <a:rPr sz="1300" dirty="0">
                <a:solidFill>
                  <a:srgbClr val="C8A83E"/>
                </a:solidFill>
                <a:latin typeface="Arial"/>
                <a:cs typeface="Arial"/>
              </a:rPr>
              <a:t>YEAR</a:t>
            </a:r>
            <a:r>
              <a:rPr sz="1300" spc="225" dirty="0">
                <a:solidFill>
                  <a:srgbClr val="C8A83E"/>
                </a:solidFill>
                <a:latin typeface="Arial"/>
                <a:cs typeface="Arial"/>
              </a:rPr>
              <a:t> </a:t>
            </a:r>
            <a:r>
              <a:rPr sz="1300" dirty="0">
                <a:solidFill>
                  <a:srgbClr val="C8A83E"/>
                </a:solidFill>
                <a:latin typeface="Arial"/>
                <a:cs typeface="Arial"/>
              </a:rPr>
              <a:t>PROJECT</a:t>
            </a:r>
            <a:r>
              <a:rPr sz="1300" spc="220" dirty="0">
                <a:solidFill>
                  <a:srgbClr val="C8A83E"/>
                </a:solidFill>
                <a:latin typeface="Arial"/>
                <a:cs typeface="Arial"/>
              </a:rPr>
              <a:t> </a:t>
            </a:r>
            <a:r>
              <a:rPr sz="1300" dirty="0">
                <a:solidFill>
                  <a:srgbClr val="C8A83E"/>
                </a:solidFill>
                <a:latin typeface="Arial"/>
                <a:cs typeface="Arial"/>
              </a:rPr>
              <a:t>PHASE</a:t>
            </a:r>
            <a:r>
              <a:rPr sz="1300" spc="200" dirty="0">
                <a:solidFill>
                  <a:srgbClr val="C8A83E"/>
                </a:solidFill>
                <a:latin typeface="Arial"/>
                <a:cs typeface="Arial"/>
              </a:rPr>
              <a:t> </a:t>
            </a:r>
            <a:r>
              <a:rPr sz="1300" dirty="0">
                <a:solidFill>
                  <a:srgbClr val="C8A83E"/>
                </a:solidFill>
                <a:latin typeface="Arial"/>
                <a:cs typeface="Arial"/>
              </a:rPr>
              <a:t>I</a:t>
            </a:r>
            <a:r>
              <a:rPr sz="1300" spc="165" dirty="0">
                <a:solidFill>
                  <a:srgbClr val="C8A83E"/>
                </a:solidFill>
                <a:latin typeface="Arial"/>
                <a:cs typeface="Arial"/>
              </a:rPr>
              <a:t>  </a:t>
            </a:r>
            <a:r>
              <a:rPr sz="1300" dirty="0">
                <a:solidFill>
                  <a:srgbClr val="C8A83E"/>
                </a:solidFill>
                <a:latin typeface="Arial"/>
                <a:cs typeface="Arial"/>
              </a:rPr>
              <a:t>|</a:t>
            </a:r>
            <a:r>
              <a:rPr sz="1300" spc="170" dirty="0">
                <a:solidFill>
                  <a:srgbClr val="C8A83E"/>
                </a:solidFill>
                <a:latin typeface="Arial"/>
                <a:cs typeface="Arial"/>
              </a:rPr>
              <a:t>  </a:t>
            </a:r>
            <a:r>
              <a:rPr sz="1300" dirty="0">
                <a:solidFill>
                  <a:srgbClr val="C8A83E"/>
                </a:solidFill>
                <a:latin typeface="Arial"/>
                <a:cs typeface="Arial"/>
              </a:rPr>
              <a:t>VIVA</a:t>
            </a:r>
            <a:r>
              <a:rPr sz="1300" spc="204" dirty="0">
                <a:solidFill>
                  <a:srgbClr val="C8A83E"/>
                </a:solidFill>
                <a:latin typeface="Arial"/>
                <a:cs typeface="Arial"/>
              </a:rPr>
              <a:t> </a:t>
            </a:r>
            <a:r>
              <a:rPr sz="1300" spc="-20" dirty="0">
                <a:solidFill>
                  <a:srgbClr val="C8A83E"/>
                </a:solidFill>
                <a:latin typeface="Arial"/>
                <a:cs typeface="Arial"/>
              </a:rPr>
              <a:t>VOCE</a:t>
            </a:r>
            <a:endParaRPr sz="1300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886967" y="1792223"/>
            <a:ext cx="10416540" cy="1089660"/>
            <a:chOff x="886967" y="1792223"/>
            <a:chExt cx="10416540" cy="1089660"/>
          </a:xfrm>
        </p:grpSpPr>
        <p:sp>
          <p:nvSpPr>
            <p:cNvPr id="11" name="object 11"/>
            <p:cNvSpPr/>
            <p:nvPr/>
          </p:nvSpPr>
          <p:spPr>
            <a:xfrm>
              <a:off x="896873" y="1802129"/>
              <a:ext cx="10396855" cy="1069975"/>
            </a:xfrm>
            <a:custGeom>
              <a:avLst/>
              <a:gdLst/>
              <a:ahLst/>
              <a:cxnLst/>
              <a:rect l="l" t="t" r="r" b="b"/>
              <a:pathLst>
                <a:path w="10396855" h="1069975">
                  <a:moveTo>
                    <a:pt x="10323576" y="0"/>
                  </a:moveTo>
                  <a:lnTo>
                    <a:pt x="73151" y="0"/>
                  </a:lnTo>
                  <a:lnTo>
                    <a:pt x="44678" y="5750"/>
                  </a:lnTo>
                  <a:lnTo>
                    <a:pt x="21426" y="21431"/>
                  </a:lnTo>
                  <a:lnTo>
                    <a:pt x="5748" y="44684"/>
                  </a:lnTo>
                  <a:lnTo>
                    <a:pt x="0" y="73152"/>
                  </a:lnTo>
                  <a:lnTo>
                    <a:pt x="0" y="996696"/>
                  </a:lnTo>
                  <a:lnTo>
                    <a:pt x="5748" y="1025163"/>
                  </a:lnTo>
                  <a:lnTo>
                    <a:pt x="21426" y="1048416"/>
                  </a:lnTo>
                  <a:lnTo>
                    <a:pt x="44678" y="1064097"/>
                  </a:lnTo>
                  <a:lnTo>
                    <a:pt x="73151" y="1069848"/>
                  </a:lnTo>
                  <a:lnTo>
                    <a:pt x="10323576" y="1069848"/>
                  </a:lnTo>
                  <a:lnTo>
                    <a:pt x="10352043" y="1064097"/>
                  </a:lnTo>
                  <a:lnTo>
                    <a:pt x="10375296" y="1048416"/>
                  </a:lnTo>
                  <a:lnTo>
                    <a:pt x="10390977" y="1025163"/>
                  </a:lnTo>
                  <a:lnTo>
                    <a:pt x="10396728" y="996696"/>
                  </a:lnTo>
                  <a:lnTo>
                    <a:pt x="10396728" y="73152"/>
                  </a:lnTo>
                  <a:lnTo>
                    <a:pt x="10390977" y="44684"/>
                  </a:lnTo>
                  <a:lnTo>
                    <a:pt x="10375296" y="21431"/>
                  </a:lnTo>
                  <a:lnTo>
                    <a:pt x="10352043" y="5750"/>
                  </a:lnTo>
                  <a:lnTo>
                    <a:pt x="10323576" y="0"/>
                  </a:lnTo>
                  <a:close/>
                </a:path>
              </a:pathLst>
            </a:custGeom>
            <a:solidFill>
              <a:srgbClr val="E6F3E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896873" y="1802129"/>
              <a:ext cx="10396855" cy="1069975"/>
            </a:xfrm>
            <a:custGeom>
              <a:avLst/>
              <a:gdLst/>
              <a:ahLst/>
              <a:cxnLst/>
              <a:rect l="l" t="t" r="r" b="b"/>
              <a:pathLst>
                <a:path w="10396855" h="1069975">
                  <a:moveTo>
                    <a:pt x="0" y="73152"/>
                  </a:moveTo>
                  <a:lnTo>
                    <a:pt x="5748" y="44684"/>
                  </a:lnTo>
                  <a:lnTo>
                    <a:pt x="21426" y="21431"/>
                  </a:lnTo>
                  <a:lnTo>
                    <a:pt x="44678" y="5750"/>
                  </a:lnTo>
                  <a:lnTo>
                    <a:pt x="73151" y="0"/>
                  </a:lnTo>
                  <a:lnTo>
                    <a:pt x="10323576" y="0"/>
                  </a:lnTo>
                  <a:lnTo>
                    <a:pt x="10352043" y="5750"/>
                  </a:lnTo>
                  <a:lnTo>
                    <a:pt x="10375296" y="21431"/>
                  </a:lnTo>
                  <a:lnTo>
                    <a:pt x="10390977" y="44684"/>
                  </a:lnTo>
                  <a:lnTo>
                    <a:pt x="10396728" y="73152"/>
                  </a:lnTo>
                  <a:lnTo>
                    <a:pt x="10396728" y="996696"/>
                  </a:lnTo>
                  <a:lnTo>
                    <a:pt x="10390977" y="1025163"/>
                  </a:lnTo>
                  <a:lnTo>
                    <a:pt x="10375296" y="1048416"/>
                  </a:lnTo>
                  <a:lnTo>
                    <a:pt x="10352043" y="1064097"/>
                  </a:lnTo>
                  <a:lnTo>
                    <a:pt x="10323576" y="1069848"/>
                  </a:lnTo>
                  <a:lnTo>
                    <a:pt x="73151" y="1069848"/>
                  </a:lnTo>
                  <a:lnTo>
                    <a:pt x="44678" y="1064097"/>
                  </a:lnTo>
                  <a:lnTo>
                    <a:pt x="21426" y="1048416"/>
                  </a:lnTo>
                  <a:lnTo>
                    <a:pt x="5748" y="1025163"/>
                  </a:lnTo>
                  <a:lnTo>
                    <a:pt x="0" y="996696"/>
                  </a:lnTo>
                  <a:lnTo>
                    <a:pt x="0" y="73152"/>
                  </a:lnTo>
                  <a:close/>
                </a:path>
              </a:pathLst>
            </a:custGeom>
            <a:ln w="19811">
              <a:solidFill>
                <a:srgbClr val="1F4D3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/>
          <p:nvPr/>
        </p:nvSpPr>
        <p:spPr>
          <a:xfrm>
            <a:off x="1353058" y="2139823"/>
            <a:ext cx="9480550" cy="3606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defRPr sz="2100" b="1">
                <a:solidFill>
                  <a:srgbClr val="1F4D39"/>
                </a:solidFill>
                <a:latin typeface="Calibri"/>
              </a:defRPr>
            </a:pPr>
            <a:r>
              <a:t>Smart Digital Lending System with Automated Verification &amp; Explainable AI</a:t>
            </a:r>
          </a:p>
        </p:txBody>
      </p:sp>
      <p:sp>
        <p:nvSpPr>
          <p:cNvPr id="14" name="object 14"/>
          <p:cNvSpPr txBox="1"/>
          <p:nvPr/>
        </p:nvSpPr>
        <p:spPr>
          <a:xfrm>
            <a:off x="5316092" y="2968879"/>
            <a:ext cx="1557655" cy="182742"/>
          </a:xfrm>
          <a:prstGeom prst="rect">
            <a:avLst/>
          </a:prstGeom>
        </p:spPr>
        <p:txBody>
          <a:bodyPr vert="horz" wrap="square" lIns="0" tIns="13335" rIns="0" bIns="0" rtlCol="0" anchor="t">
            <a:spAutoFit/>
          </a:bodyPr>
          <a:lstStyle/>
          <a:p>
            <a:pPr>
              <a:defRPr sz="1100" b="0">
                <a:solidFill>
                  <a:srgbClr val="6B6B6B"/>
                </a:solidFill>
                <a:latin typeface="Calibri"/>
              </a:defRPr>
            </a:pPr>
            <a:r>
              <a:t>Batch No: [01] • Viva Voce Presentation</a:t>
            </a:r>
          </a:p>
        </p:txBody>
      </p:sp>
      <p:grpSp>
        <p:nvGrpSpPr>
          <p:cNvPr id="15" name="object 15"/>
          <p:cNvGrpSpPr/>
          <p:nvPr/>
        </p:nvGrpSpPr>
        <p:grpSpPr>
          <a:xfrm>
            <a:off x="635508" y="3259835"/>
            <a:ext cx="10927080" cy="2386965"/>
            <a:chOff x="635508" y="3259835"/>
            <a:chExt cx="10927080" cy="2386965"/>
          </a:xfrm>
        </p:grpSpPr>
        <p:sp>
          <p:nvSpPr>
            <p:cNvPr id="16" name="object 16"/>
            <p:cNvSpPr/>
            <p:nvPr/>
          </p:nvSpPr>
          <p:spPr>
            <a:xfrm>
              <a:off x="640080" y="3264407"/>
              <a:ext cx="10918190" cy="2377440"/>
            </a:xfrm>
            <a:custGeom>
              <a:avLst/>
              <a:gdLst/>
              <a:ahLst/>
              <a:cxnLst/>
              <a:rect l="l" t="t" r="r" b="b"/>
              <a:pathLst>
                <a:path w="10918190" h="2377440">
                  <a:moveTo>
                    <a:pt x="10844784" y="0"/>
                  </a:moveTo>
                  <a:lnTo>
                    <a:pt x="73151" y="0"/>
                  </a:lnTo>
                  <a:lnTo>
                    <a:pt x="44678" y="5750"/>
                  </a:lnTo>
                  <a:lnTo>
                    <a:pt x="21426" y="21431"/>
                  </a:lnTo>
                  <a:lnTo>
                    <a:pt x="5748" y="44684"/>
                  </a:lnTo>
                  <a:lnTo>
                    <a:pt x="0" y="73151"/>
                  </a:lnTo>
                  <a:lnTo>
                    <a:pt x="0" y="2304288"/>
                  </a:lnTo>
                  <a:lnTo>
                    <a:pt x="5748" y="2332761"/>
                  </a:lnTo>
                  <a:lnTo>
                    <a:pt x="21426" y="2356013"/>
                  </a:lnTo>
                  <a:lnTo>
                    <a:pt x="44678" y="2371691"/>
                  </a:lnTo>
                  <a:lnTo>
                    <a:pt x="73151" y="2377440"/>
                  </a:lnTo>
                  <a:lnTo>
                    <a:pt x="10844784" y="2377440"/>
                  </a:lnTo>
                  <a:lnTo>
                    <a:pt x="10873251" y="2371691"/>
                  </a:lnTo>
                  <a:lnTo>
                    <a:pt x="10896504" y="2356013"/>
                  </a:lnTo>
                  <a:lnTo>
                    <a:pt x="10912185" y="2332761"/>
                  </a:lnTo>
                  <a:lnTo>
                    <a:pt x="10917936" y="2304288"/>
                  </a:lnTo>
                  <a:lnTo>
                    <a:pt x="10917936" y="73151"/>
                  </a:lnTo>
                  <a:lnTo>
                    <a:pt x="10912185" y="44684"/>
                  </a:lnTo>
                  <a:lnTo>
                    <a:pt x="10896504" y="21431"/>
                  </a:lnTo>
                  <a:lnTo>
                    <a:pt x="10873251" y="5750"/>
                  </a:lnTo>
                  <a:lnTo>
                    <a:pt x="10844784" y="0"/>
                  </a:lnTo>
                  <a:close/>
                </a:path>
              </a:pathLst>
            </a:custGeom>
            <a:solidFill>
              <a:srgbClr val="E6F3E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640080" y="3264407"/>
              <a:ext cx="10918190" cy="2377440"/>
            </a:xfrm>
            <a:custGeom>
              <a:avLst/>
              <a:gdLst/>
              <a:ahLst/>
              <a:cxnLst/>
              <a:rect l="l" t="t" r="r" b="b"/>
              <a:pathLst>
                <a:path w="10918190" h="2377440">
                  <a:moveTo>
                    <a:pt x="0" y="73151"/>
                  </a:moveTo>
                  <a:lnTo>
                    <a:pt x="5748" y="44684"/>
                  </a:lnTo>
                  <a:lnTo>
                    <a:pt x="21426" y="21431"/>
                  </a:lnTo>
                  <a:lnTo>
                    <a:pt x="44678" y="5750"/>
                  </a:lnTo>
                  <a:lnTo>
                    <a:pt x="73151" y="0"/>
                  </a:lnTo>
                  <a:lnTo>
                    <a:pt x="10844784" y="0"/>
                  </a:lnTo>
                  <a:lnTo>
                    <a:pt x="10873251" y="5750"/>
                  </a:lnTo>
                  <a:lnTo>
                    <a:pt x="10896504" y="21431"/>
                  </a:lnTo>
                  <a:lnTo>
                    <a:pt x="10912185" y="44684"/>
                  </a:lnTo>
                  <a:lnTo>
                    <a:pt x="10917936" y="73151"/>
                  </a:lnTo>
                  <a:lnTo>
                    <a:pt x="10917936" y="2304288"/>
                  </a:lnTo>
                  <a:lnTo>
                    <a:pt x="10912185" y="2332761"/>
                  </a:lnTo>
                  <a:lnTo>
                    <a:pt x="10896504" y="2356013"/>
                  </a:lnTo>
                  <a:lnTo>
                    <a:pt x="10873251" y="2371691"/>
                  </a:lnTo>
                  <a:lnTo>
                    <a:pt x="10844784" y="2377440"/>
                  </a:lnTo>
                  <a:lnTo>
                    <a:pt x="73151" y="2377440"/>
                  </a:lnTo>
                  <a:lnTo>
                    <a:pt x="44678" y="2371691"/>
                  </a:lnTo>
                  <a:lnTo>
                    <a:pt x="21426" y="2356013"/>
                  </a:lnTo>
                  <a:lnTo>
                    <a:pt x="5748" y="2332761"/>
                  </a:lnTo>
                  <a:lnTo>
                    <a:pt x="0" y="2304288"/>
                  </a:lnTo>
                  <a:lnTo>
                    <a:pt x="0" y="73151"/>
                  </a:lnTo>
                  <a:close/>
                </a:path>
                <a:path w="10918190" h="2377440">
                  <a:moveTo>
                    <a:pt x="6035040" y="164591"/>
                  </a:moveTo>
                  <a:lnTo>
                    <a:pt x="6035040" y="2221991"/>
                  </a:lnTo>
                </a:path>
              </a:pathLst>
            </a:custGeom>
            <a:ln w="9144">
              <a:solidFill>
                <a:srgbClr val="BED7C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8" name="object 18"/>
          <p:cNvSpPr txBox="1"/>
          <p:nvPr/>
        </p:nvSpPr>
        <p:spPr>
          <a:xfrm>
            <a:off x="993139" y="3455034"/>
            <a:ext cx="1276350" cy="18669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050" b="1" dirty="0">
                <a:solidFill>
                  <a:srgbClr val="C8A83E"/>
                </a:solidFill>
                <a:latin typeface="Arial"/>
                <a:cs typeface="Arial"/>
              </a:rPr>
              <a:t>P</a:t>
            </a:r>
            <a:r>
              <a:rPr sz="1050" b="1" spc="-135" dirty="0">
                <a:solidFill>
                  <a:srgbClr val="C8A83E"/>
                </a:solidFill>
                <a:latin typeface="Arial"/>
                <a:cs typeface="Arial"/>
              </a:rPr>
              <a:t> </a:t>
            </a:r>
            <a:r>
              <a:rPr sz="1050" b="1" dirty="0">
                <a:solidFill>
                  <a:srgbClr val="C8A83E"/>
                </a:solidFill>
                <a:latin typeface="Arial"/>
                <a:cs typeface="Arial"/>
              </a:rPr>
              <a:t>R</a:t>
            </a:r>
            <a:r>
              <a:rPr sz="1050" b="1" spc="-130" dirty="0">
                <a:solidFill>
                  <a:srgbClr val="C8A83E"/>
                </a:solidFill>
                <a:latin typeface="Arial"/>
                <a:cs typeface="Arial"/>
              </a:rPr>
              <a:t> </a:t>
            </a:r>
            <a:r>
              <a:rPr sz="1050" b="1" dirty="0">
                <a:solidFill>
                  <a:srgbClr val="C8A83E"/>
                </a:solidFill>
                <a:latin typeface="Arial"/>
                <a:cs typeface="Arial"/>
              </a:rPr>
              <a:t>E</a:t>
            </a:r>
            <a:r>
              <a:rPr sz="1050" b="1" spc="-135" dirty="0">
                <a:solidFill>
                  <a:srgbClr val="C8A83E"/>
                </a:solidFill>
                <a:latin typeface="Arial"/>
                <a:cs typeface="Arial"/>
              </a:rPr>
              <a:t> </a:t>
            </a:r>
            <a:r>
              <a:rPr sz="1050" b="1" dirty="0">
                <a:solidFill>
                  <a:srgbClr val="C8A83E"/>
                </a:solidFill>
                <a:latin typeface="Arial"/>
                <a:cs typeface="Arial"/>
              </a:rPr>
              <a:t>S</a:t>
            </a:r>
            <a:r>
              <a:rPr sz="1050" b="1" spc="-145" dirty="0">
                <a:solidFill>
                  <a:srgbClr val="C8A83E"/>
                </a:solidFill>
                <a:latin typeface="Arial"/>
                <a:cs typeface="Arial"/>
              </a:rPr>
              <a:t> </a:t>
            </a:r>
            <a:r>
              <a:rPr sz="1050" b="1" dirty="0">
                <a:solidFill>
                  <a:srgbClr val="C8A83E"/>
                </a:solidFill>
                <a:latin typeface="Arial"/>
                <a:cs typeface="Arial"/>
              </a:rPr>
              <a:t>E</a:t>
            </a:r>
            <a:r>
              <a:rPr sz="1050" b="1" spc="-155" dirty="0">
                <a:solidFill>
                  <a:srgbClr val="C8A83E"/>
                </a:solidFill>
                <a:latin typeface="Arial"/>
                <a:cs typeface="Arial"/>
              </a:rPr>
              <a:t> </a:t>
            </a:r>
            <a:r>
              <a:rPr sz="1050" b="1" dirty="0">
                <a:solidFill>
                  <a:srgbClr val="C8A83E"/>
                </a:solidFill>
                <a:latin typeface="Arial"/>
                <a:cs typeface="Arial"/>
              </a:rPr>
              <a:t>N</a:t>
            </a:r>
            <a:r>
              <a:rPr sz="1050" b="1" spc="-145" dirty="0">
                <a:solidFill>
                  <a:srgbClr val="C8A83E"/>
                </a:solidFill>
                <a:latin typeface="Arial"/>
                <a:cs typeface="Arial"/>
              </a:rPr>
              <a:t> </a:t>
            </a:r>
            <a:r>
              <a:rPr sz="1050" b="1" dirty="0">
                <a:solidFill>
                  <a:srgbClr val="C8A83E"/>
                </a:solidFill>
                <a:latin typeface="Arial"/>
                <a:cs typeface="Arial"/>
              </a:rPr>
              <a:t>T</a:t>
            </a:r>
            <a:r>
              <a:rPr sz="1050" b="1" spc="-145" dirty="0">
                <a:solidFill>
                  <a:srgbClr val="C8A83E"/>
                </a:solidFill>
                <a:latin typeface="Arial"/>
                <a:cs typeface="Arial"/>
              </a:rPr>
              <a:t> </a:t>
            </a:r>
            <a:r>
              <a:rPr sz="1050" b="1" dirty="0">
                <a:solidFill>
                  <a:srgbClr val="C8A83E"/>
                </a:solidFill>
                <a:latin typeface="Arial"/>
                <a:cs typeface="Arial"/>
              </a:rPr>
              <a:t>E</a:t>
            </a:r>
            <a:r>
              <a:rPr sz="1050" b="1" spc="-145" dirty="0">
                <a:solidFill>
                  <a:srgbClr val="C8A83E"/>
                </a:solidFill>
                <a:latin typeface="Arial"/>
                <a:cs typeface="Arial"/>
              </a:rPr>
              <a:t> </a:t>
            </a:r>
            <a:r>
              <a:rPr sz="1050" b="1" dirty="0">
                <a:solidFill>
                  <a:srgbClr val="C8A83E"/>
                </a:solidFill>
                <a:latin typeface="Arial"/>
                <a:cs typeface="Arial"/>
              </a:rPr>
              <a:t>D</a:t>
            </a:r>
            <a:r>
              <a:rPr sz="1050" b="1" spc="250" dirty="0">
                <a:solidFill>
                  <a:srgbClr val="C8A83E"/>
                </a:solidFill>
                <a:latin typeface="Arial"/>
                <a:cs typeface="Arial"/>
              </a:rPr>
              <a:t> </a:t>
            </a:r>
            <a:r>
              <a:rPr sz="1050" b="1" dirty="0">
                <a:solidFill>
                  <a:srgbClr val="C8A83E"/>
                </a:solidFill>
                <a:latin typeface="Arial"/>
                <a:cs typeface="Arial"/>
              </a:rPr>
              <a:t>B</a:t>
            </a:r>
            <a:r>
              <a:rPr sz="1050" b="1" spc="-130" dirty="0">
                <a:solidFill>
                  <a:srgbClr val="C8A83E"/>
                </a:solidFill>
                <a:latin typeface="Arial"/>
                <a:cs typeface="Arial"/>
              </a:rPr>
              <a:t> </a:t>
            </a:r>
            <a:r>
              <a:rPr sz="1050" b="1" spc="-50" dirty="0">
                <a:solidFill>
                  <a:srgbClr val="C8A83E"/>
                </a:solidFill>
                <a:latin typeface="Arial"/>
                <a:cs typeface="Arial"/>
              </a:rPr>
              <a:t>Y</a:t>
            </a:r>
            <a:endParaRPr sz="105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7029068" y="3455034"/>
            <a:ext cx="920115" cy="18669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050" b="1" dirty="0">
                <a:solidFill>
                  <a:srgbClr val="C8A83E"/>
                </a:solidFill>
                <a:latin typeface="Arial"/>
                <a:cs typeface="Arial"/>
              </a:rPr>
              <a:t>G</a:t>
            </a:r>
            <a:r>
              <a:rPr sz="1050" b="1" spc="-145" dirty="0">
                <a:solidFill>
                  <a:srgbClr val="C8A83E"/>
                </a:solidFill>
                <a:latin typeface="Arial"/>
                <a:cs typeface="Arial"/>
              </a:rPr>
              <a:t> </a:t>
            </a:r>
            <a:r>
              <a:rPr sz="1050" b="1" dirty="0">
                <a:solidFill>
                  <a:srgbClr val="C8A83E"/>
                </a:solidFill>
                <a:latin typeface="Arial"/>
                <a:cs typeface="Arial"/>
              </a:rPr>
              <a:t>U</a:t>
            </a:r>
            <a:r>
              <a:rPr sz="1050" b="1" spc="-135" dirty="0">
                <a:solidFill>
                  <a:srgbClr val="C8A83E"/>
                </a:solidFill>
                <a:latin typeface="Arial"/>
                <a:cs typeface="Arial"/>
              </a:rPr>
              <a:t> </a:t>
            </a:r>
            <a:r>
              <a:rPr sz="1050" b="1" dirty="0">
                <a:solidFill>
                  <a:srgbClr val="C8A83E"/>
                </a:solidFill>
                <a:latin typeface="Arial"/>
                <a:cs typeface="Arial"/>
              </a:rPr>
              <a:t>I</a:t>
            </a:r>
            <a:r>
              <a:rPr sz="1050" b="1" spc="-145" dirty="0">
                <a:solidFill>
                  <a:srgbClr val="C8A83E"/>
                </a:solidFill>
                <a:latin typeface="Arial"/>
                <a:cs typeface="Arial"/>
              </a:rPr>
              <a:t> </a:t>
            </a:r>
            <a:r>
              <a:rPr sz="1050" b="1" dirty="0">
                <a:solidFill>
                  <a:srgbClr val="C8A83E"/>
                </a:solidFill>
                <a:latin typeface="Arial"/>
                <a:cs typeface="Arial"/>
              </a:rPr>
              <a:t>D</a:t>
            </a:r>
            <a:r>
              <a:rPr sz="1050" b="1" spc="-130" dirty="0">
                <a:solidFill>
                  <a:srgbClr val="C8A83E"/>
                </a:solidFill>
                <a:latin typeface="Arial"/>
                <a:cs typeface="Arial"/>
              </a:rPr>
              <a:t> </a:t>
            </a:r>
            <a:r>
              <a:rPr sz="1050" b="1" dirty="0">
                <a:solidFill>
                  <a:srgbClr val="C8A83E"/>
                </a:solidFill>
                <a:latin typeface="Arial"/>
                <a:cs typeface="Arial"/>
              </a:rPr>
              <a:t>E</a:t>
            </a:r>
            <a:r>
              <a:rPr sz="1050" b="1" spc="-145" dirty="0">
                <a:solidFill>
                  <a:srgbClr val="C8A83E"/>
                </a:solidFill>
                <a:latin typeface="Arial"/>
                <a:cs typeface="Arial"/>
              </a:rPr>
              <a:t> </a:t>
            </a:r>
            <a:r>
              <a:rPr sz="1050" b="1" dirty="0">
                <a:solidFill>
                  <a:srgbClr val="C8A83E"/>
                </a:solidFill>
                <a:latin typeface="Arial"/>
                <a:cs typeface="Arial"/>
              </a:rPr>
              <a:t>D</a:t>
            </a:r>
            <a:r>
              <a:rPr sz="1050" b="1" spc="250" dirty="0">
                <a:solidFill>
                  <a:srgbClr val="C8A83E"/>
                </a:solidFill>
                <a:latin typeface="Arial"/>
                <a:cs typeface="Arial"/>
              </a:rPr>
              <a:t> </a:t>
            </a:r>
            <a:r>
              <a:rPr sz="1050" b="1" dirty="0">
                <a:solidFill>
                  <a:srgbClr val="C8A83E"/>
                </a:solidFill>
                <a:latin typeface="Arial"/>
                <a:cs typeface="Arial"/>
              </a:rPr>
              <a:t>B</a:t>
            </a:r>
            <a:r>
              <a:rPr sz="1050" b="1" spc="-135" dirty="0">
                <a:solidFill>
                  <a:srgbClr val="C8A83E"/>
                </a:solidFill>
                <a:latin typeface="Arial"/>
                <a:cs typeface="Arial"/>
              </a:rPr>
              <a:t> </a:t>
            </a:r>
            <a:r>
              <a:rPr sz="1050" b="1" spc="-50" dirty="0">
                <a:solidFill>
                  <a:srgbClr val="C8A83E"/>
                </a:solidFill>
                <a:latin typeface="Arial"/>
                <a:cs typeface="Arial"/>
              </a:rPr>
              <a:t>Y</a:t>
            </a:r>
            <a:endParaRPr sz="1050">
              <a:latin typeface="Arial"/>
              <a:cs typeface="Arial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1176324" y="3819525"/>
            <a:ext cx="2046605" cy="2159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50" dirty="0">
                <a:solidFill>
                  <a:srgbClr val="1A1A1A"/>
                </a:solidFill>
                <a:latin typeface="Arial"/>
                <a:cs typeface="Arial"/>
              </a:rPr>
              <a:t>Jeesha S - [71382302061]</a:t>
            </a:r>
            <a:endParaRPr sz="1250">
              <a:latin typeface="Arial"/>
              <a:cs typeface="Arial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7029068" y="3818001"/>
            <a:ext cx="2187575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b="1" spc="-10" dirty="0">
                <a:solidFill>
                  <a:srgbClr val="1A1A1A"/>
                </a:solidFill>
                <a:latin typeface="Arial"/>
                <a:cs typeface="Arial"/>
              </a:rPr>
              <a:t>Dr. M. Kalpana Devi</a:t>
            </a:r>
            <a:endParaRPr sz="1400">
              <a:latin typeface="Arial"/>
              <a:cs typeface="Arial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1176325" y="4244059"/>
            <a:ext cx="2889548" cy="204543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50" dirty="0">
                <a:solidFill>
                  <a:srgbClr val="1A1A1A"/>
                </a:solidFill>
                <a:latin typeface="Arial"/>
                <a:cs typeface="Arial"/>
              </a:rPr>
              <a:t>Jeeva Bharathi M - [71382302062]</a:t>
            </a:r>
            <a:endParaRPr sz="1250">
              <a:latin typeface="Arial"/>
              <a:cs typeface="Arial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7000313" y="4231004"/>
            <a:ext cx="1753762" cy="204543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50" spc="-10" dirty="0">
                <a:solidFill>
                  <a:srgbClr val="1A1A1A"/>
                </a:solidFill>
                <a:latin typeface="Arial"/>
                <a:cs typeface="Arial"/>
              </a:rPr>
              <a:t>Associate Professor</a:t>
            </a:r>
            <a:endParaRPr sz="1250">
              <a:latin typeface="Arial"/>
              <a:cs typeface="Arial"/>
            </a:endParaRPr>
          </a:p>
        </p:txBody>
      </p:sp>
      <p:sp>
        <p:nvSpPr>
          <p:cNvPr id="26" name="object 26"/>
          <p:cNvSpPr txBox="1"/>
          <p:nvPr/>
        </p:nvSpPr>
        <p:spPr>
          <a:xfrm>
            <a:off x="7029068" y="4596764"/>
            <a:ext cx="1404620" cy="2159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50" dirty="0">
                <a:solidFill>
                  <a:srgbClr val="1A1A1A"/>
                </a:solidFill>
                <a:latin typeface="Arial"/>
                <a:cs typeface="Arial"/>
              </a:rPr>
              <a:t>Department</a:t>
            </a:r>
            <a:r>
              <a:rPr sz="1250" spc="-40" dirty="0">
                <a:solidFill>
                  <a:srgbClr val="1A1A1A"/>
                </a:solidFill>
                <a:latin typeface="Arial"/>
                <a:cs typeface="Arial"/>
              </a:rPr>
              <a:t> </a:t>
            </a:r>
            <a:r>
              <a:rPr sz="1250" dirty="0">
                <a:solidFill>
                  <a:srgbClr val="1A1A1A"/>
                </a:solidFill>
                <a:latin typeface="Arial"/>
                <a:cs typeface="Arial"/>
              </a:rPr>
              <a:t>of</a:t>
            </a:r>
            <a:r>
              <a:rPr sz="1250" spc="-35" dirty="0">
                <a:solidFill>
                  <a:srgbClr val="1A1A1A"/>
                </a:solidFill>
                <a:latin typeface="Arial"/>
                <a:cs typeface="Arial"/>
              </a:rPr>
              <a:t> </a:t>
            </a:r>
            <a:r>
              <a:rPr sz="1250" spc="-25" dirty="0">
                <a:solidFill>
                  <a:srgbClr val="1A1A1A"/>
                </a:solidFill>
                <a:latin typeface="Arial"/>
                <a:cs typeface="Arial"/>
              </a:rPr>
              <a:t>CSE</a:t>
            </a:r>
            <a:endParaRPr sz="1250">
              <a:latin typeface="Arial"/>
              <a:cs typeface="Arial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1176324" y="4711725"/>
            <a:ext cx="2537460" cy="2159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50" dirty="0">
                <a:solidFill>
                  <a:srgbClr val="1A1A1A"/>
                </a:solidFill>
                <a:latin typeface="Arial"/>
                <a:cs typeface="Arial"/>
              </a:rPr>
              <a:t>Krishnakanth M - [71382302083]</a:t>
            </a:r>
            <a:endParaRPr sz="1250">
              <a:latin typeface="Arial"/>
              <a:cs typeface="Arial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1176325" y="5121579"/>
            <a:ext cx="2958835" cy="20518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50" dirty="0">
                <a:solidFill>
                  <a:srgbClr val="1A1A1A"/>
                </a:solidFill>
                <a:latin typeface="Arial"/>
                <a:cs typeface="Arial"/>
              </a:rPr>
              <a:t>Poovizhi Thangam V - [71382302116]</a:t>
            </a:r>
            <a:endParaRPr sz="1250">
              <a:latin typeface="Arial"/>
              <a:cs typeface="Arial"/>
            </a:endParaRPr>
          </a:p>
        </p:txBody>
      </p:sp>
      <p:sp>
        <p:nvSpPr>
          <p:cNvPr id="2" name="object 2"/>
          <p:cNvSpPr/>
          <p:nvPr/>
        </p:nvSpPr>
        <p:spPr>
          <a:xfrm>
            <a:off x="0" y="6053328"/>
            <a:ext cx="12189460" cy="347980"/>
          </a:xfrm>
          <a:custGeom>
            <a:avLst/>
            <a:gdLst/>
            <a:ahLst/>
            <a:cxnLst/>
            <a:rect l="l" t="t" r="r" b="b"/>
            <a:pathLst>
              <a:path w="12189460" h="347979">
                <a:moveTo>
                  <a:pt x="12188952" y="0"/>
                </a:moveTo>
                <a:lnTo>
                  <a:pt x="0" y="0"/>
                </a:lnTo>
                <a:lnTo>
                  <a:pt x="0" y="347472"/>
                </a:lnTo>
                <a:lnTo>
                  <a:pt x="12188952" y="347472"/>
                </a:lnTo>
                <a:lnTo>
                  <a:pt x="12188952" y="0"/>
                </a:lnTo>
                <a:close/>
              </a:path>
            </a:pathLst>
          </a:custGeom>
          <a:solidFill>
            <a:srgbClr val="FFF6DD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502919" y="6400800"/>
            <a:ext cx="11183620" cy="0"/>
          </a:xfrm>
          <a:custGeom>
            <a:avLst/>
            <a:gdLst/>
            <a:ahLst/>
            <a:cxnLst/>
            <a:rect l="l" t="t" r="r" b="b"/>
            <a:pathLst>
              <a:path w="11183620">
                <a:moveTo>
                  <a:pt x="0" y="0"/>
                </a:moveTo>
                <a:lnTo>
                  <a:pt x="11183112" y="0"/>
                </a:lnTo>
              </a:path>
            </a:pathLst>
          </a:custGeom>
          <a:ln w="9144">
            <a:solidFill>
              <a:srgbClr val="BED7CA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object 28"/>
          <p:cNvSpPr txBox="1">
            <a:spLocks noGrp="1"/>
          </p:cNvSpPr>
          <p:nvPr>
            <p:ph type="dt" sz="half" idx="6"/>
          </p:nvPr>
        </p:nvSpPr>
        <p:spPr>
          <a:xfrm>
            <a:off x="490219" y="6531584"/>
            <a:ext cx="610235" cy="11541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910"/>
              </a:lnSpc>
            </a:pPr>
            <a:r>
              <a:rPr spc="-10" dirty="0"/>
              <a:t>[3</a:t>
            </a:r>
            <a:r>
              <a:rPr lang="en-US" spc="-10" dirty="0"/>
              <a:t>1</a:t>
            </a:r>
            <a:r>
              <a:rPr spc="-10" dirty="0"/>
              <a:t>/10/2026]</a:t>
            </a:r>
          </a:p>
        </p:txBody>
      </p:sp>
      <p:sp>
        <p:nvSpPr>
          <p:cNvPr id="29" name="object 29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910"/>
              </a:lnSpc>
            </a:pPr>
            <a:r>
              <a:rPr spc="-10" dirty="0"/>
              <a:t>Smart Digital Lending System with AI-Based Risk Analysis</a:t>
            </a:r>
          </a:p>
        </p:txBody>
      </p:sp>
      <p:sp>
        <p:nvSpPr>
          <p:cNvPr id="27" name="object 27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955"/>
              </a:lnSpc>
            </a:pPr>
            <a:fld id="{81D60167-4931-47E6-BA6A-407CBD079E47}" type="slidenum">
              <a:rPr spc="-25" dirty="0"/>
              <a:t>1</a:t>
            </a:fld>
            <a:endParaRPr spc="-25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490219" y="435610"/>
            <a:ext cx="1783714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10" dirty="0"/>
              <a:t>ABSTRACT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90219" y="965962"/>
            <a:ext cx="4774565" cy="19367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defRPr sz="1100" b="0">
                <a:solidFill>
                  <a:srgbClr val="6B6B6B"/>
                </a:solidFill>
                <a:latin typeface="Calibri"/>
              </a:defRPr>
            </a:pPr>
            <a:r>
              <a:t>Fast, Fraud-Proof &amp; Transparent Loan Processing using 5 Core Technologies</a:t>
            </a:r>
          </a:p>
        </p:txBody>
      </p:sp>
      <p:sp>
        <p:nvSpPr>
          <p:cNvPr id="4" name="object 4"/>
          <p:cNvSpPr/>
          <p:nvPr/>
        </p:nvSpPr>
        <p:spPr>
          <a:xfrm>
            <a:off x="502919" y="1298447"/>
            <a:ext cx="11183620" cy="0"/>
          </a:xfrm>
          <a:custGeom>
            <a:avLst/>
            <a:gdLst/>
            <a:ahLst/>
            <a:cxnLst/>
            <a:rect l="l" t="t" r="r" b="b"/>
            <a:pathLst>
              <a:path w="11183620">
                <a:moveTo>
                  <a:pt x="0" y="0"/>
                </a:moveTo>
                <a:lnTo>
                  <a:pt x="11183112" y="0"/>
                </a:lnTo>
              </a:path>
            </a:pathLst>
          </a:custGeom>
          <a:ln w="12192">
            <a:solidFill>
              <a:srgbClr val="C8A83E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5" name="object 5"/>
          <p:cNvGrpSpPr/>
          <p:nvPr/>
        </p:nvGrpSpPr>
        <p:grpSpPr>
          <a:xfrm>
            <a:off x="498348" y="1458467"/>
            <a:ext cx="11192510" cy="375285"/>
            <a:chOff x="498348" y="1458467"/>
            <a:chExt cx="11192510" cy="375285"/>
          </a:xfrm>
        </p:grpSpPr>
        <p:sp>
          <p:nvSpPr>
            <p:cNvPr id="6" name="object 6"/>
            <p:cNvSpPr/>
            <p:nvPr/>
          </p:nvSpPr>
          <p:spPr>
            <a:xfrm>
              <a:off x="502920" y="1463039"/>
              <a:ext cx="11183620" cy="365760"/>
            </a:xfrm>
            <a:custGeom>
              <a:avLst/>
              <a:gdLst/>
              <a:ahLst/>
              <a:cxnLst/>
              <a:rect l="l" t="t" r="r" b="b"/>
              <a:pathLst>
                <a:path w="11183620" h="365760">
                  <a:moveTo>
                    <a:pt x="11137391" y="0"/>
                  </a:moveTo>
                  <a:lnTo>
                    <a:pt x="45720" y="0"/>
                  </a:lnTo>
                  <a:lnTo>
                    <a:pt x="27924" y="3589"/>
                  </a:lnTo>
                  <a:lnTo>
                    <a:pt x="13392" y="13382"/>
                  </a:lnTo>
                  <a:lnTo>
                    <a:pt x="3593" y="27914"/>
                  </a:lnTo>
                  <a:lnTo>
                    <a:pt x="0" y="45720"/>
                  </a:lnTo>
                  <a:lnTo>
                    <a:pt x="0" y="320039"/>
                  </a:lnTo>
                  <a:lnTo>
                    <a:pt x="3593" y="337845"/>
                  </a:lnTo>
                  <a:lnTo>
                    <a:pt x="13392" y="352377"/>
                  </a:lnTo>
                  <a:lnTo>
                    <a:pt x="27924" y="362170"/>
                  </a:lnTo>
                  <a:lnTo>
                    <a:pt x="45720" y="365760"/>
                  </a:lnTo>
                  <a:lnTo>
                    <a:pt x="11137391" y="365760"/>
                  </a:lnTo>
                  <a:lnTo>
                    <a:pt x="11155197" y="362170"/>
                  </a:lnTo>
                  <a:lnTo>
                    <a:pt x="11169729" y="352377"/>
                  </a:lnTo>
                  <a:lnTo>
                    <a:pt x="11179522" y="337845"/>
                  </a:lnTo>
                  <a:lnTo>
                    <a:pt x="11183112" y="320039"/>
                  </a:lnTo>
                  <a:lnTo>
                    <a:pt x="11183112" y="45720"/>
                  </a:lnTo>
                  <a:lnTo>
                    <a:pt x="11179522" y="27914"/>
                  </a:lnTo>
                  <a:lnTo>
                    <a:pt x="11169729" y="13382"/>
                  </a:lnTo>
                  <a:lnTo>
                    <a:pt x="11155197" y="3589"/>
                  </a:lnTo>
                  <a:lnTo>
                    <a:pt x="11137391" y="0"/>
                  </a:lnTo>
                  <a:close/>
                </a:path>
              </a:pathLst>
            </a:custGeom>
            <a:solidFill>
              <a:srgbClr val="FFF7D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502920" y="1463039"/>
              <a:ext cx="11183620" cy="365760"/>
            </a:xfrm>
            <a:custGeom>
              <a:avLst/>
              <a:gdLst/>
              <a:ahLst/>
              <a:cxnLst/>
              <a:rect l="l" t="t" r="r" b="b"/>
              <a:pathLst>
                <a:path w="11183620" h="365760">
                  <a:moveTo>
                    <a:pt x="0" y="45720"/>
                  </a:moveTo>
                  <a:lnTo>
                    <a:pt x="3593" y="27914"/>
                  </a:lnTo>
                  <a:lnTo>
                    <a:pt x="13392" y="13382"/>
                  </a:lnTo>
                  <a:lnTo>
                    <a:pt x="27924" y="3589"/>
                  </a:lnTo>
                  <a:lnTo>
                    <a:pt x="45720" y="0"/>
                  </a:lnTo>
                  <a:lnTo>
                    <a:pt x="11137391" y="0"/>
                  </a:lnTo>
                  <a:lnTo>
                    <a:pt x="11155197" y="3589"/>
                  </a:lnTo>
                  <a:lnTo>
                    <a:pt x="11169729" y="13382"/>
                  </a:lnTo>
                  <a:lnTo>
                    <a:pt x="11179522" y="27914"/>
                  </a:lnTo>
                  <a:lnTo>
                    <a:pt x="11183112" y="45720"/>
                  </a:lnTo>
                  <a:lnTo>
                    <a:pt x="11183112" y="320039"/>
                  </a:lnTo>
                  <a:lnTo>
                    <a:pt x="11179522" y="337845"/>
                  </a:lnTo>
                  <a:lnTo>
                    <a:pt x="11169729" y="352377"/>
                  </a:lnTo>
                  <a:lnTo>
                    <a:pt x="11155197" y="362170"/>
                  </a:lnTo>
                  <a:lnTo>
                    <a:pt x="11137391" y="365760"/>
                  </a:lnTo>
                  <a:lnTo>
                    <a:pt x="45720" y="365760"/>
                  </a:lnTo>
                  <a:lnTo>
                    <a:pt x="27924" y="362170"/>
                  </a:lnTo>
                  <a:lnTo>
                    <a:pt x="13392" y="352377"/>
                  </a:lnTo>
                  <a:lnTo>
                    <a:pt x="3593" y="337845"/>
                  </a:lnTo>
                  <a:lnTo>
                    <a:pt x="0" y="320039"/>
                  </a:lnTo>
                  <a:lnTo>
                    <a:pt x="0" y="45720"/>
                  </a:lnTo>
                  <a:close/>
                </a:path>
              </a:pathLst>
            </a:custGeom>
            <a:ln w="9144">
              <a:solidFill>
                <a:srgbClr val="C8A83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/>
          <p:nvPr/>
        </p:nvSpPr>
        <p:spPr>
          <a:xfrm>
            <a:off x="502919" y="1463039"/>
            <a:ext cx="11183620" cy="365760"/>
          </a:xfrm>
          <a:prstGeom prst="rect">
            <a:avLst/>
          </a:prstGeom>
        </p:spPr>
        <p:txBody>
          <a:bodyPr vert="horz" wrap="square" lIns="0" tIns="94615" rIns="0" bIns="0" rtlCol="0">
            <a:spAutoFit/>
          </a:bodyPr>
          <a:lstStyle/>
          <a:p>
            <a:r>
              <a:rPr b="1" sz="1050">
                <a:solidFill>
                  <a:srgbClr val="C8A83E"/>
                </a:solidFill>
              </a:rPr>
              <a:t>Keywords: </a:t>
            </a:r>
            <a:r>
              <a:rPr b="0" sz="1050">
                <a:solidFill>
                  <a:srgbClr val="C8A83E"/>
                </a:solidFill>
              </a:rPr>
              <a:t>Digital Lending • DigiLocker • Face Biometrics • OCR Extraction • Explainable AI • Random Forest</a:t>
            </a:r>
          </a:p>
        </p:txBody>
      </p:sp>
      <p:sp>
        <p:nvSpPr>
          <p:cNvPr id="9" name="object 9"/>
          <p:cNvSpPr/>
          <p:nvPr/>
        </p:nvSpPr>
        <p:spPr>
          <a:xfrm>
            <a:off x="502919" y="2011679"/>
            <a:ext cx="8138159" cy="329565"/>
          </a:xfrm>
          <a:custGeom>
            <a:avLst/>
            <a:gdLst/>
            <a:ahLst/>
            <a:cxnLst/>
            <a:rect l="l" t="t" r="r" b="b"/>
            <a:pathLst>
              <a:path w="8138159" h="329564">
                <a:moveTo>
                  <a:pt x="0" y="329184"/>
                </a:moveTo>
                <a:lnTo>
                  <a:pt x="8138159" y="329184"/>
                </a:lnTo>
                <a:lnTo>
                  <a:pt x="8138159" y="0"/>
                </a:lnTo>
                <a:lnTo>
                  <a:pt x="0" y="0"/>
                </a:lnTo>
                <a:lnTo>
                  <a:pt x="0" y="329184"/>
                </a:lnTo>
                <a:close/>
              </a:path>
            </a:pathLst>
          </a:custGeom>
          <a:ln w="12192">
            <a:solidFill>
              <a:srgbClr val="1F4D3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/>
          <p:nvPr/>
        </p:nvSpPr>
        <p:spPr>
          <a:xfrm>
            <a:off x="496823" y="2005583"/>
            <a:ext cx="8150859" cy="341630"/>
          </a:xfrm>
          <a:prstGeom prst="rect">
            <a:avLst/>
          </a:prstGeom>
          <a:solidFill>
            <a:srgbClr val="1F4D39"/>
          </a:solidFill>
        </p:spPr>
        <p:txBody>
          <a:bodyPr vert="horz" wrap="square" lIns="0" tIns="86360" rIns="0" bIns="0" rtlCol="0">
            <a:spAutoFit/>
          </a:bodyPr>
          <a:lstStyle/>
          <a:p>
            <a:pPr>
              <a:defRPr sz="1000" b="1">
                <a:solidFill>
                  <a:srgbClr val="FFFFFF"/>
                </a:solidFill>
                <a:latin typeface="Calibri"/>
              </a:defRPr>
            </a:pPr>
            <a:r>
              <a:t>ABSTRACT</a:t>
            </a:r>
          </a:p>
        </p:txBody>
      </p:sp>
      <p:sp>
        <p:nvSpPr>
          <p:cNvPr id="14" name="object 14"/>
          <p:cNvSpPr/>
          <p:nvPr/>
        </p:nvSpPr>
        <p:spPr>
          <a:xfrm>
            <a:off x="8823959" y="2011679"/>
            <a:ext cx="2862580" cy="329565"/>
          </a:xfrm>
          <a:custGeom>
            <a:avLst/>
            <a:gdLst/>
            <a:ahLst/>
            <a:cxnLst/>
            <a:rect l="l" t="t" r="r" b="b"/>
            <a:pathLst>
              <a:path w="2862579" h="329564">
                <a:moveTo>
                  <a:pt x="0" y="329184"/>
                </a:moveTo>
                <a:lnTo>
                  <a:pt x="2862072" y="329184"/>
                </a:lnTo>
                <a:lnTo>
                  <a:pt x="2862072" y="0"/>
                </a:lnTo>
                <a:lnTo>
                  <a:pt x="0" y="0"/>
                </a:lnTo>
                <a:lnTo>
                  <a:pt x="0" y="329184"/>
                </a:lnTo>
                <a:close/>
              </a:path>
            </a:pathLst>
          </a:custGeom>
          <a:ln w="12192">
            <a:solidFill>
              <a:srgbClr val="1F4D3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 txBox="1"/>
          <p:nvPr/>
        </p:nvSpPr>
        <p:spPr>
          <a:xfrm>
            <a:off x="8817864" y="2005583"/>
            <a:ext cx="2874645" cy="341630"/>
          </a:xfrm>
          <a:prstGeom prst="rect">
            <a:avLst/>
          </a:prstGeom>
          <a:solidFill>
            <a:srgbClr val="1F4D39"/>
          </a:solidFill>
        </p:spPr>
        <p:txBody>
          <a:bodyPr vert="horz" wrap="square" lIns="0" tIns="86360" rIns="0" bIns="0" rtlCol="0">
            <a:spAutoFit/>
          </a:bodyPr>
          <a:lstStyle/>
          <a:p>
            <a:pPr>
              <a:defRPr sz="1000" b="1">
                <a:solidFill>
                  <a:srgbClr val="FFFFFF"/>
                </a:solidFill>
                <a:latin typeface="Calibri"/>
              </a:defRPr>
            </a:pPr>
            <a:r>
              <a:t>TECHNOLOGY STACK</a:t>
            </a:r>
          </a:p>
        </p:txBody>
      </p:sp>
      <p:grpSp>
        <p:nvGrpSpPr>
          <p:cNvPr id="11" name="object 11"/>
          <p:cNvGrpSpPr/>
          <p:nvPr/>
        </p:nvGrpSpPr>
        <p:grpSpPr>
          <a:xfrm>
            <a:off x="498348" y="2336292"/>
            <a:ext cx="8147684" cy="2752725"/>
            <a:chOff x="498348" y="2336292"/>
            <a:chExt cx="8147684" cy="2752725"/>
          </a:xfrm>
        </p:grpSpPr>
        <p:sp>
          <p:nvSpPr>
            <p:cNvPr id="12" name="object 12"/>
            <p:cNvSpPr/>
            <p:nvPr/>
          </p:nvSpPr>
          <p:spPr>
            <a:xfrm>
              <a:off x="502920" y="2340864"/>
              <a:ext cx="8138159" cy="2743200"/>
            </a:xfrm>
            <a:custGeom>
              <a:avLst/>
              <a:gdLst/>
              <a:ahLst/>
              <a:cxnLst/>
              <a:rect l="l" t="t" r="r" b="b"/>
              <a:pathLst>
                <a:path w="8138159" h="2743200">
                  <a:moveTo>
                    <a:pt x="8065008" y="0"/>
                  </a:moveTo>
                  <a:lnTo>
                    <a:pt x="73151" y="0"/>
                  </a:lnTo>
                  <a:lnTo>
                    <a:pt x="44678" y="5750"/>
                  </a:lnTo>
                  <a:lnTo>
                    <a:pt x="21426" y="21431"/>
                  </a:lnTo>
                  <a:lnTo>
                    <a:pt x="5748" y="44684"/>
                  </a:lnTo>
                  <a:lnTo>
                    <a:pt x="0" y="73151"/>
                  </a:lnTo>
                  <a:lnTo>
                    <a:pt x="0" y="2670048"/>
                  </a:lnTo>
                  <a:lnTo>
                    <a:pt x="5748" y="2698515"/>
                  </a:lnTo>
                  <a:lnTo>
                    <a:pt x="21426" y="2721768"/>
                  </a:lnTo>
                  <a:lnTo>
                    <a:pt x="44678" y="2737449"/>
                  </a:lnTo>
                  <a:lnTo>
                    <a:pt x="73151" y="2743200"/>
                  </a:lnTo>
                  <a:lnTo>
                    <a:pt x="8065008" y="2743200"/>
                  </a:lnTo>
                  <a:lnTo>
                    <a:pt x="8093475" y="2737449"/>
                  </a:lnTo>
                  <a:lnTo>
                    <a:pt x="8116728" y="2721768"/>
                  </a:lnTo>
                  <a:lnTo>
                    <a:pt x="8132409" y="2698515"/>
                  </a:lnTo>
                  <a:lnTo>
                    <a:pt x="8138159" y="2670048"/>
                  </a:lnTo>
                  <a:lnTo>
                    <a:pt x="8138159" y="73151"/>
                  </a:lnTo>
                  <a:lnTo>
                    <a:pt x="8132409" y="44684"/>
                  </a:lnTo>
                  <a:lnTo>
                    <a:pt x="8116728" y="21431"/>
                  </a:lnTo>
                  <a:lnTo>
                    <a:pt x="8093475" y="5750"/>
                  </a:lnTo>
                  <a:lnTo>
                    <a:pt x="8065008" y="0"/>
                  </a:lnTo>
                  <a:close/>
                </a:path>
              </a:pathLst>
            </a:custGeom>
            <a:solidFill>
              <a:srgbClr val="F3F8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502920" y="2340864"/>
              <a:ext cx="8138159" cy="2743200"/>
            </a:xfrm>
            <a:custGeom>
              <a:avLst/>
              <a:gdLst/>
              <a:ahLst/>
              <a:cxnLst/>
              <a:rect l="l" t="t" r="r" b="b"/>
              <a:pathLst>
                <a:path w="8138159" h="2743200">
                  <a:moveTo>
                    <a:pt x="0" y="73151"/>
                  </a:moveTo>
                  <a:lnTo>
                    <a:pt x="5748" y="44684"/>
                  </a:lnTo>
                  <a:lnTo>
                    <a:pt x="21426" y="21431"/>
                  </a:lnTo>
                  <a:lnTo>
                    <a:pt x="44678" y="5750"/>
                  </a:lnTo>
                  <a:lnTo>
                    <a:pt x="73151" y="0"/>
                  </a:lnTo>
                  <a:lnTo>
                    <a:pt x="8065008" y="0"/>
                  </a:lnTo>
                  <a:lnTo>
                    <a:pt x="8093475" y="5750"/>
                  </a:lnTo>
                  <a:lnTo>
                    <a:pt x="8116728" y="21431"/>
                  </a:lnTo>
                  <a:lnTo>
                    <a:pt x="8132409" y="44684"/>
                  </a:lnTo>
                  <a:lnTo>
                    <a:pt x="8138159" y="73151"/>
                  </a:lnTo>
                  <a:lnTo>
                    <a:pt x="8138159" y="2670048"/>
                  </a:lnTo>
                  <a:lnTo>
                    <a:pt x="8132409" y="2698515"/>
                  </a:lnTo>
                  <a:lnTo>
                    <a:pt x="8116728" y="2721768"/>
                  </a:lnTo>
                  <a:lnTo>
                    <a:pt x="8093475" y="2737449"/>
                  </a:lnTo>
                  <a:lnTo>
                    <a:pt x="8065008" y="2743200"/>
                  </a:lnTo>
                  <a:lnTo>
                    <a:pt x="73151" y="2743200"/>
                  </a:lnTo>
                  <a:lnTo>
                    <a:pt x="44678" y="2737449"/>
                  </a:lnTo>
                  <a:lnTo>
                    <a:pt x="21426" y="2721768"/>
                  </a:lnTo>
                  <a:lnTo>
                    <a:pt x="5748" y="2698515"/>
                  </a:lnTo>
                  <a:lnTo>
                    <a:pt x="0" y="2670048"/>
                  </a:lnTo>
                  <a:lnTo>
                    <a:pt x="0" y="73151"/>
                  </a:lnTo>
                  <a:close/>
                </a:path>
              </a:pathLst>
            </a:custGeom>
            <a:ln w="9144">
              <a:solidFill>
                <a:srgbClr val="BED7C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9" name="object 19"/>
          <p:cNvSpPr txBox="1"/>
          <p:nvPr/>
        </p:nvSpPr>
        <p:spPr>
          <a:xfrm>
            <a:off x="673100" y="2447670"/>
            <a:ext cx="7624445" cy="12528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1A1A1A"/>
                </a:solidFill>
                <a:latin typeface="Calibri"/>
              </a:rPr>
              <a:t>Problem: </a:t>
            </a:r>
            <a:r>
              <a:rPr sz="1100" b="0">
                <a:solidFill>
                  <a:srgbClr val="1A1A1A"/>
                </a:solidFill>
                <a:latin typeface="Calibri"/>
              </a:rPr>
              <a:t>manual checks take 3-7 days, fake documents bypass review, stolen OTPs create identity theft loans, and AI rejects applicants without reasons.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1A1A1A"/>
                </a:solidFill>
                <a:latin typeface="Calibri"/>
              </a:rPr>
              <a:t>Approach: </a:t>
            </a:r>
            <a:r>
              <a:rPr sz="1100" b="0">
                <a:solidFill>
                  <a:srgbClr val="1A1A1A"/>
                </a:solidFill>
                <a:latin typeface="Calibri"/>
              </a:rPr>
              <a:t>a 5-model pipeline: DigiLocker document fetch, 3-way webcam face matching, OCR cross-checks, and glass-box EBM underwriting.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1A1A1A"/>
                </a:solidFill>
                <a:latin typeface="Calibri"/>
              </a:rPr>
              <a:t>Technologies: </a:t>
            </a:r>
            <a:r>
              <a:rPr sz="1100" b="0">
                <a:solidFill>
                  <a:srgbClr val="1A1A1A"/>
                </a:solidFill>
                <a:latin typeface="Calibri"/>
              </a:rPr>
              <a:t>React 18, Vite, FastAPI, OpenCV, Tesseract OCR, InterpretML, scikit-learn, SQLite.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1A1A1A"/>
                </a:solidFill>
                <a:latin typeface="Calibri"/>
              </a:rPr>
              <a:t>Implemented: </a:t>
            </a:r>
            <a:r>
              <a:rPr sz="1100" b="0">
                <a:solidFill>
                  <a:srgbClr val="1A1A1A"/>
                </a:solidFill>
                <a:latin typeface="Calibri"/>
              </a:rPr>
              <a:t>DigiLocker SSO, biometric gate, cross-field OCR, EBM scoring, adverse action notices, and full audit trail.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1A1A1A"/>
                </a:solidFill>
                <a:latin typeface="Calibri"/>
              </a:rPr>
              <a:t>Contribution: </a:t>
            </a:r>
            <a:r>
              <a:rPr sz="1100" b="0">
                <a:solidFill>
                  <a:srgbClr val="1A1A1A"/>
                </a:solidFill>
                <a:latin typeface="Calibri"/>
              </a:rPr>
              <a:t>zero fake paperwork, immune to OTP theft; 85.37% test accuracy matching Random Forest with 100% exact reasons.</a:t>
            </a:r>
          </a:p>
        </p:txBody>
      </p:sp>
      <p:grpSp>
        <p:nvGrpSpPr>
          <p:cNvPr id="16" name="object 16"/>
          <p:cNvGrpSpPr/>
          <p:nvPr/>
        </p:nvGrpSpPr>
        <p:grpSpPr>
          <a:xfrm>
            <a:off x="8819388" y="2336292"/>
            <a:ext cx="2871470" cy="2752725"/>
            <a:chOff x="8819388" y="2336292"/>
            <a:chExt cx="2871470" cy="2752725"/>
          </a:xfrm>
        </p:grpSpPr>
        <p:sp>
          <p:nvSpPr>
            <p:cNvPr id="17" name="object 17"/>
            <p:cNvSpPr/>
            <p:nvPr/>
          </p:nvSpPr>
          <p:spPr>
            <a:xfrm>
              <a:off x="8823960" y="2340864"/>
              <a:ext cx="2862580" cy="2743200"/>
            </a:xfrm>
            <a:custGeom>
              <a:avLst/>
              <a:gdLst/>
              <a:ahLst/>
              <a:cxnLst/>
              <a:rect l="l" t="t" r="r" b="b"/>
              <a:pathLst>
                <a:path w="2862579" h="2743200">
                  <a:moveTo>
                    <a:pt x="2788920" y="0"/>
                  </a:moveTo>
                  <a:lnTo>
                    <a:pt x="73151" y="0"/>
                  </a:lnTo>
                  <a:lnTo>
                    <a:pt x="44684" y="5750"/>
                  </a:lnTo>
                  <a:lnTo>
                    <a:pt x="21431" y="21431"/>
                  </a:lnTo>
                  <a:lnTo>
                    <a:pt x="5750" y="44684"/>
                  </a:lnTo>
                  <a:lnTo>
                    <a:pt x="0" y="73151"/>
                  </a:lnTo>
                  <a:lnTo>
                    <a:pt x="0" y="2670048"/>
                  </a:lnTo>
                  <a:lnTo>
                    <a:pt x="5750" y="2698515"/>
                  </a:lnTo>
                  <a:lnTo>
                    <a:pt x="21431" y="2721768"/>
                  </a:lnTo>
                  <a:lnTo>
                    <a:pt x="44684" y="2737449"/>
                  </a:lnTo>
                  <a:lnTo>
                    <a:pt x="73151" y="2743200"/>
                  </a:lnTo>
                  <a:lnTo>
                    <a:pt x="2788920" y="2743200"/>
                  </a:lnTo>
                  <a:lnTo>
                    <a:pt x="2817387" y="2737449"/>
                  </a:lnTo>
                  <a:lnTo>
                    <a:pt x="2840640" y="2721768"/>
                  </a:lnTo>
                  <a:lnTo>
                    <a:pt x="2856321" y="2698515"/>
                  </a:lnTo>
                  <a:lnTo>
                    <a:pt x="2862072" y="2670048"/>
                  </a:lnTo>
                  <a:lnTo>
                    <a:pt x="2862072" y="73151"/>
                  </a:lnTo>
                  <a:lnTo>
                    <a:pt x="2856321" y="44684"/>
                  </a:lnTo>
                  <a:lnTo>
                    <a:pt x="2840640" y="21431"/>
                  </a:lnTo>
                  <a:lnTo>
                    <a:pt x="2817387" y="5750"/>
                  </a:lnTo>
                  <a:lnTo>
                    <a:pt x="2788920" y="0"/>
                  </a:lnTo>
                  <a:close/>
                </a:path>
              </a:pathLst>
            </a:custGeom>
            <a:solidFill>
              <a:srgbClr val="F3F8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8823960" y="2340864"/>
              <a:ext cx="2862580" cy="2743200"/>
            </a:xfrm>
            <a:custGeom>
              <a:avLst/>
              <a:gdLst/>
              <a:ahLst/>
              <a:cxnLst/>
              <a:rect l="l" t="t" r="r" b="b"/>
              <a:pathLst>
                <a:path w="2862579" h="2743200">
                  <a:moveTo>
                    <a:pt x="0" y="73151"/>
                  </a:moveTo>
                  <a:lnTo>
                    <a:pt x="5750" y="44684"/>
                  </a:lnTo>
                  <a:lnTo>
                    <a:pt x="21431" y="21431"/>
                  </a:lnTo>
                  <a:lnTo>
                    <a:pt x="44684" y="5750"/>
                  </a:lnTo>
                  <a:lnTo>
                    <a:pt x="73151" y="0"/>
                  </a:lnTo>
                  <a:lnTo>
                    <a:pt x="2788920" y="0"/>
                  </a:lnTo>
                  <a:lnTo>
                    <a:pt x="2817387" y="5750"/>
                  </a:lnTo>
                  <a:lnTo>
                    <a:pt x="2840640" y="21431"/>
                  </a:lnTo>
                  <a:lnTo>
                    <a:pt x="2856321" y="44684"/>
                  </a:lnTo>
                  <a:lnTo>
                    <a:pt x="2862072" y="73151"/>
                  </a:lnTo>
                  <a:lnTo>
                    <a:pt x="2862072" y="2670048"/>
                  </a:lnTo>
                  <a:lnTo>
                    <a:pt x="2856321" y="2698515"/>
                  </a:lnTo>
                  <a:lnTo>
                    <a:pt x="2840640" y="2721768"/>
                  </a:lnTo>
                  <a:lnTo>
                    <a:pt x="2817387" y="2737449"/>
                  </a:lnTo>
                  <a:lnTo>
                    <a:pt x="2788920" y="2743200"/>
                  </a:lnTo>
                  <a:lnTo>
                    <a:pt x="73151" y="2743200"/>
                  </a:lnTo>
                  <a:lnTo>
                    <a:pt x="44684" y="2737449"/>
                  </a:lnTo>
                  <a:lnTo>
                    <a:pt x="21431" y="2721768"/>
                  </a:lnTo>
                  <a:lnTo>
                    <a:pt x="5750" y="2698515"/>
                  </a:lnTo>
                  <a:lnTo>
                    <a:pt x="0" y="2670048"/>
                  </a:lnTo>
                  <a:lnTo>
                    <a:pt x="0" y="73151"/>
                  </a:lnTo>
                  <a:close/>
                </a:path>
              </a:pathLst>
            </a:custGeom>
            <a:ln w="9143">
              <a:solidFill>
                <a:srgbClr val="BED7C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0" name="object 20"/>
          <p:cNvSpPr txBox="1"/>
          <p:nvPr/>
        </p:nvSpPr>
        <p:spPr>
          <a:xfrm>
            <a:off x="9041130" y="2462910"/>
            <a:ext cx="2329180" cy="1580515"/>
          </a:xfrm>
          <a:prstGeom prst="rect">
            <a:avLst/>
          </a:prstGeom>
        </p:spPr>
        <p:txBody>
          <a:bodyPr vert="horz" wrap="square" lIns="0" tIns="88900" rIns="0" bIns="0" rtlCol="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150" b="1">
                <a:solidFill>
                  <a:srgbClr val="1A1A1A"/>
                </a:solidFill>
                <a:latin typeface="Calibri"/>
              </a:rPr>
              <a:t>Model 1: </a:t>
            </a:r>
            <a:r>
              <a:rPr sz="1150" b="0">
                <a:solidFill>
                  <a:srgbClr val="1A1A1A"/>
                </a:solidFill>
                <a:latin typeface="Calibri"/>
              </a:rPr>
              <a:t>DigiLocker Government Document Fetch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150" b="1">
                <a:solidFill>
                  <a:srgbClr val="1A1A1A"/>
                </a:solidFill>
                <a:latin typeface="Calibri"/>
              </a:rPr>
              <a:t>Model 2: </a:t>
            </a:r>
            <a:r>
              <a:rPr sz="1150" b="0">
                <a:solidFill>
                  <a:srgbClr val="1A1A1A"/>
                </a:solidFill>
                <a:latin typeface="Calibri"/>
              </a:rPr>
              <a:t>Tri-Biometric Live Face Gate (≥ 75%)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150" b="1">
                <a:solidFill>
                  <a:srgbClr val="1A1A1A"/>
                </a:solidFill>
                <a:latin typeface="Calibri"/>
              </a:rPr>
              <a:t>Model 3: </a:t>
            </a:r>
            <a:r>
              <a:rPr sz="1150" b="0">
                <a:solidFill>
                  <a:srgbClr val="1A1A1A"/>
                </a:solidFill>
                <a:latin typeface="Calibri"/>
              </a:rPr>
              <a:t>OCR Text Extraction &amp; Cross-Check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150" b="1">
                <a:solidFill>
                  <a:srgbClr val="1A1A1A"/>
                </a:solidFill>
                <a:latin typeface="Calibri"/>
              </a:rPr>
              <a:t>Model 4: </a:t>
            </a:r>
            <a:r>
              <a:rPr sz="1150" b="0">
                <a:solidFill>
                  <a:srgbClr val="1A1A1A"/>
                </a:solidFill>
                <a:latin typeface="Calibri"/>
              </a:rPr>
              <a:t>Explainable Boosting Machine (EBM)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150" b="1">
                <a:solidFill>
                  <a:srgbClr val="1A1A1A"/>
                </a:solidFill>
                <a:latin typeface="Calibri"/>
              </a:rPr>
              <a:t>Model 5: </a:t>
            </a:r>
            <a:r>
              <a:rPr sz="1150" b="0">
                <a:solidFill>
                  <a:srgbClr val="1A1A1A"/>
                </a:solidFill>
                <a:latin typeface="Calibri"/>
              </a:rPr>
              <a:t>Random Forest Accuracy Benchmark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150" b="1">
                <a:solidFill>
                  <a:srgbClr val="1A1A1A"/>
                </a:solidFill>
                <a:latin typeface="Calibri"/>
              </a:rPr>
              <a:t>Full Stack: </a:t>
            </a:r>
            <a:r>
              <a:rPr sz="1150" b="0">
                <a:solidFill>
                  <a:srgbClr val="1A1A1A"/>
                </a:solidFill>
                <a:latin typeface="Calibri"/>
              </a:rPr>
              <a:t>React 18 + FastAPI + OpenCV + SQLite</a:t>
            </a:r>
          </a:p>
        </p:txBody>
      </p:sp>
      <p:sp>
        <p:nvSpPr>
          <p:cNvPr id="21" name="object 21"/>
          <p:cNvSpPr txBox="1"/>
          <p:nvPr/>
        </p:nvSpPr>
        <p:spPr>
          <a:xfrm>
            <a:off x="490219" y="5210632"/>
            <a:ext cx="1536700" cy="1708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50" b="1" spc="75" dirty="0">
                <a:solidFill>
                  <a:srgbClr val="1F4D39"/>
                </a:solidFill>
                <a:latin typeface="Calibri"/>
                <a:cs typeface="Calibri"/>
              </a:rPr>
              <a:t>INTEGRATED</a:t>
            </a:r>
            <a:r>
              <a:rPr sz="950" b="1" spc="280" dirty="0">
                <a:solidFill>
                  <a:srgbClr val="1F4D39"/>
                </a:solidFill>
                <a:latin typeface="Calibri"/>
                <a:cs typeface="Calibri"/>
              </a:rPr>
              <a:t> </a:t>
            </a:r>
            <a:r>
              <a:rPr sz="950" b="1" spc="60" dirty="0">
                <a:solidFill>
                  <a:srgbClr val="1F4D39"/>
                </a:solidFill>
                <a:latin typeface="Calibri"/>
                <a:cs typeface="Calibri"/>
              </a:rPr>
              <a:t>WORKFLOW</a:t>
            </a:r>
            <a:endParaRPr sz="950">
              <a:latin typeface="Calibri"/>
              <a:cs typeface="Calibri"/>
            </a:endParaRPr>
          </a:p>
        </p:txBody>
      </p:sp>
      <p:grpSp>
        <p:nvGrpSpPr>
          <p:cNvPr id="22" name="object 22"/>
          <p:cNvGrpSpPr/>
          <p:nvPr/>
        </p:nvGrpSpPr>
        <p:grpSpPr>
          <a:xfrm>
            <a:off x="496823" y="5498591"/>
            <a:ext cx="1153795" cy="652780"/>
            <a:chOff x="496823" y="5498591"/>
            <a:chExt cx="1153795" cy="652780"/>
          </a:xfrm>
        </p:grpSpPr>
        <p:sp>
          <p:nvSpPr>
            <p:cNvPr id="23" name="object 23"/>
            <p:cNvSpPr/>
            <p:nvPr/>
          </p:nvSpPr>
          <p:spPr>
            <a:xfrm>
              <a:off x="502919" y="5504687"/>
              <a:ext cx="1141730" cy="640080"/>
            </a:xfrm>
            <a:custGeom>
              <a:avLst/>
              <a:gdLst/>
              <a:ahLst/>
              <a:cxnLst/>
              <a:rect l="l" t="t" r="r" b="b"/>
              <a:pathLst>
                <a:path w="1141730" h="640079">
                  <a:moveTo>
                    <a:pt x="1068324" y="0"/>
                  </a:moveTo>
                  <a:lnTo>
                    <a:pt x="73151" y="0"/>
                  </a:lnTo>
                  <a:lnTo>
                    <a:pt x="44678" y="5750"/>
                  </a:lnTo>
                  <a:lnTo>
                    <a:pt x="21426" y="21431"/>
                  </a:lnTo>
                  <a:lnTo>
                    <a:pt x="5748" y="44684"/>
                  </a:lnTo>
                  <a:lnTo>
                    <a:pt x="0" y="73152"/>
                  </a:lnTo>
                  <a:lnTo>
                    <a:pt x="0" y="566928"/>
                  </a:lnTo>
                  <a:lnTo>
                    <a:pt x="5748" y="595401"/>
                  </a:lnTo>
                  <a:lnTo>
                    <a:pt x="21426" y="618653"/>
                  </a:lnTo>
                  <a:lnTo>
                    <a:pt x="44678" y="634331"/>
                  </a:lnTo>
                  <a:lnTo>
                    <a:pt x="73151" y="640080"/>
                  </a:lnTo>
                  <a:lnTo>
                    <a:pt x="1068324" y="640080"/>
                  </a:lnTo>
                  <a:lnTo>
                    <a:pt x="1096791" y="634331"/>
                  </a:lnTo>
                  <a:lnTo>
                    <a:pt x="1120044" y="618653"/>
                  </a:lnTo>
                  <a:lnTo>
                    <a:pt x="1135725" y="595401"/>
                  </a:lnTo>
                  <a:lnTo>
                    <a:pt x="1141476" y="566928"/>
                  </a:lnTo>
                  <a:lnTo>
                    <a:pt x="1141476" y="73152"/>
                  </a:lnTo>
                  <a:lnTo>
                    <a:pt x="1135725" y="44684"/>
                  </a:lnTo>
                  <a:lnTo>
                    <a:pt x="1120044" y="21431"/>
                  </a:lnTo>
                  <a:lnTo>
                    <a:pt x="1096791" y="5750"/>
                  </a:lnTo>
                  <a:lnTo>
                    <a:pt x="1068324" y="0"/>
                  </a:lnTo>
                  <a:close/>
                </a:path>
              </a:pathLst>
            </a:custGeom>
            <a:solidFill>
              <a:srgbClr val="1F4D3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502919" y="5504687"/>
              <a:ext cx="1141730" cy="640080"/>
            </a:xfrm>
            <a:custGeom>
              <a:avLst/>
              <a:gdLst/>
              <a:ahLst/>
              <a:cxnLst/>
              <a:rect l="l" t="t" r="r" b="b"/>
              <a:pathLst>
                <a:path w="1141730" h="640079">
                  <a:moveTo>
                    <a:pt x="0" y="73152"/>
                  </a:moveTo>
                  <a:lnTo>
                    <a:pt x="5748" y="44684"/>
                  </a:lnTo>
                  <a:lnTo>
                    <a:pt x="21426" y="21431"/>
                  </a:lnTo>
                  <a:lnTo>
                    <a:pt x="44678" y="5750"/>
                  </a:lnTo>
                  <a:lnTo>
                    <a:pt x="73151" y="0"/>
                  </a:lnTo>
                  <a:lnTo>
                    <a:pt x="1068324" y="0"/>
                  </a:lnTo>
                  <a:lnTo>
                    <a:pt x="1096791" y="5750"/>
                  </a:lnTo>
                  <a:lnTo>
                    <a:pt x="1120044" y="21431"/>
                  </a:lnTo>
                  <a:lnTo>
                    <a:pt x="1135725" y="44684"/>
                  </a:lnTo>
                  <a:lnTo>
                    <a:pt x="1141476" y="73152"/>
                  </a:lnTo>
                  <a:lnTo>
                    <a:pt x="1141476" y="566928"/>
                  </a:lnTo>
                  <a:lnTo>
                    <a:pt x="1135725" y="595401"/>
                  </a:lnTo>
                  <a:lnTo>
                    <a:pt x="1120044" y="618653"/>
                  </a:lnTo>
                  <a:lnTo>
                    <a:pt x="1096791" y="634331"/>
                  </a:lnTo>
                  <a:lnTo>
                    <a:pt x="1068324" y="640080"/>
                  </a:lnTo>
                  <a:lnTo>
                    <a:pt x="73151" y="640080"/>
                  </a:lnTo>
                  <a:lnTo>
                    <a:pt x="44678" y="634331"/>
                  </a:lnTo>
                  <a:lnTo>
                    <a:pt x="21426" y="618653"/>
                  </a:lnTo>
                  <a:lnTo>
                    <a:pt x="5748" y="595401"/>
                  </a:lnTo>
                  <a:lnTo>
                    <a:pt x="0" y="566928"/>
                  </a:lnTo>
                  <a:lnTo>
                    <a:pt x="0" y="73152"/>
                  </a:lnTo>
                  <a:close/>
                </a:path>
              </a:pathLst>
            </a:custGeom>
            <a:ln w="12192">
              <a:solidFill>
                <a:srgbClr val="1F4D3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5" name="object 25"/>
          <p:cNvSpPr txBox="1"/>
          <p:nvPr/>
        </p:nvSpPr>
        <p:spPr>
          <a:xfrm>
            <a:off x="847140" y="5644083"/>
            <a:ext cx="453390" cy="34671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defRPr sz="1000" b="1">
                <a:solidFill>
                  <a:srgbClr val="FFFFFF"/>
                </a:solidFill>
                <a:latin typeface="Calibri"/>
              </a:defRPr>
            </a:pPr>
            <a:r>
              <a:t>DigiLocker</a:t>
            </a:r>
          </a:p>
        </p:txBody>
      </p:sp>
      <p:sp>
        <p:nvSpPr>
          <p:cNvPr id="26" name="object 26"/>
          <p:cNvSpPr txBox="1"/>
          <p:nvPr/>
        </p:nvSpPr>
        <p:spPr>
          <a:xfrm>
            <a:off x="1708785" y="5712663"/>
            <a:ext cx="16383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spc="-50" dirty="0">
                <a:solidFill>
                  <a:srgbClr val="C8A83E"/>
                </a:solidFill>
                <a:latin typeface="Calibri"/>
                <a:cs typeface="Calibri"/>
              </a:rPr>
              <a:t>→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27" name="object 27"/>
          <p:cNvGrpSpPr/>
          <p:nvPr/>
        </p:nvGrpSpPr>
        <p:grpSpPr>
          <a:xfrm>
            <a:off x="1930907" y="5498591"/>
            <a:ext cx="1155700" cy="652780"/>
            <a:chOff x="1930907" y="5498591"/>
            <a:chExt cx="1155700" cy="652780"/>
          </a:xfrm>
        </p:grpSpPr>
        <p:sp>
          <p:nvSpPr>
            <p:cNvPr id="28" name="object 28"/>
            <p:cNvSpPr/>
            <p:nvPr/>
          </p:nvSpPr>
          <p:spPr>
            <a:xfrm>
              <a:off x="1937003" y="5504687"/>
              <a:ext cx="1143000" cy="640080"/>
            </a:xfrm>
            <a:custGeom>
              <a:avLst/>
              <a:gdLst/>
              <a:ahLst/>
              <a:cxnLst/>
              <a:rect l="l" t="t" r="r" b="b"/>
              <a:pathLst>
                <a:path w="1143000" h="640079">
                  <a:moveTo>
                    <a:pt x="1069847" y="0"/>
                  </a:moveTo>
                  <a:lnTo>
                    <a:pt x="73151" y="0"/>
                  </a:lnTo>
                  <a:lnTo>
                    <a:pt x="44684" y="5750"/>
                  </a:lnTo>
                  <a:lnTo>
                    <a:pt x="21431" y="21431"/>
                  </a:lnTo>
                  <a:lnTo>
                    <a:pt x="5750" y="44684"/>
                  </a:lnTo>
                  <a:lnTo>
                    <a:pt x="0" y="73152"/>
                  </a:lnTo>
                  <a:lnTo>
                    <a:pt x="0" y="566928"/>
                  </a:lnTo>
                  <a:lnTo>
                    <a:pt x="5750" y="595401"/>
                  </a:lnTo>
                  <a:lnTo>
                    <a:pt x="21431" y="618653"/>
                  </a:lnTo>
                  <a:lnTo>
                    <a:pt x="44684" y="634331"/>
                  </a:lnTo>
                  <a:lnTo>
                    <a:pt x="73151" y="640080"/>
                  </a:lnTo>
                  <a:lnTo>
                    <a:pt x="1069847" y="640080"/>
                  </a:lnTo>
                  <a:lnTo>
                    <a:pt x="1098315" y="634331"/>
                  </a:lnTo>
                  <a:lnTo>
                    <a:pt x="1121568" y="618653"/>
                  </a:lnTo>
                  <a:lnTo>
                    <a:pt x="1137249" y="595401"/>
                  </a:lnTo>
                  <a:lnTo>
                    <a:pt x="1143000" y="566928"/>
                  </a:lnTo>
                  <a:lnTo>
                    <a:pt x="1143000" y="73152"/>
                  </a:lnTo>
                  <a:lnTo>
                    <a:pt x="1137249" y="44684"/>
                  </a:lnTo>
                  <a:lnTo>
                    <a:pt x="1121568" y="21431"/>
                  </a:lnTo>
                  <a:lnTo>
                    <a:pt x="1098315" y="5750"/>
                  </a:lnTo>
                  <a:lnTo>
                    <a:pt x="1069847" y="0"/>
                  </a:lnTo>
                  <a:close/>
                </a:path>
              </a:pathLst>
            </a:custGeom>
            <a:solidFill>
              <a:srgbClr val="E6F3E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29"/>
            <p:cNvSpPr/>
            <p:nvPr/>
          </p:nvSpPr>
          <p:spPr>
            <a:xfrm>
              <a:off x="1937003" y="5504687"/>
              <a:ext cx="1143000" cy="640080"/>
            </a:xfrm>
            <a:custGeom>
              <a:avLst/>
              <a:gdLst/>
              <a:ahLst/>
              <a:cxnLst/>
              <a:rect l="l" t="t" r="r" b="b"/>
              <a:pathLst>
                <a:path w="1143000" h="640079">
                  <a:moveTo>
                    <a:pt x="0" y="73152"/>
                  </a:moveTo>
                  <a:lnTo>
                    <a:pt x="5750" y="44684"/>
                  </a:lnTo>
                  <a:lnTo>
                    <a:pt x="21431" y="21431"/>
                  </a:lnTo>
                  <a:lnTo>
                    <a:pt x="44684" y="5750"/>
                  </a:lnTo>
                  <a:lnTo>
                    <a:pt x="73151" y="0"/>
                  </a:lnTo>
                  <a:lnTo>
                    <a:pt x="1069847" y="0"/>
                  </a:lnTo>
                  <a:lnTo>
                    <a:pt x="1098315" y="5750"/>
                  </a:lnTo>
                  <a:lnTo>
                    <a:pt x="1121568" y="21431"/>
                  </a:lnTo>
                  <a:lnTo>
                    <a:pt x="1137249" y="44684"/>
                  </a:lnTo>
                  <a:lnTo>
                    <a:pt x="1143000" y="73152"/>
                  </a:lnTo>
                  <a:lnTo>
                    <a:pt x="1143000" y="566928"/>
                  </a:lnTo>
                  <a:lnTo>
                    <a:pt x="1137249" y="595401"/>
                  </a:lnTo>
                  <a:lnTo>
                    <a:pt x="1121568" y="618653"/>
                  </a:lnTo>
                  <a:lnTo>
                    <a:pt x="1098315" y="634331"/>
                  </a:lnTo>
                  <a:lnTo>
                    <a:pt x="1069847" y="640080"/>
                  </a:lnTo>
                  <a:lnTo>
                    <a:pt x="73151" y="640080"/>
                  </a:lnTo>
                  <a:lnTo>
                    <a:pt x="44684" y="634331"/>
                  </a:lnTo>
                  <a:lnTo>
                    <a:pt x="21431" y="618653"/>
                  </a:lnTo>
                  <a:lnTo>
                    <a:pt x="5750" y="595401"/>
                  </a:lnTo>
                  <a:lnTo>
                    <a:pt x="0" y="566928"/>
                  </a:lnTo>
                  <a:lnTo>
                    <a:pt x="0" y="73152"/>
                  </a:lnTo>
                  <a:close/>
                </a:path>
              </a:pathLst>
            </a:custGeom>
            <a:ln w="12192">
              <a:solidFill>
                <a:srgbClr val="1F4D3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0" name="object 30"/>
          <p:cNvSpPr txBox="1"/>
          <p:nvPr/>
        </p:nvSpPr>
        <p:spPr>
          <a:xfrm>
            <a:off x="2222373" y="5644083"/>
            <a:ext cx="571500" cy="34671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defRPr sz="1000" b="1">
                <a:solidFill>
                  <a:srgbClr val="FFFFFF"/>
                </a:solidFill>
                <a:latin typeface="Calibri"/>
              </a:defRPr>
            </a:pPr>
            <a:r>
              <a:t>Face Match</a:t>
            </a:r>
          </a:p>
        </p:txBody>
      </p:sp>
      <p:sp>
        <p:nvSpPr>
          <p:cNvPr id="31" name="object 31"/>
          <p:cNvSpPr txBox="1"/>
          <p:nvPr/>
        </p:nvSpPr>
        <p:spPr>
          <a:xfrm>
            <a:off x="3143504" y="5712663"/>
            <a:ext cx="16383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spc="-50" dirty="0">
                <a:solidFill>
                  <a:srgbClr val="C8A83E"/>
                </a:solidFill>
                <a:latin typeface="Calibri"/>
                <a:cs typeface="Calibri"/>
              </a:rPr>
              <a:t>→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32" name="object 32"/>
          <p:cNvGrpSpPr/>
          <p:nvPr/>
        </p:nvGrpSpPr>
        <p:grpSpPr>
          <a:xfrm>
            <a:off x="3366515" y="5498591"/>
            <a:ext cx="1153795" cy="652780"/>
            <a:chOff x="3366515" y="5498591"/>
            <a:chExt cx="1153795" cy="652780"/>
          </a:xfrm>
        </p:grpSpPr>
        <p:sp>
          <p:nvSpPr>
            <p:cNvPr id="33" name="object 33"/>
            <p:cNvSpPr/>
            <p:nvPr/>
          </p:nvSpPr>
          <p:spPr>
            <a:xfrm>
              <a:off x="3372611" y="5504687"/>
              <a:ext cx="1141730" cy="640080"/>
            </a:xfrm>
            <a:custGeom>
              <a:avLst/>
              <a:gdLst/>
              <a:ahLst/>
              <a:cxnLst/>
              <a:rect l="l" t="t" r="r" b="b"/>
              <a:pathLst>
                <a:path w="1141729" h="640079">
                  <a:moveTo>
                    <a:pt x="1068324" y="0"/>
                  </a:moveTo>
                  <a:lnTo>
                    <a:pt x="73151" y="0"/>
                  </a:lnTo>
                  <a:lnTo>
                    <a:pt x="44684" y="5750"/>
                  </a:lnTo>
                  <a:lnTo>
                    <a:pt x="21431" y="21431"/>
                  </a:lnTo>
                  <a:lnTo>
                    <a:pt x="5750" y="44684"/>
                  </a:lnTo>
                  <a:lnTo>
                    <a:pt x="0" y="73152"/>
                  </a:lnTo>
                  <a:lnTo>
                    <a:pt x="0" y="566928"/>
                  </a:lnTo>
                  <a:lnTo>
                    <a:pt x="5750" y="595401"/>
                  </a:lnTo>
                  <a:lnTo>
                    <a:pt x="21431" y="618653"/>
                  </a:lnTo>
                  <a:lnTo>
                    <a:pt x="44684" y="634331"/>
                  </a:lnTo>
                  <a:lnTo>
                    <a:pt x="73151" y="640080"/>
                  </a:lnTo>
                  <a:lnTo>
                    <a:pt x="1068324" y="640080"/>
                  </a:lnTo>
                  <a:lnTo>
                    <a:pt x="1096791" y="634331"/>
                  </a:lnTo>
                  <a:lnTo>
                    <a:pt x="1120044" y="618653"/>
                  </a:lnTo>
                  <a:lnTo>
                    <a:pt x="1135725" y="595401"/>
                  </a:lnTo>
                  <a:lnTo>
                    <a:pt x="1141476" y="566928"/>
                  </a:lnTo>
                  <a:lnTo>
                    <a:pt x="1141476" y="73152"/>
                  </a:lnTo>
                  <a:lnTo>
                    <a:pt x="1135725" y="44684"/>
                  </a:lnTo>
                  <a:lnTo>
                    <a:pt x="1120044" y="21431"/>
                  </a:lnTo>
                  <a:lnTo>
                    <a:pt x="1096791" y="5750"/>
                  </a:lnTo>
                  <a:lnTo>
                    <a:pt x="1068324" y="0"/>
                  </a:lnTo>
                  <a:close/>
                </a:path>
              </a:pathLst>
            </a:custGeom>
            <a:solidFill>
              <a:srgbClr val="E6F3E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4" name="object 34"/>
            <p:cNvSpPr/>
            <p:nvPr/>
          </p:nvSpPr>
          <p:spPr>
            <a:xfrm>
              <a:off x="3372611" y="5504687"/>
              <a:ext cx="1141730" cy="640080"/>
            </a:xfrm>
            <a:custGeom>
              <a:avLst/>
              <a:gdLst/>
              <a:ahLst/>
              <a:cxnLst/>
              <a:rect l="l" t="t" r="r" b="b"/>
              <a:pathLst>
                <a:path w="1141729" h="640079">
                  <a:moveTo>
                    <a:pt x="0" y="73152"/>
                  </a:moveTo>
                  <a:lnTo>
                    <a:pt x="5750" y="44684"/>
                  </a:lnTo>
                  <a:lnTo>
                    <a:pt x="21431" y="21431"/>
                  </a:lnTo>
                  <a:lnTo>
                    <a:pt x="44684" y="5750"/>
                  </a:lnTo>
                  <a:lnTo>
                    <a:pt x="73151" y="0"/>
                  </a:lnTo>
                  <a:lnTo>
                    <a:pt x="1068324" y="0"/>
                  </a:lnTo>
                  <a:lnTo>
                    <a:pt x="1096791" y="5750"/>
                  </a:lnTo>
                  <a:lnTo>
                    <a:pt x="1120044" y="21431"/>
                  </a:lnTo>
                  <a:lnTo>
                    <a:pt x="1135725" y="44684"/>
                  </a:lnTo>
                  <a:lnTo>
                    <a:pt x="1141476" y="73152"/>
                  </a:lnTo>
                  <a:lnTo>
                    <a:pt x="1141476" y="566928"/>
                  </a:lnTo>
                  <a:lnTo>
                    <a:pt x="1135725" y="595401"/>
                  </a:lnTo>
                  <a:lnTo>
                    <a:pt x="1120044" y="618653"/>
                  </a:lnTo>
                  <a:lnTo>
                    <a:pt x="1096791" y="634331"/>
                  </a:lnTo>
                  <a:lnTo>
                    <a:pt x="1068324" y="640080"/>
                  </a:lnTo>
                  <a:lnTo>
                    <a:pt x="73151" y="640080"/>
                  </a:lnTo>
                  <a:lnTo>
                    <a:pt x="44684" y="634331"/>
                  </a:lnTo>
                  <a:lnTo>
                    <a:pt x="21431" y="618653"/>
                  </a:lnTo>
                  <a:lnTo>
                    <a:pt x="5750" y="595401"/>
                  </a:lnTo>
                  <a:lnTo>
                    <a:pt x="0" y="566928"/>
                  </a:lnTo>
                  <a:lnTo>
                    <a:pt x="0" y="73152"/>
                  </a:lnTo>
                  <a:close/>
                </a:path>
              </a:pathLst>
            </a:custGeom>
            <a:ln w="12192">
              <a:solidFill>
                <a:srgbClr val="1F4D3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5" name="object 35"/>
          <p:cNvSpPr txBox="1"/>
          <p:nvPr/>
        </p:nvSpPr>
        <p:spPr>
          <a:xfrm>
            <a:off x="3654044" y="5644083"/>
            <a:ext cx="578485" cy="34671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defRPr sz="1000" b="1">
                <a:solidFill>
                  <a:srgbClr val="FFFFFF"/>
                </a:solidFill>
                <a:latin typeface="Calibri"/>
              </a:defRPr>
            </a:pPr>
            <a:r>
              <a:t>OCR Check</a:t>
            </a:r>
          </a:p>
        </p:txBody>
      </p:sp>
      <p:sp>
        <p:nvSpPr>
          <p:cNvPr id="36" name="object 36"/>
          <p:cNvSpPr txBox="1"/>
          <p:nvPr/>
        </p:nvSpPr>
        <p:spPr>
          <a:xfrm>
            <a:off x="4578222" y="5712663"/>
            <a:ext cx="16383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spc="-50" dirty="0">
                <a:solidFill>
                  <a:srgbClr val="C8A83E"/>
                </a:solidFill>
                <a:latin typeface="Calibri"/>
                <a:cs typeface="Calibri"/>
              </a:rPr>
              <a:t>→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37" name="object 37"/>
          <p:cNvGrpSpPr/>
          <p:nvPr/>
        </p:nvGrpSpPr>
        <p:grpSpPr>
          <a:xfrm>
            <a:off x="4800600" y="5498591"/>
            <a:ext cx="1153795" cy="652780"/>
            <a:chOff x="4800600" y="5498591"/>
            <a:chExt cx="1153795" cy="652780"/>
          </a:xfrm>
        </p:grpSpPr>
        <p:sp>
          <p:nvSpPr>
            <p:cNvPr id="38" name="object 38"/>
            <p:cNvSpPr/>
            <p:nvPr/>
          </p:nvSpPr>
          <p:spPr>
            <a:xfrm>
              <a:off x="4806695" y="5504687"/>
              <a:ext cx="1141730" cy="640080"/>
            </a:xfrm>
            <a:custGeom>
              <a:avLst/>
              <a:gdLst/>
              <a:ahLst/>
              <a:cxnLst/>
              <a:rect l="l" t="t" r="r" b="b"/>
              <a:pathLst>
                <a:path w="1141729" h="640079">
                  <a:moveTo>
                    <a:pt x="1068324" y="0"/>
                  </a:moveTo>
                  <a:lnTo>
                    <a:pt x="73151" y="0"/>
                  </a:lnTo>
                  <a:lnTo>
                    <a:pt x="44684" y="5750"/>
                  </a:lnTo>
                  <a:lnTo>
                    <a:pt x="21431" y="21431"/>
                  </a:lnTo>
                  <a:lnTo>
                    <a:pt x="5750" y="44684"/>
                  </a:lnTo>
                  <a:lnTo>
                    <a:pt x="0" y="73152"/>
                  </a:lnTo>
                  <a:lnTo>
                    <a:pt x="0" y="566928"/>
                  </a:lnTo>
                  <a:lnTo>
                    <a:pt x="5750" y="595401"/>
                  </a:lnTo>
                  <a:lnTo>
                    <a:pt x="21431" y="618653"/>
                  </a:lnTo>
                  <a:lnTo>
                    <a:pt x="44684" y="634331"/>
                  </a:lnTo>
                  <a:lnTo>
                    <a:pt x="73151" y="640080"/>
                  </a:lnTo>
                  <a:lnTo>
                    <a:pt x="1068324" y="640080"/>
                  </a:lnTo>
                  <a:lnTo>
                    <a:pt x="1096791" y="634331"/>
                  </a:lnTo>
                  <a:lnTo>
                    <a:pt x="1120044" y="618653"/>
                  </a:lnTo>
                  <a:lnTo>
                    <a:pt x="1135725" y="595401"/>
                  </a:lnTo>
                  <a:lnTo>
                    <a:pt x="1141476" y="566928"/>
                  </a:lnTo>
                  <a:lnTo>
                    <a:pt x="1141476" y="73152"/>
                  </a:lnTo>
                  <a:lnTo>
                    <a:pt x="1135725" y="44684"/>
                  </a:lnTo>
                  <a:lnTo>
                    <a:pt x="1120044" y="21431"/>
                  </a:lnTo>
                  <a:lnTo>
                    <a:pt x="1096791" y="5750"/>
                  </a:lnTo>
                  <a:lnTo>
                    <a:pt x="1068324" y="0"/>
                  </a:lnTo>
                  <a:close/>
                </a:path>
              </a:pathLst>
            </a:custGeom>
            <a:solidFill>
              <a:srgbClr val="E6F3E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4806695" y="5504687"/>
              <a:ext cx="1141730" cy="640080"/>
            </a:xfrm>
            <a:custGeom>
              <a:avLst/>
              <a:gdLst/>
              <a:ahLst/>
              <a:cxnLst/>
              <a:rect l="l" t="t" r="r" b="b"/>
              <a:pathLst>
                <a:path w="1141729" h="640079">
                  <a:moveTo>
                    <a:pt x="0" y="73152"/>
                  </a:moveTo>
                  <a:lnTo>
                    <a:pt x="5750" y="44684"/>
                  </a:lnTo>
                  <a:lnTo>
                    <a:pt x="21431" y="21431"/>
                  </a:lnTo>
                  <a:lnTo>
                    <a:pt x="44684" y="5750"/>
                  </a:lnTo>
                  <a:lnTo>
                    <a:pt x="73151" y="0"/>
                  </a:lnTo>
                  <a:lnTo>
                    <a:pt x="1068324" y="0"/>
                  </a:lnTo>
                  <a:lnTo>
                    <a:pt x="1096791" y="5750"/>
                  </a:lnTo>
                  <a:lnTo>
                    <a:pt x="1120044" y="21431"/>
                  </a:lnTo>
                  <a:lnTo>
                    <a:pt x="1135725" y="44684"/>
                  </a:lnTo>
                  <a:lnTo>
                    <a:pt x="1141476" y="73152"/>
                  </a:lnTo>
                  <a:lnTo>
                    <a:pt x="1141476" y="566928"/>
                  </a:lnTo>
                  <a:lnTo>
                    <a:pt x="1135725" y="595401"/>
                  </a:lnTo>
                  <a:lnTo>
                    <a:pt x="1120044" y="618653"/>
                  </a:lnTo>
                  <a:lnTo>
                    <a:pt x="1096791" y="634331"/>
                  </a:lnTo>
                  <a:lnTo>
                    <a:pt x="1068324" y="640080"/>
                  </a:lnTo>
                  <a:lnTo>
                    <a:pt x="73151" y="640080"/>
                  </a:lnTo>
                  <a:lnTo>
                    <a:pt x="44684" y="634331"/>
                  </a:lnTo>
                  <a:lnTo>
                    <a:pt x="21431" y="618653"/>
                  </a:lnTo>
                  <a:lnTo>
                    <a:pt x="5750" y="595401"/>
                  </a:lnTo>
                  <a:lnTo>
                    <a:pt x="0" y="566928"/>
                  </a:lnTo>
                  <a:lnTo>
                    <a:pt x="0" y="73152"/>
                  </a:lnTo>
                  <a:close/>
                </a:path>
              </a:pathLst>
            </a:custGeom>
            <a:ln w="12192">
              <a:solidFill>
                <a:srgbClr val="1F4D3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5094859" y="5644083"/>
            <a:ext cx="567055" cy="34671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defRPr sz="1000" b="1">
                <a:solidFill>
                  <a:srgbClr val="FFFFFF"/>
                </a:solidFill>
                <a:latin typeface="Calibri"/>
              </a:defRPr>
            </a:pPr>
            <a:r>
              <a:t>EBM Score</a:t>
            </a:r>
          </a:p>
        </p:txBody>
      </p:sp>
      <p:sp>
        <p:nvSpPr>
          <p:cNvPr id="41" name="object 41"/>
          <p:cNvSpPr txBox="1"/>
          <p:nvPr/>
        </p:nvSpPr>
        <p:spPr>
          <a:xfrm>
            <a:off x="6012941" y="5712663"/>
            <a:ext cx="16383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spc="-50" dirty="0">
                <a:solidFill>
                  <a:srgbClr val="C8A83E"/>
                </a:solidFill>
                <a:latin typeface="Calibri"/>
                <a:cs typeface="Calibri"/>
              </a:rPr>
              <a:t>→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6234684" y="5498591"/>
            <a:ext cx="1153795" cy="652780"/>
            <a:chOff x="6234684" y="5498591"/>
            <a:chExt cx="1153795" cy="652780"/>
          </a:xfrm>
        </p:grpSpPr>
        <p:sp>
          <p:nvSpPr>
            <p:cNvPr id="43" name="object 43"/>
            <p:cNvSpPr/>
            <p:nvPr/>
          </p:nvSpPr>
          <p:spPr>
            <a:xfrm>
              <a:off x="6240780" y="5504687"/>
              <a:ext cx="1141730" cy="640080"/>
            </a:xfrm>
            <a:custGeom>
              <a:avLst/>
              <a:gdLst/>
              <a:ahLst/>
              <a:cxnLst/>
              <a:rect l="l" t="t" r="r" b="b"/>
              <a:pathLst>
                <a:path w="1141729" h="640079">
                  <a:moveTo>
                    <a:pt x="1068324" y="0"/>
                  </a:moveTo>
                  <a:lnTo>
                    <a:pt x="73152" y="0"/>
                  </a:lnTo>
                  <a:lnTo>
                    <a:pt x="44684" y="5750"/>
                  </a:lnTo>
                  <a:lnTo>
                    <a:pt x="21431" y="21431"/>
                  </a:lnTo>
                  <a:lnTo>
                    <a:pt x="5750" y="44684"/>
                  </a:lnTo>
                  <a:lnTo>
                    <a:pt x="0" y="73152"/>
                  </a:lnTo>
                  <a:lnTo>
                    <a:pt x="0" y="566928"/>
                  </a:lnTo>
                  <a:lnTo>
                    <a:pt x="5750" y="595401"/>
                  </a:lnTo>
                  <a:lnTo>
                    <a:pt x="21431" y="618653"/>
                  </a:lnTo>
                  <a:lnTo>
                    <a:pt x="44684" y="634331"/>
                  </a:lnTo>
                  <a:lnTo>
                    <a:pt x="73152" y="640080"/>
                  </a:lnTo>
                  <a:lnTo>
                    <a:pt x="1068324" y="640080"/>
                  </a:lnTo>
                  <a:lnTo>
                    <a:pt x="1096791" y="634331"/>
                  </a:lnTo>
                  <a:lnTo>
                    <a:pt x="1120044" y="618653"/>
                  </a:lnTo>
                  <a:lnTo>
                    <a:pt x="1135725" y="595401"/>
                  </a:lnTo>
                  <a:lnTo>
                    <a:pt x="1141476" y="566928"/>
                  </a:lnTo>
                  <a:lnTo>
                    <a:pt x="1141476" y="73152"/>
                  </a:lnTo>
                  <a:lnTo>
                    <a:pt x="1135725" y="44684"/>
                  </a:lnTo>
                  <a:lnTo>
                    <a:pt x="1120044" y="21431"/>
                  </a:lnTo>
                  <a:lnTo>
                    <a:pt x="1096791" y="5750"/>
                  </a:lnTo>
                  <a:lnTo>
                    <a:pt x="1068324" y="0"/>
                  </a:lnTo>
                  <a:close/>
                </a:path>
              </a:pathLst>
            </a:custGeom>
            <a:solidFill>
              <a:srgbClr val="E6F3E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6240780" y="5504687"/>
              <a:ext cx="1141730" cy="640080"/>
            </a:xfrm>
            <a:custGeom>
              <a:avLst/>
              <a:gdLst/>
              <a:ahLst/>
              <a:cxnLst/>
              <a:rect l="l" t="t" r="r" b="b"/>
              <a:pathLst>
                <a:path w="1141729" h="640079">
                  <a:moveTo>
                    <a:pt x="0" y="73152"/>
                  </a:moveTo>
                  <a:lnTo>
                    <a:pt x="5750" y="44684"/>
                  </a:lnTo>
                  <a:lnTo>
                    <a:pt x="21431" y="21431"/>
                  </a:lnTo>
                  <a:lnTo>
                    <a:pt x="44684" y="5750"/>
                  </a:lnTo>
                  <a:lnTo>
                    <a:pt x="73152" y="0"/>
                  </a:lnTo>
                  <a:lnTo>
                    <a:pt x="1068324" y="0"/>
                  </a:lnTo>
                  <a:lnTo>
                    <a:pt x="1096791" y="5750"/>
                  </a:lnTo>
                  <a:lnTo>
                    <a:pt x="1120044" y="21431"/>
                  </a:lnTo>
                  <a:lnTo>
                    <a:pt x="1135725" y="44684"/>
                  </a:lnTo>
                  <a:lnTo>
                    <a:pt x="1141476" y="73152"/>
                  </a:lnTo>
                  <a:lnTo>
                    <a:pt x="1141476" y="566928"/>
                  </a:lnTo>
                  <a:lnTo>
                    <a:pt x="1135725" y="595401"/>
                  </a:lnTo>
                  <a:lnTo>
                    <a:pt x="1120044" y="618653"/>
                  </a:lnTo>
                  <a:lnTo>
                    <a:pt x="1096791" y="634331"/>
                  </a:lnTo>
                  <a:lnTo>
                    <a:pt x="1068324" y="640080"/>
                  </a:lnTo>
                  <a:lnTo>
                    <a:pt x="73152" y="640080"/>
                  </a:lnTo>
                  <a:lnTo>
                    <a:pt x="44684" y="634331"/>
                  </a:lnTo>
                  <a:lnTo>
                    <a:pt x="21431" y="618653"/>
                  </a:lnTo>
                  <a:lnTo>
                    <a:pt x="5750" y="595401"/>
                  </a:lnTo>
                  <a:lnTo>
                    <a:pt x="0" y="566928"/>
                  </a:lnTo>
                  <a:lnTo>
                    <a:pt x="0" y="73152"/>
                  </a:lnTo>
                  <a:close/>
                </a:path>
              </a:pathLst>
            </a:custGeom>
            <a:ln w="12192">
              <a:solidFill>
                <a:srgbClr val="1F4D3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5" name="object 45"/>
          <p:cNvSpPr txBox="1"/>
          <p:nvPr/>
        </p:nvSpPr>
        <p:spPr>
          <a:xfrm>
            <a:off x="6506718" y="5644083"/>
            <a:ext cx="609600" cy="34671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defRPr sz="1000" b="1">
                <a:solidFill>
                  <a:srgbClr val="FFFFFF"/>
                </a:solidFill>
                <a:latin typeface="Calibri"/>
              </a:defRPr>
            </a:pPr>
            <a:r>
              <a:t>Rules</a:t>
            </a:r>
          </a:p>
        </p:txBody>
      </p:sp>
      <p:sp>
        <p:nvSpPr>
          <p:cNvPr id="46" name="object 46"/>
          <p:cNvSpPr txBox="1"/>
          <p:nvPr/>
        </p:nvSpPr>
        <p:spPr>
          <a:xfrm>
            <a:off x="7447280" y="5712663"/>
            <a:ext cx="16383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spc="-50" dirty="0">
                <a:solidFill>
                  <a:srgbClr val="C8A83E"/>
                </a:solidFill>
                <a:latin typeface="Calibri"/>
                <a:cs typeface="Calibri"/>
              </a:rPr>
              <a:t>→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47" name="object 47"/>
          <p:cNvGrpSpPr/>
          <p:nvPr/>
        </p:nvGrpSpPr>
        <p:grpSpPr>
          <a:xfrm>
            <a:off x="7668768" y="5498591"/>
            <a:ext cx="1155700" cy="652780"/>
            <a:chOff x="7668768" y="5498591"/>
            <a:chExt cx="1155700" cy="652780"/>
          </a:xfrm>
        </p:grpSpPr>
        <p:sp>
          <p:nvSpPr>
            <p:cNvPr id="48" name="object 48"/>
            <p:cNvSpPr/>
            <p:nvPr/>
          </p:nvSpPr>
          <p:spPr>
            <a:xfrm>
              <a:off x="7674864" y="5504687"/>
              <a:ext cx="1143000" cy="640080"/>
            </a:xfrm>
            <a:custGeom>
              <a:avLst/>
              <a:gdLst/>
              <a:ahLst/>
              <a:cxnLst/>
              <a:rect l="l" t="t" r="r" b="b"/>
              <a:pathLst>
                <a:path w="1143000" h="640079">
                  <a:moveTo>
                    <a:pt x="1069847" y="0"/>
                  </a:moveTo>
                  <a:lnTo>
                    <a:pt x="73151" y="0"/>
                  </a:lnTo>
                  <a:lnTo>
                    <a:pt x="44684" y="5750"/>
                  </a:lnTo>
                  <a:lnTo>
                    <a:pt x="21431" y="21431"/>
                  </a:lnTo>
                  <a:lnTo>
                    <a:pt x="5750" y="44684"/>
                  </a:lnTo>
                  <a:lnTo>
                    <a:pt x="0" y="73152"/>
                  </a:lnTo>
                  <a:lnTo>
                    <a:pt x="0" y="566928"/>
                  </a:lnTo>
                  <a:lnTo>
                    <a:pt x="5750" y="595401"/>
                  </a:lnTo>
                  <a:lnTo>
                    <a:pt x="21431" y="618653"/>
                  </a:lnTo>
                  <a:lnTo>
                    <a:pt x="44684" y="634331"/>
                  </a:lnTo>
                  <a:lnTo>
                    <a:pt x="73151" y="640080"/>
                  </a:lnTo>
                  <a:lnTo>
                    <a:pt x="1069847" y="640080"/>
                  </a:lnTo>
                  <a:lnTo>
                    <a:pt x="1098315" y="634331"/>
                  </a:lnTo>
                  <a:lnTo>
                    <a:pt x="1121568" y="618653"/>
                  </a:lnTo>
                  <a:lnTo>
                    <a:pt x="1137249" y="595401"/>
                  </a:lnTo>
                  <a:lnTo>
                    <a:pt x="1143000" y="566928"/>
                  </a:lnTo>
                  <a:lnTo>
                    <a:pt x="1143000" y="73152"/>
                  </a:lnTo>
                  <a:lnTo>
                    <a:pt x="1137249" y="44684"/>
                  </a:lnTo>
                  <a:lnTo>
                    <a:pt x="1121568" y="21431"/>
                  </a:lnTo>
                  <a:lnTo>
                    <a:pt x="1098315" y="5750"/>
                  </a:lnTo>
                  <a:lnTo>
                    <a:pt x="1069847" y="0"/>
                  </a:lnTo>
                  <a:close/>
                </a:path>
              </a:pathLst>
            </a:custGeom>
            <a:solidFill>
              <a:srgbClr val="E6F3E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9" name="object 49"/>
            <p:cNvSpPr/>
            <p:nvPr/>
          </p:nvSpPr>
          <p:spPr>
            <a:xfrm>
              <a:off x="7674864" y="5504687"/>
              <a:ext cx="1143000" cy="640080"/>
            </a:xfrm>
            <a:custGeom>
              <a:avLst/>
              <a:gdLst/>
              <a:ahLst/>
              <a:cxnLst/>
              <a:rect l="l" t="t" r="r" b="b"/>
              <a:pathLst>
                <a:path w="1143000" h="640079">
                  <a:moveTo>
                    <a:pt x="0" y="73152"/>
                  </a:moveTo>
                  <a:lnTo>
                    <a:pt x="5750" y="44684"/>
                  </a:lnTo>
                  <a:lnTo>
                    <a:pt x="21431" y="21431"/>
                  </a:lnTo>
                  <a:lnTo>
                    <a:pt x="44684" y="5750"/>
                  </a:lnTo>
                  <a:lnTo>
                    <a:pt x="73151" y="0"/>
                  </a:lnTo>
                  <a:lnTo>
                    <a:pt x="1069847" y="0"/>
                  </a:lnTo>
                  <a:lnTo>
                    <a:pt x="1098315" y="5750"/>
                  </a:lnTo>
                  <a:lnTo>
                    <a:pt x="1121568" y="21431"/>
                  </a:lnTo>
                  <a:lnTo>
                    <a:pt x="1137249" y="44684"/>
                  </a:lnTo>
                  <a:lnTo>
                    <a:pt x="1143000" y="73152"/>
                  </a:lnTo>
                  <a:lnTo>
                    <a:pt x="1143000" y="566928"/>
                  </a:lnTo>
                  <a:lnTo>
                    <a:pt x="1137249" y="595401"/>
                  </a:lnTo>
                  <a:lnTo>
                    <a:pt x="1121568" y="618653"/>
                  </a:lnTo>
                  <a:lnTo>
                    <a:pt x="1098315" y="634331"/>
                  </a:lnTo>
                  <a:lnTo>
                    <a:pt x="1069847" y="640080"/>
                  </a:lnTo>
                  <a:lnTo>
                    <a:pt x="73151" y="640080"/>
                  </a:lnTo>
                  <a:lnTo>
                    <a:pt x="44684" y="634331"/>
                  </a:lnTo>
                  <a:lnTo>
                    <a:pt x="21431" y="618653"/>
                  </a:lnTo>
                  <a:lnTo>
                    <a:pt x="5750" y="595401"/>
                  </a:lnTo>
                  <a:lnTo>
                    <a:pt x="0" y="566928"/>
                  </a:lnTo>
                  <a:lnTo>
                    <a:pt x="0" y="73152"/>
                  </a:lnTo>
                  <a:close/>
                </a:path>
              </a:pathLst>
            </a:custGeom>
            <a:ln w="12192">
              <a:solidFill>
                <a:srgbClr val="1F4D3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0" name="object 50"/>
          <p:cNvSpPr txBox="1"/>
          <p:nvPr/>
        </p:nvSpPr>
        <p:spPr>
          <a:xfrm>
            <a:off x="7922768" y="5644083"/>
            <a:ext cx="648335" cy="34671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defRPr sz="1000" b="1">
                <a:solidFill>
                  <a:srgbClr val="FFFFFF"/>
                </a:solidFill>
                <a:latin typeface="Calibri"/>
              </a:defRPr>
            </a:pPr>
            <a:r>
              <a:t>Reasons</a:t>
            </a:r>
          </a:p>
        </p:txBody>
      </p:sp>
      <p:sp>
        <p:nvSpPr>
          <p:cNvPr id="51" name="object 51"/>
          <p:cNvSpPr txBox="1"/>
          <p:nvPr/>
        </p:nvSpPr>
        <p:spPr>
          <a:xfrm>
            <a:off x="8881998" y="5712663"/>
            <a:ext cx="16383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spc="-50" dirty="0">
                <a:solidFill>
                  <a:srgbClr val="C8A83E"/>
                </a:solidFill>
                <a:latin typeface="Calibri"/>
                <a:cs typeface="Calibri"/>
              </a:rPr>
              <a:t>→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52" name="object 52"/>
          <p:cNvGrpSpPr/>
          <p:nvPr/>
        </p:nvGrpSpPr>
        <p:grpSpPr>
          <a:xfrm>
            <a:off x="9104376" y="5498591"/>
            <a:ext cx="1153795" cy="652780"/>
            <a:chOff x="9104376" y="5498591"/>
            <a:chExt cx="1153795" cy="652780"/>
          </a:xfrm>
        </p:grpSpPr>
        <p:sp>
          <p:nvSpPr>
            <p:cNvPr id="53" name="object 53"/>
            <p:cNvSpPr/>
            <p:nvPr/>
          </p:nvSpPr>
          <p:spPr>
            <a:xfrm>
              <a:off x="9110472" y="5504687"/>
              <a:ext cx="1141730" cy="640080"/>
            </a:xfrm>
            <a:custGeom>
              <a:avLst/>
              <a:gdLst/>
              <a:ahLst/>
              <a:cxnLst/>
              <a:rect l="l" t="t" r="r" b="b"/>
              <a:pathLst>
                <a:path w="1141729" h="640079">
                  <a:moveTo>
                    <a:pt x="1068324" y="0"/>
                  </a:moveTo>
                  <a:lnTo>
                    <a:pt x="73151" y="0"/>
                  </a:lnTo>
                  <a:lnTo>
                    <a:pt x="44684" y="5750"/>
                  </a:lnTo>
                  <a:lnTo>
                    <a:pt x="21431" y="21431"/>
                  </a:lnTo>
                  <a:lnTo>
                    <a:pt x="5750" y="44684"/>
                  </a:lnTo>
                  <a:lnTo>
                    <a:pt x="0" y="73152"/>
                  </a:lnTo>
                  <a:lnTo>
                    <a:pt x="0" y="566928"/>
                  </a:lnTo>
                  <a:lnTo>
                    <a:pt x="5750" y="595401"/>
                  </a:lnTo>
                  <a:lnTo>
                    <a:pt x="21431" y="618653"/>
                  </a:lnTo>
                  <a:lnTo>
                    <a:pt x="44684" y="634331"/>
                  </a:lnTo>
                  <a:lnTo>
                    <a:pt x="73151" y="640080"/>
                  </a:lnTo>
                  <a:lnTo>
                    <a:pt x="1068324" y="640080"/>
                  </a:lnTo>
                  <a:lnTo>
                    <a:pt x="1096791" y="634331"/>
                  </a:lnTo>
                  <a:lnTo>
                    <a:pt x="1120044" y="618653"/>
                  </a:lnTo>
                  <a:lnTo>
                    <a:pt x="1135725" y="595401"/>
                  </a:lnTo>
                  <a:lnTo>
                    <a:pt x="1141476" y="566928"/>
                  </a:lnTo>
                  <a:lnTo>
                    <a:pt x="1141476" y="73152"/>
                  </a:lnTo>
                  <a:lnTo>
                    <a:pt x="1135725" y="44684"/>
                  </a:lnTo>
                  <a:lnTo>
                    <a:pt x="1120044" y="21431"/>
                  </a:lnTo>
                  <a:lnTo>
                    <a:pt x="1096791" y="5750"/>
                  </a:lnTo>
                  <a:lnTo>
                    <a:pt x="1068324" y="0"/>
                  </a:lnTo>
                  <a:close/>
                </a:path>
              </a:pathLst>
            </a:custGeom>
            <a:solidFill>
              <a:srgbClr val="FFF7D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4" name="object 54"/>
            <p:cNvSpPr/>
            <p:nvPr/>
          </p:nvSpPr>
          <p:spPr>
            <a:xfrm>
              <a:off x="9110472" y="5504687"/>
              <a:ext cx="1141730" cy="640080"/>
            </a:xfrm>
            <a:custGeom>
              <a:avLst/>
              <a:gdLst/>
              <a:ahLst/>
              <a:cxnLst/>
              <a:rect l="l" t="t" r="r" b="b"/>
              <a:pathLst>
                <a:path w="1141729" h="640079">
                  <a:moveTo>
                    <a:pt x="0" y="73152"/>
                  </a:moveTo>
                  <a:lnTo>
                    <a:pt x="5750" y="44684"/>
                  </a:lnTo>
                  <a:lnTo>
                    <a:pt x="21431" y="21431"/>
                  </a:lnTo>
                  <a:lnTo>
                    <a:pt x="44684" y="5750"/>
                  </a:lnTo>
                  <a:lnTo>
                    <a:pt x="73151" y="0"/>
                  </a:lnTo>
                  <a:lnTo>
                    <a:pt x="1068324" y="0"/>
                  </a:lnTo>
                  <a:lnTo>
                    <a:pt x="1096791" y="5750"/>
                  </a:lnTo>
                  <a:lnTo>
                    <a:pt x="1120044" y="21431"/>
                  </a:lnTo>
                  <a:lnTo>
                    <a:pt x="1135725" y="44684"/>
                  </a:lnTo>
                  <a:lnTo>
                    <a:pt x="1141476" y="73152"/>
                  </a:lnTo>
                  <a:lnTo>
                    <a:pt x="1141476" y="566928"/>
                  </a:lnTo>
                  <a:lnTo>
                    <a:pt x="1135725" y="595401"/>
                  </a:lnTo>
                  <a:lnTo>
                    <a:pt x="1120044" y="618653"/>
                  </a:lnTo>
                  <a:lnTo>
                    <a:pt x="1096791" y="634331"/>
                  </a:lnTo>
                  <a:lnTo>
                    <a:pt x="1068324" y="640080"/>
                  </a:lnTo>
                  <a:lnTo>
                    <a:pt x="73151" y="640080"/>
                  </a:lnTo>
                  <a:lnTo>
                    <a:pt x="44684" y="634331"/>
                  </a:lnTo>
                  <a:lnTo>
                    <a:pt x="21431" y="618653"/>
                  </a:lnTo>
                  <a:lnTo>
                    <a:pt x="5750" y="595401"/>
                  </a:lnTo>
                  <a:lnTo>
                    <a:pt x="0" y="566928"/>
                  </a:lnTo>
                  <a:lnTo>
                    <a:pt x="0" y="73152"/>
                  </a:lnTo>
                  <a:close/>
                </a:path>
              </a:pathLst>
            </a:custGeom>
            <a:ln w="12192">
              <a:solidFill>
                <a:srgbClr val="C8A83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5" name="object 55"/>
          <p:cNvSpPr txBox="1"/>
          <p:nvPr/>
        </p:nvSpPr>
        <p:spPr>
          <a:xfrm>
            <a:off x="9400158" y="5644083"/>
            <a:ext cx="562610" cy="34671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defRPr sz="1000" b="1">
                <a:solidFill>
                  <a:srgbClr val="FFFFFF"/>
                </a:solidFill>
                <a:latin typeface="Calibri"/>
              </a:defRPr>
            </a:pPr>
            <a:r>
              <a:t>Audit Log</a:t>
            </a:r>
          </a:p>
        </p:txBody>
      </p:sp>
      <p:sp>
        <p:nvSpPr>
          <p:cNvPr id="56" name="object 56"/>
          <p:cNvSpPr txBox="1"/>
          <p:nvPr/>
        </p:nvSpPr>
        <p:spPr>
          <a:xfrm>
            <a:off x="10316718" y="5712663"/>
            <a:ext cx="16383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spc="-50" dirty="0">
                <a:solidFill>
                  <a:srgbClr val="C8A83E"/>
                </a:solidFill>
                <a:latin typeface="Calibri"/>
                <a:cs typeface="Calibri"/>
              </a:rPr>
              <a:t>→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57" name="object 57"/>
          <p:cNvGrpSpPr/>
          <p:nvPr/>
        </p:nvGrpSpPr>
        <p:grpSpPr>
          <a:xfrm>
            <a:off x="10538459" y="5498591"/>
            <a:ext cx="1153795" cy="652780"/>
            <a:chOff x="10538459" y="5498591"/>
            <a:chExt cx="1153795" cy="652780"/>
          </a:xfrm>
        </p:grpSpPr>
        <p:sp>
          <p:nvSpPr>
            <p:cNvPr id="58" name="object 58"/>
            <p:cNvSpPr/>
            <p:nvPr/>
          </p:nvSpPr>
          <p:spPr>
            <a:xfrm>
              <a:off x="10544555" y="5504687"/>
              <a:ext cx="1141730" cy="640080"/>
            </a:xfrm>
            <a:custGeom>
              <a:avLst/>
              <a:gdLst/>
              <a:ahLst/>
              <a:cxnLst/>
              <a:rect l="l" t="t" r="r" b="b"/>
              <a:pathLst>
                <a:path w="1141729" h="640079">
                  <a:moveTo>
                    <a:pt x="1068324" y="0"/>
                  </a:moveTo>
                  <a:lnTo>
                    <a:pt x="73151" y="0"/>
                  </a:lnTo>
                  <a:lnTo>
                    <a:pt x="44684" y="5750"/>
                  </a:lnTo>
                  <a:lnTo>
                    <a:pt x="21431" y="21431"/>
                  </a:lnTo>
                  <a:lnTo>
                    <a:pt x="5750" y="44684"/>
                  </a:lnTo>
                  <a:lnTo>
                    <a:pt x="0" y="73152"/>
                  </a:lnTo>
                  <a:lnTo>
                    <a:pt x="0" y="566928"/>
                  </a:lnTo>
                  <a:lnTo>
                    <a:pt x="5750" y="595401"/>
                  </a:lnTo>
                  <a:lnTo>
                    <a:pt x="21431" y="618653"/>
                  </a:lnTo>
                  <a:lnTo>
                    <a:pt x="44684" y="634331"/>
                  </a:lnTo>
                  <a:lnTo>
                    <a:pt x="73151" y="640080"/>
                  </a:lnTo>
                  <a:lnTo>
                    <a:pt x="1068324" y="640080"/>
                  </a:lnTo>
                  <a:lnTo>
                    <a:pt x="1096791" y="634331"/>
                  </a:lnTo>
                  <a:lnTo>
                    <a:pt x="1120044" y="618653"/>
                  </a:lnTo>
                  <a:lnTo>
                    <a:pt x="1135725" y="595401"/>
                  </a:lnTo>
                  <a:lnTo>
                    <a:pt x="1141476" y="566928"/>
                  </a:lnTo>
                  <a:lnTo>
                    <a:pt x="1141476" y="73152"/>
                  </a:lnTo>
                  <a:lnTo>
                    <a:pt x="1135725" y="44684"/>
                  </a:lnTo>
                  <a:lnTo>
                    <a:pt x="1120044" y="21431"/>
                  </a:lnTo>
                  <a:lnTo>
                    <a:pt x="1096791" y="5750"/>
                  </a:lnTo>
                  <a:lnTo>
                    <a:pt x="1068324" y="0"/>
                  </a:lnTo>
                  <a:close/>
                </a:path>
              </a:pathLst>
            </a:custGeom>
            <a:solidFill>
              <a:srgbClr val="1F4D3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9" name="object 59"/>
            <p:cNvSpPr/>
            <p:nvPr/>
          </p:nvSpPr>
          <p:spPr>
            <a:xfrm>
              <a:off x="10544555" y="5504687"/>
              <a:ext cx="1141730" cy="640080"/>
            </a:xfrm>
            <a:custGeom>
              <a:avLst/>
              <a:gdLst/>
              <a:ahLst/>
              <a:cxnLst/>
              <a:rect l="l" t="t" r="r" b="b"/>
              <a:pathLst>
                <a:path w="1141729" h="640079">
                  <a:moveTo>
                    <a:pt x="0" y="73152"/>
                  </a:moveTo>
                  <a:lnTo>
                    <a:pt x="5750" y="44684"/>
                  </a:lnTo>
                  <a:lnTo>
                    <a:pt x="21431" y="21431"/>
                  </a:lnTo>
                  <a:lnTo>
                    <a:pt x="44684" y="5750"/>
                  </a:lnTo>
                  <a:lnTo>
                    <a:pt x="73151" y="0"/>
                  </a:lnTo>
                  <a:lnTo>
                    <a:pt x="1068324" y="0"/>
                  </a:lnTo>
                  <a:lnTo>
                    <a:pt x="1096791" y="5750"/>
                  </a:lnTo>
                  <a:lnTo>
                    <a:pt x="1120044" y="21431"/>
                  </a:lnTo>
                  <a:lnTo>
                    <a:pt x="1135725" y="44684"/>
                  </a:lnTo>
                  <a:lnTo>
                    <a:pt x="1141476" y="73152"/>
                  </a:lnTo>
                  <a:lnTo>
                    <a:pt x="1141476" y="566928"/>
                  </a:lnTo>
                  <a:lnTo>
                    <a:pt x="1135725" y="595401"/>
                  </a:lnTo>
                  <a:lnTo>
                    <a:pt x="1120044" y="618653"/>
                  </a:lnTo>
                  <a:lnTo>
                    <a:pt x="1096791" y="634331"/>
                  </a:lnTo>
                  <a:lnTo>
                    <a:pt x="1068324" y="640080"/>
                  </a:lnTo>
                  <a:lnTo>
                    <a:pt x="73151" y="640080"/>
                  </a:lnTo>
                  <a:lnTo>
                    <a:pt x="44684" y="634331"/>
                  </a:lnTo>
                  <a:lnTo>
                    <a:pt x="21431" y="618653"/>
                  </a:lnTo>
                  <a:lnTo>
                    <a:pt x="5750" y="595401"/>
                  </a:lnTo>
                  <a:lnTo>
                    <a:pt x="0" y="566928"/>
                  </a:lnTo>
                  <a:lnTo>
                    <a:pt x="0" y="73152"/>
                  </a:lnTo>
                  <a:close/>
                </a:path>
              </a:pathLst>
            </a:custGeom>
            <a:ln w="12192">
              <a:solidFill>
                <a:srgbClr val="1F4D3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0" name="object 60"/>
          <p:cNvSpPr txBox="1"/>
          <p:nvPr/>
        </p:nvSpPr>
        <p:spPr>
          <a:xfrm>
            <a:off x="10802873" y="5723940"/>
            <a:ext cx="628650" cy="18669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defRPr sz="1000" b="1">
                <a:solidFill>
                  <a:srgbClr val="FFFFFF"/>
                </a:solidFill>
                <a:latin typeface="Calibri"/>
              </a:defRPr>
            </a:pPr>
            <a:r>
              <a:t>Verdict</a:t>
            </a:r>
          </a:p>
        </p:txBody>
      </p:sp>
      <p:sp>
        <p:nvSpPr>
          <p:cNvPr id="62" name="object 62"/>
          <p:cNvSpPr txBox="1">
            <a:spLocks noGrp="1"/>
          </p:cNvSpPr>
          <p:nvPr>
            <p:ph type="dt" sz="half" idx="6"/>
          </p:nvPr>
        </p:nvSpPr>
        <p:spPr>
          <a:xfrm>
            <a:off x="490219" y="6531584"/>
            <a:ext cx="610235" cy="11541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910"/>
              </a:lnSpc>
            </a:pPr>
            <a:r>
              <a:rPr spc="-10" dirty="0"/>
              <a:t>[3</a:t>
            </a:r>
            <a:r>
              <a:rPr lang="en-US" spc="-10" dirty="0"/>
              <a:t>1</a:t>
            </a:r>
            <a:r>
              <a:rPr spc="-10" dirty="0"/>
              <a:t>/10/2026]</a:t>
            </a:r>
          </a:p>
        </p:txBody>
      </p:sp>
      <p:sp>
        <p:nvSpPr>
          <p:cNvPr id="63" name="object 63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910"/>
              </a:lnSpc>
            </a:pPr>
            <a:r>
              <a:rPr spc="-10" dirty="0"/>
              <a:t>Smart Digital Lending System with AI-Based Risk Analysis</a:t>
            </a:r>
          </a:p>
        </p:txBody>
      </p:sp>
      <p:sp>
        <p:nvSpPr>
          <p:cNvPr id="61" name="object 61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955"/>
              </a:lnSpc>
            </a:pPr>
            <a:fld id="{81D60167-4931-47E6-BA6A-407CBD079E47}" type="slidenum">
              <a:rPr spc="-25" dirty="0"/>
              <a:t>2</a:t>
            </a:fld>
            <a:endParaRPr spc="-25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10" dirty="0"/>
              <a:t>PROBLEM</a:t>
            </a:r>
            <a:r>
              <a:rPr spc="-55" dirty="0"/>
              <a:t> </a:t>
            </a:r>
            <a:r>
              <a:rPr spc="-85" dirty="0"/>
              <a:t>STATEMENT</a:t>
            </a:r>
            <a:r>
              <a:rPr spc="-60" dirty="0"/>
              <a:t> </a:t>
            </a:r>
            <a:r>
              <a:rPr dirty="0"/>
              <a:t>AND</a:t>
            </a:r>
            <a:r>
              <a:rPr spc="-60" dirty="0"/>
              <a:t> </a:t>
            </a:r>
            <a:r>
              <a:rPr spc="-25" dirty="0"/>
              <a:t>MOTIVATION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90219" y="965962"/>
            <a:ext cx="3391535" cy="19367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defRPr sz="1100" b="0">
                <a:solidFill>
                  <a:srgbClr val="6B6B6B"/>
                </a:solidFill>
                <a:latin typeface="Calibri"/>
              </a:defRPr>
            </a:pPr>
            <a:r>
              <a:t>The 4 Critical Problems in Current Loan Processing and Why We Solve Them</a:t>
            </a:r>
          </a:p>
        </p:txBody>
      </p:sp>
      <p:sp>
        <p:nvSpPr>
          <p:cNvPr id="4" name="object 4"/>
          <p:cNvSpPr/>
          <p:nvPr/>
        </p:nvSpPr>
        <p:spPr>
          <a:xfrm>
            <a:off x="502919" y="1298447"/>
            <a:ext cx="11183620" cy="0"/>
          </a:xfrm>
          <a:custGeom>
            <a:avLst/>
            <a:gdLst/>
            <a:ahLst/>
            <a:cxnLst/>
            <a:rect l="l" t="t" r="r" b="b"/>
            <a:pathLst>
              <a:path w="11183620">
                <a:moveTo>
                  <a:pt x="0" y="0"/>
                </a:moveTo>
                <a:lnTo>
                  <a:pt x="11183112" y="0"/>
                </a:lnTo>
              </a:path>
            </a:pathLst>
          </a:custGeom>
          <a:ln w="12192">
            <a:solidFill>
              <a:srgbClr val="C8A83E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502919" y="1508760"/>
            <a:ext cx="6949440" cy="329565"/>
          </a:xfrm>
          <a:custGeom>
            <a:avLst/>
            <a:gdLst/>
            <a:ahLst/>
            <a:cxnLst/>
            <a:rect l="l" t="t" r="r" b="b"/>
            <a:pathLst>
              <a:path w="6949440" h="329564">
                <a:moveTo>
                  <a:pt x="0" y="329184"/>
                </a:moveTo>
                <a:lnTo>
                  <a:pt x="6949440" y="329184"/>
                </a:lnTo>
                <a:lnTo>
                  <a:pt x="6949440" y="0"/>
                </a:lnTo>
                <a:lnTo>
                  <a:pt x="0" y="0"/>
                </a:lnTo>
                <a:lnTo>
                  <a:pt x="0" y="329184"/>
                </a:lnTo>
                <a:close/>
              </a:path>
            </a:pathLst>
          </a:custGeom>
          <a:ln w="12192">
            <a:solidFill>
              <a:srgbClr val="1F4D3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496823" y="1502663"/>
            <a:ext cx="6962140" cy="341630"/>
          </a:xfrm>
          <a:prstGeom prst="rect">
            <a:avLst/>
          </a:prstGeom>
          <a:solidFill>
            <a:srgbClr val="1F4D39"/>
          </a:solidFill>
        </p:spPr>
        <p:txBody>
          <a:bodyPr vert="horz" wrap="square" lIns="0" tIns="86360" rIns="0" bIns="0" rtlCol="0">
            <a:spAutoFit/>
          </a:bodyPr>
          <a:lstStyle/>
          <a:p>
            <a:pPr>
              <a:defRPr sz="1000" b="1">
                <a:solidFill>
                  <a:srgbClr val="FFFFFF"/>
                </a:solidFill>
                <a:latin typeface="Calibri"/>
              </a:defRPr>
            </a:pPr>
            <a:r>
              <a:t>LIMITATIONS OF EXISTING METHODS (4 PROBLEMS)</a:t>
            </a:r>
          </a:p>
        </p:txBody>
      </p:sp>
      <p:sp>
        <p:nvSpPr>
          <p:cNvPr id="11" name="object 11"/>
          <p:cNvSpPr/>
          <p:nvPr/>
        </p:nvSpPr>
        <p:spPr>
          <a:xfrm>
            <a:off x="7680959" y="1508760"/>
            <a:ext cx="4005579" cy="329565"/>
          </a:xfrm>
          <a:custGeom>
            <a:avLst/>
            <a:gdLst/>
            <a:ahLst/>
            <a:cxnLst/>
            <a:rect l="l" t="t" r="r" b="b"/>
            <a:pathLst>
              <a:path w="4005579" h="329564">
                <a:moveTo>
                  <a:pt x="0" y="329184"/>
                </a:moveTo>
                <a:lnTo>
                  <a:pt x="4005072" y="329184"/>
                </a:lnTo>
                <a:lnTo>
                  <a:pt x="4005072" y="0"/>
                </a:lnTo>
                <a:lnTo>
                  <a:pt x="0" y="0"/>
                </a:lnTo>
                <a:lnTo>
                  <a:pt x="0" y="329184"/>
                </a:lnTo>
                <a:close/>
              </a:path>
            </a:pathLst>
          </a:custGeom>
          <a:ln w="12192">
            <a:solidFill>
              <a:srgbClr val="1F4D3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/>
          <p:nvPr/>
        </p:nvSpPr>
        <p:spPr>
          <a:xfrm>
            <a:off x="7674864" y="1502663"/>
            <a:ext cx="4017645" cy="341630"/>
          </a:xfrm>
          <a:prstGeom prst="rect">
            <a:avLst/>
          </a:prstGeom>
          <a:solidFill>
            <a:srgbClr val="1F4D39"/>
          </a:solidFill>
        </p:spPr>
        <p:txBody>
          <a:bodyPr vert="horz" wrap="square" lIns="0" tIns="86360" rIns="0" bIns="0" rtlCol="0">
            <a:spAutoFit/>
          </a:bodyPr>
          <a:lstStyle/>
          <a:p>
            <a:pPr>
              <a:defRPr sz="1000" b="1">
                <a:solidFill>
                  <a:srgbClr val="FFFFFF"/>
                </a:solidFill>
                <a:latin typeface="Calibri"/>
              </a:defRPr>
            </a:pPr>
            <a:r>
              <a:t>NEED &amp; SOLUTION</a:t>
            </a:r>
          </a:p>
        </p:txBody>
      </p:sp>
      <p:grpSp>
        <p:nvGrpSpPr>
          <p:cNvPr id="7" name="object 7"/>
          <p:cNvGrpSpPr/>
          <p:nvPr/>
        </p:nvGrpSpPr>
        <p:grpSpPr>
          <a:xfrm>
            <a:off x="498348" y="1833372"/>
            <a:ext cx="6958965" cy="3255645"/>
            <a:chOff x="498348" y="1833372"/>
            <a:chExt cx="6958965" cy="3255645"/>
          </a:xfrm>
        </p:grpSpPr>
        <p:sp>
          <p:nvSpPr>
            <p:cNvPr id="8" name="object 8"/>
            <p:cNvSpPr/>
            <p:nvPr/>
          </p:nvSpPr>
          <p:spPr>
            <a:xfrm>
              <a:off x="502920" y="1837944"/>
              <a:ext cx="6949440" cy="3246120"/>
            </a:xfrm>
            <a:custGeom>
              <a:avLst/>
              <a:gdLst/>
              <a:ahLst/>
              <a:cxnLst/>
              <a:rect l="l" t="t" r="r" b="b"/>
              <a:pathLst>
                <a:path w="6949440" h="3246120">
                  <a:moveTo>
                    <a:pt x="6876287" y="0"/>
                  </a:moveTo>
                  <a:lnTo>
                    <a:pt x="73164" y="0"/>
                  </a:lnTo>
                  <a:lnTo>
                    <a:pt x="44684" y="5750"/>
                  </a:lnTo>
                  <a:lnTo>
                    <a:pt x="21428" y="21431"/>
                  </a:lnTo>
                  <a:lnTo>
                    <a:pt x="5749" y="44684"/>
                  </a:lnTo>
                  <a:lnTo>
                    <a:pt x="0" y="73151"/>
                  </a:lnTo>
                  <a:lnTo>
                    <a:pt x="0" y="3172967"/>
                  </a:lnTo>
                  <a:lnTo>
                    <a:pt x="5749" y="3201435"/>
                  </a:lnTo>
                  <a:lnTo>
                    <a:pt x="21428" y="3224688"/>
                  </a:lnTo>
                  <a:lnTo>
                    <a:pt x="44684" y="3240369"/>
                  </a:lnTo>
                  <a:lnTo>
                    <a:pt x="73164" y="3246119"/>
                  </a:lnTo>
                  <a:lnTo>
                    <a:pt x="6876287" y="3246119"/>
                  </a:lnTo>
                  <a:lnTo>
                    <a:pt x="6904755" y="3240369"/>
                  </a:lnTo>
                  <a:lnTo>
                    <a:pt x="6928008" y="3224688"/>
                  </a:lnTo>
                  <a:lnTo>
                    <a:pt x="6943689" y="3201435"/>
                  </a:lnTo>
                  <a:lnTo>
                    <a:pt x="6949439" y="3172967"/>
                  </a:lnTo>
                  <a:lnTo>
                    <a:pt x="6949439" y="73151"/>
                  </a:lnTo>
                  <a:lnTo>
                    <a:pt x="6943689" y="44684"/>
                  </a:lnTo>
                  <a:lnTo>
                    <a:pt x="6928008" y="21431"/>
                  </a:lnTo>
                  <a:lnTo>
                    <a:pt x="6904755" y="5750"/>
                  </a:lnTo>
                  <a:lnTo>
                    <a:pt x="6876287" y="0"/>
                  </a:lnTo>
                  <a:close/>
                </a:path>
              </a:pathLst>
            </a:custGeom>
            <a:solidFill>
              <a:srgbClr val="F3F8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502920" y="1837944"/>
              <a:ext cx="6949440" cy="3246120"/>
            </a:xfrm>
            <a:custGeom>
              <a:avLst/>
              <a:gdLst/>
              <a:ahLst/>
              <a:cxnLst/>
              <a:rect l="l" t="t" r="r" b="b"/>
              <a:pathLst>
                <a:path w="6949440" h="3246120">
                  <a:moveTo>
                    <a:pt x="0" y="73151"/>
                  </a:moveTo>
                  <a:lnTo>
                    <a:pt x="5749" y="44684"/>
                  </a:lnTo>
                  <a:lnTo>
                    <a:pt x="21428" y="21431"/>
                  </a:lnTo>
                  <a:lnTo>
                    <a:pt x="44684" y="5750"/>
                  </a:lnTo>
                  <a:lnTo>
                    <a:pt x="73164" y="0"/>
                  </a:lnTo>
                  <a:lnTo>
                    <a:pt x="6876287" y="0"/>
                  </a:lnTo>
                  <a:lnTo>
                    <a:pt x="6904755" y="5750"/>
                  </a:lnTo>
                  <a:lnTo>
                    <a:pt x="6928008" y="21431"/>
                  </a:lnTo>
                  <a:lnTo>
                    <a:pt x="6943689" y="44684"/>
                  </a:lnTo>
                  <a:lnTo>
                    <a:pt x="6949439" y="73151"/>
                  </a:lnTo>
                  <a:lnTo>
                    <a:pt x="6949439" y="3172967"/>
                  </a:lnTo>
                  <a:lnTo>
                    <a:pt x="6943689" y="3201435"/>
                  </a:lnTo>
                  <a:lnTo>
                    <a:pt x="6928008" y="3224688"/>
                  </a:lnTo>
                  <a:lnTo>
                    <a:pt x="6904755" y="3240369"/>
                  </a:lnTo>
                  <a:lnTo>
                    <a:pt x="6876287" y="3246119"/>
                  </a:lnTo>
                  <a:lnTo>
                    <a:pt x="73164" y="3246119"/>
                  </a:lnTo>
                  <a:lnTo>
                    <a:pt x="44684" y="3240369"/>
                  </a:lnTo>
                  <a:lnTo>
                    <a:pt x="21428" y="3224688"/>
                  </a:lnTo>
                  <a:lnTo>
                    <a:pt x="5749" y="3201435"/>
                  </a:lnTo>
                  <a:lnTo>
                    <a:pt x="0" y="3172967"/>
                  </a:lnTo>
                  <a:lnTo>
                    <a:pt x="0" y="73151"/>
                  </a:lnTo>
                  <a:close/>
                </a:path>
              </a:pathLst>
            </a:custGeom>
            <a:ln w="9144">
              <a:solidFill>
                <a:srgbClr val="BED7C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718819" y="1912812"/>
            <a:ext cx="6320790" cy="1474470"/>
          </a:xfrm>
          <a:prstGeom prst="rect">
            <a:avLst/>
          </a:prstGeom>
        </p:spPr>
        <p:txBody>
          <a:bodyPr vert="horz" wrap="square" lIns="0" tIns="89535" rIns="0" bIns="0" rtlCol="0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150" b="1">
                <a:solidFill>
                  <a:srgbClr val="1A1A1A"/>
                </a:solidFill>
                <a:latin typeface="Calibri"/>
              </a:rPr>
              <a:t>Manual Review Delays: </a:t>
            </a:r>
            <a:r>
              <a:rPr sz="1150" b="0">
                <a:solidFill>
                  <a:srgbClr val="1A1A1A"/>
                </a:solidFill>
                <a:latin typeface="Calibri"/>
              </a:rPr>
              <a:t>checking physical paperwork takes 3 to 7 days, delaying urgent funds for borrowers.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150" b="1">
                <a:solidFill>
                  <a:srgbClr val="1A1A1A"/>
                </a:solidFill>
                <a:latin typeface="Calibri"/>
              </a:rPr>
              <a:t>Fake Certificate Fraud: </a:t>
            </a:r>
            <a:r>
              <a:rPr sz="1150" b="0">
                <a:solidFill>
                  <a:srgbClr val="1A1A1A"/>
                </a:solidFill>
                <a:latin typeface="Calibri"/>
              </a:rPr>
              <a:t>applicants produce forged income slips and edited ID cards that human reviewers miss.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150" b="1">
                <a:solidFill>
                  <a:srgbClr val="1A1A1A"/>
                </a:solidFill>
                <a:latin typeface="Calibri"/>
              </a:rPr>
              <a:t>Stolen OTP Identity Theft: </a:t>
            </a:r>
            <a:r>
              <a:rPr sz="1150" b="0">
                <a:solidFill>
                  <a:srgbClr val="1A1A1A"/>
                </a:solidFill>
                <a:latin typeface="Calibri"/>
              </a:rPr>
              <a:t>scammers steal Aadhaar or PAN OTPs to create fake loans in innocent people's names.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150" b="1">
                <a:solidFill>
                  <a:srgbClr val="1A1A1A"/>
                </a:solidFill>
                <a:latin typeface="Calibri"/>
              </a:rPr>
              <a:t>Unexplained Black-Box Rejections: </a:t>
            </a:r>
            <a:r>
              <a:rPr sz="1150" b="0">
                <a:solidFill>
                  <a:srgbClr val="1A1A1A"/>
                </a:solidFill>
                <a:latin typeface="Calibri"/>
              </a:rPr>
              <a:t>traditional AI declines loans without explaining why, leaving applicants helpless.</a:t>
            </a:r>
          </a:p>
        </p:txBody>
      </p:sp>
      <p:grpSp>
        <p:nvGrpSpPr>
          <p:cNvPr id="13" name="object 13"/>
          <p:cNvGrpSpPr/>
          <p:nvPr/>
        </p:nvGrpSpPr>
        <p:grpSpPr>
          <a:xfrm>
            <a:off x="7676388" y="1833372"/>
            <a:ext cx="4014470" cy="3255645"/>
            <a:chOff x="7676388" y="1833372"/>
            <a:chExt cx="4014470" cy="3255645"/>
          </a:xfrm>
        </p:grpSpPr>
        <p:sp>
          <p:nvSpPr>
            <p:cNvPr id="14" name="object 14"/>
            <p:cNvSpPr/>
            <p:nvPr/>
          </p:nvSpPr>
          <p:spPr>
            <a:xfrm>
              <a:off x="7680960" y="1837944"/>
              <a:ext cx="4005579" cy="3246120"/>
            </a:xfrm>
            <a:custGeom>
              <a:avLst/>
              <a:gdLst/>
              <a:ahLst/>
              <a:cxnLst/>
              <a:rect l="l" t="t" r="r" b="b"/>
              <a:pathLst>
                <a:path w="4005579" h="3246120">
                  <a:moveTo>
                    <a:pt x="3931920" y="0"/>
                  </a:moveTo>
                  <a:lnTo>
                    <a:pt x="73151" y="0"/>
                  </a:lnTo>
                  <a:lnTo>
                    <a:pt x="44684" y="5750"/>
                  </a:lnTo>
                  <a:lnTo>
                    <a:pt x="21431" y="21431"/>
                  </a:lnTo>
                  <a:lnTo>
                    <a:pt x="5750" y="44684"/>
                  </a:lnTo>
                  <a:lnTo>
                    <a:pt x="0" y="73151"/>
                  </a:lnTo>
                  <a:lnTo>
                    <a:pt x="0" y="3172967"/>
                  </a:lnTo>
                  <a:lnTo>
                    <a:pt x="5750" y="3201435"/>
                  </a:lnTo>
                  <a:lnTo>
                    <a:pt x="21431" y="3224688"/>
                  </a:lnTo>
                  <a:lnTo>
                    <a:pt x="44684" y="3240369"/>
                  </a:lnTo>
                  <a:lnTo>
                    <a:pt x="73151" y="3246119"/>
                  </a:lnTo>
                  <a:lnTo>
                    <a:pt x="3931920" y="3246119"/>
                  </a:lnTo>
                  <a:lnTo>
                    <a:pt x="3960387" y="3240369"/>
                  </a:lnTo>
                  <a:lnTo>
                    <a:pt x="3983640" y="3224688"/>
                  </a:lnTo>
                  <a:lnTo>
                    <a:pt x="3999321" y="3201435"/>
                  </a:lnTo>
                  <a:lnTo>
                    <a:pt x="4005072" y="3172967"/>
                  </a:lnTo>
                  <a:lnTo>
                    <a:pt x="4005072" y="73151"/>
                  </a:lnTo>
                  <a:lnTo>
                    <a:pt x="3999321" y="44684"/>
                  </a:lnTo>
                  <a:lnTo>
                    <a:pt x="3983640" y="21431"/>
                  </a:lnTo>
                  <a:lnTo>
                    <a:pt x="3960387" y="5750"/>
                  </a:lnTo>
                  <a:lnTo>
                    <a:pt x="3931920" y="0"/>
                  </a:lnTo>
                  <a:close/>
                </a:path>
              </a:pathLst>
            </a:custGeom>
            <a:solidFill>
              <a:srgbClr val="F3F8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7680960" y="1837944"/>
              <a:ext cx="4005579" cy="3246120"/>
            </a:xfrm>
            <a:custGeom>
              <a:avLst/>
              <a:gdLst/>
              <a:ahLst/>
              <a:cxnLst/>
              <a:rect l="l" t="t" r="r" b="b"/>
              <a:pathLst>
                <a:path w="4005579" h="3246120">
                  <a:moveTo>
                    <a:pt x="0" y="73151"/>
                  </a:moveTo>
                  <a:lnTo>
                    <a:pt x="5750" y="44684"/>
                  </a:lnTo>
                  <a:lnTo>
                    <a:pt x="21431" y="21431"/>
                  </a:lnTo>
                  <a:lnTo>
                    <a:pt x="44684" y="5750"/>
                  </a:lnTo>
                  <a:lnTo>
                    <a:pt x="73151" y="0"/>
                  </a:lnTo>
                  <a:lnTo>
                    <a:pt x="3931920" y="0"/>
                  </a:lnTo>
                  <a:lnTo>
                    <a:pt x="3960387" y="5750"/>
                  </a:lnTo>
                  <a:lnTo>
                    <a:pt x="3983640" y="21431"/>
                  </a:lnTo>
                  <a:lnTo>
                    <a:pt x="3999321" y="44684"/>
                  </a:lnTo>
                  <a:lnTo>
                    <a:pt x="4005072" y="73151"/>
                  </a:lnTo>
                  <a:lnTo>
                    <a:pt x="4005072" y="3172967"/>
                  </a:lnTo>
                  <a:lnTo>
                    <a:pt x="3999321" y="3201435"/>
                  </a:lnTo>
                  <a:lnTo>
                    <a:pt x="3983640" y="3224688"/>
                  </a:lnTo>
                  <a:lnTo>
                    <a:pt x="3960387" y="3240369"/>
                  </a:lnTo>
                  <a:lnTo>
                    <a:pt x="3931920" y="3246119"/>
                  </a:lnTo>
                  <a:lnTo>
                    <a:pt x="73151" y="3246119"/>
                  </a:lnTo>
                  <a:lnTo>
                    <a:pt x="44684" y="3240369"/>
                  </a:lnTo>
                  <a:lnTo>
                    <a:pt x="21431" y="3224688"/>
                  </a:lnTo>
                  <a:lnTo>
                    <a:pt x="5750" y="3201435"/>
                  </a:lnTo>
                  <a:lnTo>
                    <a:pt x="0" y="3172967"/>
                  </a:lnTo>
                  <a:lnTo>
                    <a:pt x="0" y="73151"/>
                  </a:lnTo>
                  <a:close/>
                </a:path>
              </a:pathLst>
            </a:custGeom>
            <a:ln w="9144">
              <a:solidFill>
                <a:srgbClr val="BED7C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7897748" y="1989785"/>
            <a:ext cx="3354070" cy="7880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150" b="1">
                <a:solidFill>
                  <a:srgbClr val="1A1A1A"/>
                </a:solidFill>
                <a:latin typeface="Calibri"/>
              </a:rPr>
              <a:t>A smart digital lending system </a:t>
            </a:r>
            <a:r>
              <a:rPr sz="1150" b="0">
                <a:solidFill>
                  <a:srgbClr val="1A1A1A"/>
                </a:solidFill>
                <a:latin typeface="Calibri"/>
              </a:rPr>
              <a:t>that gives a decision in under 60 seconds, fetches authentic DigiLocker certificates, verifies live face biometrics to defeat OTP theft, and explains every decision with glass-box EBM.</a:t>
            </a:r>
          </a:p>
        </p:txBody>
      </p:sp>
      <p:grpSp>
        <p:nvGrpSpPr>
          <p:cNvPr id="17" name="object 17"/>
          <p:cNvGrpSpPr/>
          <p:nvPr/>
        </p:nvGrpSpPr>
        <p:grpSpPr>
          <a:xfrm>
            <a:off x="496823" y="5297423"/>
            <a:ext cx="11195685" cy="561340"/>
            <a:chOff x="496823" y="5297423"/>
            <a:chExt cx="11195685" cy="561340"/>
          </a:xfrm>
        </p:grpSpPr>
        <p:sp>
          <p:nvSpPr>
            <p:cNvPr id="18" name="object 18"/>
            <p:cNvSpPr/>
            <p:nvPr/>
          </p:nvSpPr>
          <p:spPr>
            <a:xfrm>
              <a:off x="502919" y="5303519"/>
              <a:ext cx="11183620" cy="548640"/>
            </a:xfrm>
            <a:custGeom>
              <a:avLst/>
              <a:gdLst/>
              <a:ahLst/>
              <a:cxnLst/>
              <a:rect l="l" t="t" r="r" b="b"/>
              <a:pathLst>
                <a:path w="11183620" h="548639">
                  <a:moveTo>
                    <a:pt x="11128248" y="0"/>
                  </a:moveTo>
                  <a:lnTo>
                    <a:pt x="54864" y="0"/>
                  </a:lnTo>
                  <a:lnTo>
                    <a:pt x="33507" y="4304"/>
                  </a:lnTo>
                  <a:lnTo>
                    <a:pt x="16068" y="16049"/>
                  </a:lnTo>
                  <a:lnTo>
                    <a:pt x="4311" y="33486"/>
                  </a:lnTo>
                  <a:lnTo>
                    <a:pt x="0" y="54863"/>
                  </a:lnTo>
                  <a:lnTo>
                    <a:pt x="0" y="493775"/>
                  </a:lnTo>
                  <a:lnTo>
                    <a:pt x="4311" y="515132"/>
                  </a:lnTo>
                  <a:lnTo>
                    <a:pt x="16068" y="532571"/>
                  </a:lnTo>
                  <a:lnTo>
                    <a:pt x="33507" y="544328"/>
                  </a:lnTo>
                  <a:lnTo>
                    <a:pt x="54864" y="548639"/>
                  </a:lnTo>
                  <a:lnTo>
                    <a:pt x="11128248" y="548639"/>
                  </a:lnTo>
                  <a:lnTo>
                    <a:pt x="11149625" y="544328"/>
                  </a:lnTo>
                  <a:lnTo>
                    <a:pt x="11167062" y="532571"/>
                  </a:lnTo>
                  <a:lnTo>
                    <a:pt x="11178807" y="515132"/>
                  </a:lnTo>
                  <a:lnTo>
                    <a:pt x="11183112" y="493775"/>
                  </a:lnTo>
                  <a:lnTo>
                    <a:pt x="11183112" y="54863"/>
                  </a:lnTo>
                  <a:lnTo>
                    <a:pt x="11178807" y="33486"/>
                  </a:lnTo>
                  <a:lnTo>
                    <a:pt x="11167062" y="16049"/>
                  </a:lnTo>
                  <a:lnTo>
                    <a:pt x="11149625" y="4304"/>
                  </a:lnTo>
                  <a:lnTo>
                    <a:pt x="11128248" y="0"/>
                  </a:lnTo>
                  <a:close/>
                </a:path>
              </a:pathLst>
            </a:custGeom>
            <a:solidFill>
              <a:srgbClr val="FFF7D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502919" y="5303519"/>
              <a:ext cx="11183620" cy="548640"/>
            </a:xfrm>
            <a:custGeom>
              <a:avLst/>
              <a:gdLst/>
              <a:ahLst/>
              <a:cxnLst/>
              <a:rect l="l" t="t" r="r" b="b"/>
              <a:pathLst>
                <a:path w="11183620" h="548639">
                  <a:moveTo>
                    <a:pt x="0" y="54863"/>
                  </a:moveTo>
                  <a:lnTo>
                    <a:pt x="4311" y="33486"/>
                  </a:lnTo>
                  <a:lnTo>
                    <a:pt x="16068" y="16049"/>
                  </a:lnTo>
                  <a:lnTo>
                    <a:pt x="33507" y="4304"/>
                  </a:lnTo>
                  <a:lnTo>
                    <a:pt x="54864" y="0"/>
                  </a:lnTo>
                  <a:lnTo>
                    <a:pt x="11128248" y="0"/>
                  </a:lnTo>
                  <a:lnTo>
                    <a:pt x="11149625" y="4304"/>
                  </a:lnTo>
                  <a:lnTo>
                    <a:pt x="11167062" y="16049"/>
                  </a:lnTo>
                  <a:lnTo>
                    <a:pt x="11178807" y="33486"/>
                  </a:lnTo>
                  <a:lnTo>
                    <a:pt x="11183112" y="54863"/>
                  </a:lnTo>
                  <a:lnTo>
                    <a:pt x="11183112" y="493775"/>
                  </a:lnTo>
                  <a:lnTo>
                    <a:pt x="11178807" y="515132"/>
                  </a:lnTo>
                  <a:lnTo>
                    <a:pt x="11167062" y="532571"/>
                  </a:lnTo>
                  <a:lnTo>
                    <a:pt x="11149625" y="544328"/>
                  </a:lnTo>
                  <a:lnTo>
                    <a:pt x="11128248" y="548639"/>
                  </a:lnTo>
                  <a:lnTo>
                    <a:pt x="54864" y="548639"/>
                  </a:lnTo>
                  <a:lnTo>
                    <a:pt x="33507" y="544328"/>
                  </a:lnTo>
                  <a:lnTo>
                    <a:pt x="16068" y="532571"/>
                  </a:lnTo>
                  <a:lnTo>
                    <a:pt x="4311" y="515132"/>
                  </a:lnTo>
                  <a:lnTo>
                    <a:pt x="0" y="493775"/>
                  </a:lnTo>
                  <a:lnTo>
                    <a:pt x="0" y="54863"/>
                  </a:lnTo>
                  <a:close/>
                </a:path>
              </a:pathLst>
            </a:custGeom>
            <a:ln w="12192">
              <a:solidFill>
                <a:srgbClr val="C8A83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0" name="object 20"/>
          <p:cNvSpPr txBox="1"/>
          <p:nvPr/>
        </p:nvSpPr>
        <p:spPr>
          <a:xfrm>
            <a:off x="502919" y="5303520"/>
            <a:ext cx="11183620" cy="548640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r>
              <a:rPr b="1" sz="1050">
                <a:solidFill>
                  <a:srgbClr val="1A1A1A"/>
                </a:solidFill>
              </a:rPr>
              <a:t>Motivation: </a:t>
            </a:r>
            <a:r>
              <a:rPr b="0" sz="1050">
                <a:solidFill>
                  <a:srgbClr val="1A1A1A"/>
                </a:solidFill>
              </a:rPr>
              <a:t>RBI digital lending guidelines expect clear reasons for credit decisions; a bare approved/declined answer falls short.</a:t>
            </a:r>
          </a:p>
        </p:txBody>
      </p:sp>
      <p:sp>
        <p:nvSpPr>
          <p:cNvPr id="22" name="object 22"/>
          <p:cNvSpPr txBox="1">
            <a:spLocks noGrp="1"/>
          </p:cNvSpPr>
          <p:nvPr>
            <p:ph type="dt" sz="half" idx="6"/>
          </p:nvPr>
        </p:nvSpPr>
        <p:spPr>
          <a:xfrm>
            <a:off x="490219" y="6531584"/>
            <a:ext cx="610235" cy="11541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910"/>
              </a:lnSpc>
            </a:pPr>
            <a:r>
              <a:rPr spc="-10" dirty="0"/>
              <a:t>[3</a:t>
            </a:r>
            <a:r>
              <a:rPr lang="en-US" spc="-10" dirty="0"/>
              <a:t>1</a:t>
            </a:r>
            <a:r>
              <a:rPr spc="-10" dirty="0"/>
              <a:t>/10/2026]</a:t>
            </a:r>
          </a:p>
        </p:txBody>
      </p:sp>
      <p:sp>
        <p:nvSpPr>
          <p:cNvPr id="23" name="object 23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910"/>
              </a:lnSpc>
            </a:pPr>
            <a:r>
              <a:rPr spc="-10" dirty="0"/>
              <a:t>Smart Digital Lending System with AI-Based Risk Analysis</a:t>
            </a:r>
          </a:p>
        </p:txBody>
      </p:sp>
      <p:sp>
        <p:nvSpPr>
          <p:cNvPr id="21" name="object 21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955"/>
              </a:lnSpc>
            </a:pPr>
            <a:fld id="{81D60167-4931-47E6-BA6A-407CBD079E47}" type="slidenum">
              <a:rPr spc="-25" dirty="0"/>
              <a:t>3</a:t>
            </a:fld>
            <a:endParaRPr spc="-25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10" dirty="0"/>
              <a:t>OBJECTIVES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90219" y="965962"/>
            <a:ext cx="3938904" cy="19367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defRPr sz="1100" b="0">
                <a:solidFill>
                  <a:srgbClr val="6B6B6B"/>
                </a:solidFill>
                <a:latin typeface="Calibri"/>
              </a:defRPr>
            </a:pPr>
            <a:r>
              <a:t>Each objective mapped to an implemented module and verified result</a:t>
            </a:r>
          </a:p>
        </p:txBody>
      </p:sp>
      <p:sp>
        <p:nvSpPr>
          <p:cNvPr id="4" name="object 4"/>
          <p:cNvSpPr/>
          <p:nvPr/>
        </p:nvSpPr>
        <p:spPr>
          <a:xfrm>
            <a:off x="502919" y="1298447"/>
            <a:ext cx="11183620" cy="0"/>
          </a:xfrm>
          <a:custGeom>
            <a:avLst/>
            <a:gdLst/>
            <a:ahLst/>
            <a:cxnLst/>
            <a:rect l="l" t="t" r="r" b="b"/>
            <a:pathLst>
              <a:path w="11183620">
                <a:moveTo>
                  <a:pt x="0" y="0"/>
                </a:moveTo>
                <a:lnTo>
                  <a:pt x="11183112" y="0"/>
                </a:lnTo>
              </a:path>
            </a:pathLst>
          </a:custGeom>
          <a:ln w="12192">
            <a:solidFill>
              <a:srgbClr val="C8A83E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aphicFrame>
        <p:nvGraphicFramePr>
          <p:cNvPr id="5" name="object 5"/>
          <p:cNvGraphicFramePr>
            <a:graphicFrameLocks noGrp="1"/>
          </p:cNvGraphicFramePr>
          <p:nvPr/>
        </p:nvGraphicFramePr>
        <p:xfrm>
          <a:off x="499744" y="1551305"/>
          <a:ext cx="11182984" cy="33985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0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15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277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420"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0" marR="0" marT="7620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  <a:solidFill>
                      <a:srgbClr val="1F4D3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OBJECTIVE</a:t>
                      </a:r>
                    </a:p>
                  </a:txBody>
                  <a:tcPr marL="0" marR="0" marT="7620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  <a:solidFill>
                      <a:srgbClr val="1F4D3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marL="0" marR="0" marT="7620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  <a:solidFill>
                      <a:srgbClr val="1F4D3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420"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100" b="1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0" marR="0" marT="8255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DigiLocker Integration: auto-fetch verified e-Aadhaar and PAN to stop fake certificates</a:t>
                      </a:r>
                    </a:p>
                  </a:txBody>
                  <a:tcPr marL="0" marR="0" marT="8255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✓ Implemented</a:t>
                      </a:r>
                    </a:p>
                  </a:txBody>
                  <a:tcPr marL="0" marR="0" marT="8255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420"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100" b="1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0" marR="0" marT="8255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  <a:solidFill>
                      <a:srgbClr val="F3F8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Tri-Biometric Security: match live webcam face with Aadhaar &amp; PAN photos to defeat OTP theft</a:t>
                      </a:r>
                    </a:p>
                  </a:txBody>
                  <a:tcPr marL="0" marR="0" marT="8255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  <a:solidFill>
                      <a:srgbClr val="F3F8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✓ Implemented</a:t>
                      </a:r>
                    </a:p>
                  </a:txBody>
                  <a:tcPr marL="0" marR="0" marT="8255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  <a:solidFill>
                      <a:srgbClr val="F3F8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420"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100" b="1">
                          <a:solidFill>
                            <a:srgbClr val="1A1A1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0" marR="0" marT="8255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OCR Cross-Verification: extract text and cross-check name spelling across identity cards</a:t>
                      </a:r>
                    </a:p>
                  </a:txBody>
                  <a:tcPr marL="0" marR="0" marT="8255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✓ Implemented</a:t>
                      </a:r>
                    </a:p>
                  </a:txBody>
                  <a:tcPr marL="0" marR="0" marT="8255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420"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100" b="1">
                          <a:solidFill>
                            <a:srgbClr val="1A1A1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0" marR="0" marT="8255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  <a:solidFill>
                      <a:srgbClr val="F3F8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Explainable EBM Underwriting: score credit risk and output plain-English decision reasons</a:t>
                      </a:r>
                    </a:p>
                  </a:txBody>
                  <a:tcPr marL="0" marR="0" marT="8255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  <a:solidFill>
                      <a:srgbClr val="F3F8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✓ Implemented</a:t>
                      </a:r>
                    </a:p>
                  </a:txBody>
                  <a:tcPr marL="0" marR="0" marT="8255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  <a:solidFill>
                      <a:srgbClr val="F3F8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420"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100" b="1">
                          <a:solidFill>
                            <a:srgbClr val="1A1A1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0" marR="0" marT="8255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Random Forest Benchmark: validate that EBM matches state-of-the-art ensemble accuracy</a:t>
                      </a:r>
                    </a:p>
                  </a:txBody>
                  <a:tcPr marL="0" marR="0" marT="8255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✓ Implemented</a:t>
                      </a:r>
                    </a:p>
                  </a:txBody>
                  <a:tcPr marL="0" marR="0" marT="8255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object 7"/>
          <p:cNvSpPr txBox="1">
            <a:spLocks noGrp="1"/>
          </p:cNvSpPr>
          <p:nvPr>
            <p:ph type="dt" sz="half" idx="6"/>
          </p:nvPr>
        </p:nvSpPr>
        <p:spPr>
          <a:xfrm>
            <a:off x="490219" y="6531584"/>
            <a:ext cx="610235" cy="11541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910"/>
              </a:lnSpc>
            </a:pPr>
            <a:r>
              <a:rPr spc="-10" dirty="0"/>
              <a:t>[3</a:t>
            </a:r>
            <a:r>
              <a:rPr lang="en-US" spc="-10" dirty="0"/>
              <a:t>1</a:t>
            </a:r>
            <a:r>
              <a:rPr spc="-10" dirty="0"/>
              <a:t>/10/2026]</a:t>
            </a:r>
          </a:p>
        </p:txBody>
      </p:sp>
      <p:sp>
        <p:nvSpPr>
          <p:cNvPr id="8" name="object 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910"/>
              </a:lnSpc>
            </a:pPr>
            <a:r>
              <a:rPr spc="-10" dirty="0"/>
              <a:t>Smart Digital Lending System with AI-Based Risk Analysis</a:t>
            </a:r>
          </a:p>
        </p:txBody>
      </p:sp>
      <p:sp>
        <p:nvSpPr>
          <p:cNvPr id="6" name="object 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955"/>
              </a:lnSpc>
            </a:pPr>
            <a:fld id="{81D60167-4931-47E6-BA6A-407CBD079E47}" type="slidenum">
              <a:rPr spc="-25" dirty="0"/>
              <a:t>4</a:t>
            </a:fld>
            <a:endParaRPr spc="-25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20" dirty="0"/>
              <a:t>LITERATURE</a:t>
            </a:r>
            <a:r>
              <a:rPr spc="-70" dirty="0"/>
              <a:t> </a:t>
            </a:r>
            <a:r>
              <a:rPr dirty="0"/>
              <a:t>REVIEW</a:t>
            </a:r>
            <a:r>
              <a:rPr spc="-80" dirty="0"/>
              <a:t> </a:t>
            </a:r>
            <a:r>
              <a:rPr dirty="0"/>
              <a:t>AND</a:t>
            </a:r>
            <a:r>
              <a:rPr spc="-65" dirty="0"/>
              <a:t> </a:t>
            </a:r>
            <a:r>
              <a:rPr spc="-10" dirty="0"/>
              <a:t>RESEARCH</a:t>
            </a:r>
            <a:r>
              <a:rPr spc="-80" dirty="0"/>
              <a:t> </a:t>
            </a:r>
            <a:r>
              <a:rPr spc="-25" dirty="0"/>
              <a:t>GAP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04596" y="894076"/>
            <a:ext cx="6946852" cy="18274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defRPr sz="1100" b="0">
                <a:solidFill>
                  <a:srgbClr val="6B6B6B"/>
                </a:solidFill>
                <a:latin typeface="Calibri"/>
              </a:defRPr>
            </a:pPr>
            <a:r>
              <a:t>Comparing current lending approaches to our unified smart system</a:t>
            </a:r>
          </a:p>
        </p:txBody>
      </p:sp>
      <p:sp>
        <p:nvSpPr>
          <p:cNvPr id="4" name="object 4"/>
          <p:cNvSpPr/>
          <p:nvPr/>
        </p:nvSpPr>
        <p:spPr>
          <a:xfrm>
            <a:off x="502919" y="1298447"/>
            <a:ext cx="11183620" cy="0"/>
          </a:xfrm>
          <a:custGeom>
            <a:avLst/>
            <a:gdLst/>
            <a:ahLst/>
            <a:cxnLst/>
            <a:rect l="l" t="t" r="r" b="b"/>
            <a:pathLst>
              <a:path w="11183620">
                <a:moveTo>
                  <a:pt x="0" y="0"/>
                </a:moveTo>
                <a:lnTo>
                  <a:pt x="11183112" y="0"/>
                </a:lnTo>
              </a:path>
            </a:pathLst>
          </a:custGeom>
          <a:ln w="12192">
            <a:solidFill>
              <a:srgbClr val="C8A83E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aphicFrame>
        <p:nvGraphicFramePr>
          <p:cNvPr id="5" name="object 5"/>
          <p:cNvGraphicFramePr>
            <a:graphicFrameLocks noGrp="1"/>
          </p:cNvGraphicFramePr>
          <p:nvPr/>
        </p:nvGraphicFramePr>
        <p:xfrm>
          <a:off x="499744" y="1551305"/>
          <a:ext cx="11182984" cy="3015612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319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592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STUDY / APPROACH</a:t>
                      </a:r>
                    </a:p>
                  </a:txBody>
                  <a:tcPr marL="0" marR="0" marT="155575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  <a:solidFill>
                      <a:srgbClr val="1F4D3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CONTRIBUTION</a:t>
                      </a:r>
                    </a:p>
                  </a:txBody>
                  <a:tcPr marL="0" marR="0" marT="155575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  <a:solidFill>
                      <a:srgbClr val="1F4D3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GAP FOR THIS PROJECT</a:t>
                      </a:r>
                    </a:p>
                  </a:txBody>
                  <a:tcPr marL="0" marR="0" marT="155575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  <a:solidFill>
                      <a:srgbClr val="1F4D3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050" b="1">
                          <a:solidFill>
                            <a:srgbClr val="1A1A1A"/>
                          </a:solidFill>
                          <a:latin typeface="Calibri"/>
                        </a:rPr>
                        <a:t>Manual Review &amp; Scorecards</a:t>
                      </a:r>
                    </a:p>
                  </a:txBody>
                  <a:tcPr marL="0" marR="0" marT="154940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Readable points per variable</a:t>
                      </a:r>
                    </a:p>
                  </a:txBody>
                  <a:tcPr marL="0" marR="0" marT="154940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Slow (3-7 days); high fake certificate risk</a:t>
                      </a:r>
                    </a:p>
                  </a:txBody>
                  <a:tcPr marL="0" marR="0" marT="154940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284"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050" b="1">
                          <a:solidFill>
                            <a:srgbClr val="1A1A1A"/>
                          </a:solidFill>
                          <a:latin typeface="Calibri"/>
                        </a:rPr>
                        <a:t>OTP-Based Digital Lending</a:t>
                      </a:r>
                    </a:p>
                  </a:txBody>
                  <a:tcPr marL="0" marR="0" marT="154940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  <a:solidFill>
                      <a:srgbClr val="F3F8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Instant mobile authentication</a:t>
                      </a:r>
                    </a:p>
                  </a:txBody>
                  <a:tcPr marL="0" marR="0" marT="154940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  <a:solidFill>
                      <a:srgbClr val="F3F8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Vulnerable to stolen OTPs &amp; identity theft</a:t>
                      </a:r>
                    </a:p>
                  </a:txBody>
                  <a:tcPr marL="0" marR="0" marT="154940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  <a:solidFill>
                      <a:srgbClr val="F3F8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050" b="1">
                          <a:solidFill>
                            <a:srgbClr val="1A1A1A"/>
                          </a:solidFill>
                          <a:latin typeface="Calibri"/>
                        </a:rPr>
                        <a:t>Deep Learning &amp; Ensembles</a:t>
                      </a:r>
                    </a:p>
                  </a:txBody>
                  <a:tcPr marL="0" marR="0" marT="155575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High accuracy credit prediction</a:t>
                      </a:r>
                    </a:p>
                  </a:txBody>
                  <a:tcPr marL="0" marR="0" marT="155575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Black-box opacity; cannot explain rejections</a:t>
                      </a:r>
                    </a:p>
                  </a:txBody>
                  <a:tcPr marL="0" marR="0" marT="155575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284"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050" b="1">
                          <a:solidFill>
                            <a:srgbClr val="1A1A1A"/>
                          </a:solidFill>
                          <a:latin typeface="Calibri"/>
                        </a:rPr>
                        <a:t>Post-Hoc SHAP / LIME</a:t>
                      </a:r>
                    </a:p>
                  </a:txBody>
                  <a:tcPr marL="0" marR="0" marT="155575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  <a:solidFill>
                      <a:srgbClr val="F3F8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Approximate factor explanations</a:t>
                      </a:r>
                    </a:p>
                  </a:txBody>
                  <a:tcPr marL="0" marR="0" marT="155575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  <a:solidFill>
                      <a:srgbClr val="F3F8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Approximations; unstable with correlated inputs</a:t>
                      </a:r>
                    </a:p>
                  </a:txBody>
                  <a:tcPr marL="0" marR="0" marT="67945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  <a:solidFill>
                      <a:srgbClr val="F3F8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284"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050" b="1">
                          <a:solidFill>
                            <a:srgbClr val="1A1A1A"/>
                          </a:solidFill>
                          <a:latin typeface="Calibri"/>
                        </a:rPr>
                        <a:t>Our Proposed 5-Model System</a:t>
                      </a:r>
                    </a:p>
                  </a:txBody>
                  <a:tcPr marL="0" marR="0" marT="155575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DigiLocker + Biometrics + OCR + EBM</a:t>
                      </a:r>
                    </a:p>
                  </a:txBody>
                  <a:tcPr marL="0" marR="0" marT="155575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Fast, fraud-proof, physically verified &amp; transparent</a:t>
                      </a:r>
                    </a:p>
                  </a:txBody>
                  <a:tcPr marL="0" marR="0" marT="155575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pSp>
        <p:nvGrpSpPr>
          <p:cNvPr id="6" name="object 6"/>
          <p:cNvGrpSpPr/>
          <p:nvPr/>
        </p:nvGrpSpPr>
        <p:grpSpPr>
          <a:xfrm>
            <a:off x="496823" y="5205984"/>
            <a:ext cx="11195685" cy="561340"/>
            <a:chOff x="496823" y="5205984"/>
            <a:chExt cx="11195685" cy="561340"/>
          </a:xfrm>
        </p:grpSpPr>
        <p:sp>
          <p:nvSpPr>
            <p:cNvPr id="7" name="object 7"/>
            <p:cNvSpPr/>
            <p:nvPr/>
          </p:nvSpPr>
          <p:spPr>
            <a:xfrm>
              <a:off x="502919" y="5212080"/>
              <a:ext cx="11183620" cy="548640"/>
            </a:xfrm>
            <a:custGeom>
              <a:avLst/>
              <a:gdLst/>
              <a:ahLst/>
              <a:cxnLst/>
              <a:rect l="l" t="t" r="r" b="b"/>
              <a:pathLst>
                <a:path w="11183620" h="548639">
                  <a:moveTo>
                    <a:pt x="11128248" y="0"/>
                  </a:moveTo>
                  <a:lnTo>
                    <a:pt x="54864" y="0"/>
                  </a:lnTo>
                  <a:lnTo>
                    <a:pt x="33507" y="4304"/>
                  </a:lnTo>
                  <a:lnTo>
                    <a:pt x="16068" y="16049"/>
                  </a:lnTo>
                  <a:lnTo>
                    <a:pt x="4311" y="33486"/>
                  </a:lnTo>
                  <a:lnTo>
                    <a:pt x="0" y="54864"/>
                  </a:lnTo>
                  <a:lnTo>
                    <a:pt x="0" y="493776"/>
                  </a:lnTo>
                  <a:lnTo>
                    <a:pt x="4311" y="515132"/>
                  </a:lnTo>
                  <a:lnTo>
                    <a:pt x="16068" y="532571"/>
                  </a:lnTo>
                  <a:lnTo>
                    <a:pt x="33507" y="544328"/>
                  </a:lnTo>
                  <a:lnTo>
                    <a:pt x="54864" y="548640"/>
                  </a:lnTo>
                  <a:lnTo>
                    <a:pt x="11128248" y="548640"/>
                  </a:lnTo>
                  <a:lnTo>
                    <a:pt x="11149625" y="544328"/>
                  </a:lnTo>
                  <a:lnTo>
                    <a:pt x="11167062" y="532571"/>
                  </a:lnTo>
                  <a:lnTo>
                    <a:pt x="11178807" y="515132"/>
                  </a:lnTo>
                  <a:lnTo>
                    <a:pt x="11183112" y="493776"/>
                  </a:lnTo>
                  <a:lnTo>
                    <a:pt x="11183112" y="54864"/>
                  </a:lnTo>
                  <a:lnTo>
                    <a:pt x="11178807" y="33486"/>
                  </a:lnTo>
                  <a:lnTo>
                    <a:pt x="11167062" y="16049"/>
                  </a:lnTo>
                  <a:lnTo>
                    <a:pt x="11149625" y="4304"/>
                  </a:lnTo>
                  <a:lnTo>
                    <a:pt x="11128248" y="0"/>
                  </a:lnTo>
                  <a:close/>
                </a:path>
              </a:pathLst>
            </a:custGeom>
            <a:solidFill>
              <a:srgbClr val="FFF7D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502919" y="5212080"/>
              <a:ext cx="11183620" cy="548640"/>
            </a:xfrm>
            <a:custGeom>
              <a:avLst/>
              <a:gdLst/>
              <a:ahLst/>
              <a:cxnLst/>
              <a:rect l="l" t="t" r="r" b="b"/>
              <a:pathLst>
                <a:path w="11183620" h="548639">
                  <a:moveTo>
                    <a:pt x="0" y="54864"/>
                  </a:moveTo>
                  <a:lnTo>
                    <a:pt x="4311" y="33486"/>
                  </a:lnTo>
                  <a:lnTo>
                    <a:pt x="16068" y="16049"/>
                  </a:lnTo>
                  <a:lnTo>
                    <a:pt x="33507" y="4304"/>
                  </a:lnTo>
                  <a:lnTo>
                    <a:pt x="54864" y="0"/>
                  </a:lnTo>
                  <a:lnTo>
                    <a:pt x="11128248" y="0"/>
                  </a:lnTo>
                  <a:lnTo>
                    <a:pt x="11149625" y="4304"/>
                  </a:lnTo>
                  <a:lnTo>
                    <a:pt x="11167062" y="16049"/>
                  </a:lnTo>
                  <a:lnTo>
                    <a:pt x="11178807" y="33486"/>
                  </a:lnTo>
                  <a:lnTo>
                    <a:pt x="11183112" y="54864"/>
                  </a:lnTo>
                  <a:lnTo>
                    <a:pt x="11183112" y="493776"/>
                  </a:lnTo>
                  <a:lnTo>
                    <a:pt x="11178807" y="515132"/>
                  </a:lnTo>
                  <a:lnTo>
                    <a:pt x="11167062" y="532571"/>
                  </a:lnTo>
                  <a:lnTo>
                    <a:pt x="11149625" y="544328"/>
                  </a:lnTo>
                  <a:lnTo>
                    <a:pt x="11128248" y="548640"/>
                  </a:lnTo>
                  <a:lnTo>
                    <a:pt x="54864" y="548640"/>
                  </a:lnTo>
                  <a:lnTo>
                    <a:pt x="33507" y="544328"/>
                  </a:lnTo>
                  <a:lnTo>
                    <a:pt x="16068" y="532571"/>
                  </a:lnTo>
                  <a:lnTo>
                    <a:pt x="4311" y="515132"/>
                  </a:lnTo>
                  <a:lnTo>
                    <a:pt x="0" y="493776"/>
                  </a:lnTo>
                  <a:lnTo>
                    <a:pt x="0" y="54864"/>
                  </a:lnTo>
                  <a:close/>
                </a:path>
              </a:pathLst>
            </a:custGeom>
            <a:ln w="12192">
              <a:solidFill>
                <a:srgbClr val="C8A83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502919" y="5212079"/>
            <a:ext cx="11183620" cy="548640"/>
          </a:xfrm>
          <a:prstGeom prst="rect">
            <a:avLst/>
          </a:prstGeom>
        </p:spPr>
        <p:txBody>
          <a:bodyPr vert="horz" wrap="square" lIns="0" tIns="10795" rIns="0" bIns="0" rtlCol="0">
            <a:spAutoFit/>
          </a:bodyPr>
          <a:lstStyle/>
          <a:p>
            <a:r>
              <a:rPr b="1" sz="1050"/>
              <a:t>Research gap: </a:t>
            </a:r>
            <a:r>
              <a:rPr b="0" sz="1050"/>
              <a:t>prediction and explanation are studied separately; few works give a full workflow combining government document fetch, 3-way biometrics, and glass-box AI in one platform.</a:t>
            </a:r>
          </a:p>
        </p:txBody>
      </p:sp>
      <p:sp>
        <p:nvSpPr>
          <p:cNvPr id="11" name="object 11"/>
          <p:cNvSpPr txBox="1">
            <a:spLocks noGrp="1"/>
          </p:cNvSpPr>
          <p:nvPr>
            <p:ph type="dt" sz="half" idx="6"/>
          </p:nvPr>
        </p:nvSpPr>
        <p:spPr>
          <a:xfrm>
            <a:off x="490219" y="6531584"/>
            <a:ext cx="610235" cy="11541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910"/>
              </a:lnSpc>
            </a:pPr>
            <a:r>
              <a:rPr spc="-10" dirty="0"/>
              <a:t>[3</a:t>
            </a:r>
            <a:r>
              <a:rPr lang="en-US" spc="-10" dirty="0"/>
              <a:t>1</a:t>
            </a:r>
            <a:r>
              <a:rPr spc="-10" dirty="0"/>
              <a:t>/10/2026]</a:t>
            </a:r>
          </a:p>
        </p:txBody>
      </p:sp>
      <p:sp>
        <p:nvSpPr>
          <p:cNvPr id="12" name="object 12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910"/>
              </a:lnSpc>
            </a:pPr>
            <a:r>
              <a:rPr spc="-10" dirty="0"/>
              <a:t>Smart Digital Lending System with AI-Based Risk Analysis</a:t>
            </a: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955"/>
              </a:lnSpc>
            </a:pPr>
            <a:fld id="{81D60167-4931-47E6-BA6A-407CBD079E47}" type="slidenum">
              <a:rPr spc="-25" dirty="0"/>
              <a:t>5</a:t>
            </a:fld>
            <a:endParaRPr spc="-25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10" dirty="0"/>
              <a:t>PROPOSED</a:t>
            </a:r>
            <a:r>
              <a:rPr spc="-120" dirty="0"/>
              <a:t> </a:t>
            </a:r>
            <a:r>
              <a:rPr spc="-10" dirty="0"/>
              <a:t>METHODOLOGY</a:t>
            </a:r>
          </a:p>
        </p:txBody>
      </p:sp>
      <p:sp>
        <p:nvSpPr>
          <p:cNvPr id="3" name="object 3"/>
          <p:cNvSpPr/>
          <p:nvPr/>
        </p:nvSpPr>
        <p:spPr>
          <a:xfrm>
            <a:off x="502919" y="1298447"/>
            <a:ext cx="11183620" cy="0"/>
          </a:xfrm>
          <a:custGeom>
            <a:avLst/>
            <a:gdLst/>
            <a:ahLst/>
            <a:cxnLst/>
            <a:rect l="l" t="t" r="r" b="b"/>
            <a:pathLst>
              <a:path w="11183620">
                <a:moveTo>
                  <a:pt x="0" y="0"/>
                </a:moveTo>
                <a:lnTo>
                  <a:pt x="11183112" y="0"/>
                </a:lnTo>
              </a:path>
            </a:pathLst>
          </a:custGeom>
          <a:ln w="12192">
            <a:solidFill>
              <a:srgbClr val="C8A83E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504596" y="894075"/>
            <a:ext cx="4928557" cy="639278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defRPr sz="1100">
                <a:solidFill>
                  <a:srgbClr val="6B6B6B"/>
                </a:solidFill>
                <a:latin typeface="Calibri"/>
              </a:defRPr>
            </a:pPr>
            <a:r>
              <a:t>Five-stage pipeline from document fetch to audited verdict</a:t>
            </a:r>
          </a:p>
        </p:txBody>
      </p:sp>
      <p:grpSp>
        <p:nvGrpSpPr>
          <p:cNvPr id="5" name="object 5"/>
          <p:cNvGrpSpPr/>
          <p:nvPr/>
        </p:nvGrpSpPr>
        <p:grpSpPr>
          <a:xfrm>
            <a:off x="496823" y="1731264"/>
            <a:ext cx="1632585" cy="744220"/>
            <a:chOff x="496823" y="1731264"/>
            <a:chExt cx="1632585" cy="744220"/>
          </a:xfrm>
        </p:grpSpPr>
        <p:sp>
          <p:nvSpPr>
            <p:cNvPr id="6" name="object 6"/>
            <p:cNvSpPr/>
            <p:nvPr/>
          </p:nvSpPr>
          <p:spPr>
            <a:xfrm>
              <a:off x="502919" y="1737360"/>
              <a:ext cx="1620520" cy="731520"/>
            </a:xfrm>
            <a:custGeom>
              <a:avLst/>
              <a:gdLst/>
              <a:ahLst/>
              <a:cxnLst/>
              <a:rect l="l" t="t" r="r" b="b"/>
              <a:pathLst>
                <a:path w="1620520" h="731519">
                  <a:moveTo>
                    <a:pt x="1546860" y="0"/>
                  </a:moveTo>
                  <a:lnTo>
                    <a:pt x="73151" y="0"/>
                  </a:lnTo>
                  <a:lnTo>
                    <a:pt x="44678" y="5750"/>
                  </a:lnTo>
                  <a:lnTo>
                    <a:pt x="21426" y="21431"/>
                  </a:lnTo>
                  <a:lnTo>
                    <a:pt x="5748" y="44684"/>
                  </a:lnTo>
                  <a:lnTo>
                    <a:pt x="0" y="73151"/>
                  </a:lnTo>
                  <a:lnTo>
                    <a:pt x="0" y="658367"/>
                  </a:lnTo>
                  <a:lnTo>
                    <a:pt x="5748" y="686835"/>
                  </a:lnTo>
                  <a:lnTo>
                    <a:pt x="21426" y="710088"/>
                  </a:lnTo>
                  <a:lnTo>
                    <a:pt x="44678" y="725769"/>
                  </a:lnTo>
                  <a:lnTo>
                    <a:pt x="73151" y="731519"/>
                  </a:lnTo>
                  <a:lnTo>
                    <a:pt x="1546860" y="731519"/>
                  </a:lnTo>
                  <a:lnTo>
                    <a:pt x="1575327" y="725769"/>
                  </a:lnTo>
                  <a:lnTo>
                    <a:pt x="1598580" y="710088"/>
                  </a:lnTo>
                  <a:lnTo>
                    <a:pt x="1614261" y="686835"/>
                  </a:lnTo>
                  <a:lnTo>
                    <a:pt x="1620012" y="658367"/>
                  </a:lnTo>
                  <a:lnTo>
                    <a:pt x="1620012" y="73151"/>
                  </a:lnTo>
                  <a:lnTo>
                    <a:pt x="1614261" y="44684"/>
                  </a:lnTo>
                  <a:lnTo>
                    <a:pt x="1598580" y="21431"/>
                  </a:lnTo>
                  <a:lnTo>
                    <a:pt x="1575327" y="5750"/>
                  </a:lnTo>
                  <a:lnTo>
                    <a:pt x="1546860" y="0"/>
                  </a:lnTo>
                  <a:close/>
                </a:path>
              </a:pathLst>
            </a:custGeom>
            <a:solidFill>
              <a:srgbClr val="1F4D3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502919" y="1737360"/>
              <a:ext cx="1620520" cy="731520"/>
            </a:xfrm>
            <a:custGeom>
              <a:avLst/>
              <a:gdLst/>
              <a:ahLst/>
              <a:cxnLst/>
              <a:rect l="l" t="t" r="r" b="b"/>
              <a:pathLst>
                <a:path w="1620520" h="731519">
                  <a:moveTo>
                    <a:pt x="0" y="73151"/>
                  </a:moveTo>
                  <a:lnTo>
                    <a:pt x="5748" y="44684"/>
                  </a:lnTo>
                  <a:lnTo>
                    <a:pt x="21426" y="21431"/>
                  </a:lnTo>
                  <a:lnTo>
                    <a:pt x="44678" y="5750"/>
                  </a:lnTo>
                  <a:lnTo>
                    <a:pt x="73151" y="0"/>
                  </a:lnTo>
                  <a:lnTo>
                    <a:pt x="1546860" y="0"/>
                  </a:lnTo>
                  <a:lnTo>
                    <a:pt x="1575327" y="5750"/>
                  </a:lnTo>
                  <a:lnTo>
                    <a:pt x="1598580" y="21431"/>
                  </a:lnTo>
                  <a:lnTo>
                    <a:pt x="1614261" y="44684"/>
                  </a:lnTo>
                  <a:lnTo>
                    <a:pt x="1620012" y="73151"/>
                  </a:lnTo>
                  <a:lnTo>
                    <a:pt x="1620012" y="658367"/>
                  </a:lnTo>
                  <a:lnTo>
                    <a:pt x="1614261" y="686835"/>
                  </a:lnTo>
                  <a:lnTo>
                    <a:pt x="1598580" y="710088"/>
                  </a:lnTo>
                  <a:lnTo>
                    <a:pt x="1575327" y="725769"/>
                  </a:lnTo>
                  <a:lnTo>
                    <a:pt x="1546860" y="731519"/>
                  </a:lnTo>
                  <a:lnTo>
                    <a:pt x="73151" y="731519"/>
                  </a:lnTo>
                  <a:lnTo>
                    <a:pt x="44678" y="725769"/>
                  </a:lnTo>
                  <a:lnTo>
                    <a:pt x="21426" y="710088"/>
                  </a:lnTo>
                  <a:lnTo>
                    <a:pt x="5748" y="686835"/>
                  </a:lnTo>
                  <a:lnTo>
                    <a:pt x="0" y="658367"/>
                  </a:lnTo>
                  <a:lnTo>
                    <a:pt x="0" y="73151"/>
                  </a:lnTo>
                  <a:close/>
                </a:path>
              </a:pathLst>
            </a:custGeom>
            <a:ln w="12192">
              <a:solidFill>
                <a:srgbClr val="1F4D3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/>
          <p:nvPr/>
        </p:nvSpPr>
        <p:spPr>
          <a:xfrm>
            <a:off x="1086713" y="1921509"/>
            <a:ext cx="453390" cy="34671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defRPr sz="950" b="1">
                <a:solidFill>
                  <a:srgbClr val="FFFFFF"/>
                </a:solidFill>
                <a:latin typeface="Calibri"/>
              </a:defRPr>
            </a:pPr>
            <a:r>
              <a:t>DigiLocker</a:t>
            </a:r>
            <a:br/>
            <a:r>
              <a:t>SSO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2187067" y="1989785"/>
            <a:ext cx="163830" cy="2089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spc="-50" dirty="0">
                <a:solidFill>
                  <a:srgbClr val="C8A83E"/>
                </a:solidFill>
                <a:latin typeface="Calibri"/>
                <a:cs typeface="Calibri"/>
              </a:rPr>
              <a:t>→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2409444" y="1731264"/>
            <a:ext cx="1632585" cy="744220"/>
            <a:chOff x="2409444" y="1731264"/>
            <a:chExt cx="1632585" cy="744220"/>
          </a:xfrm>
        </p:grpSpPr>
        <p:sp>
          <p:nvSpPr>
            <p:cNvPr id="11" name="object 11"/>
            <p:cNvSpPr/>
            <p:nvPr/>
          </p:nvSpPr>
          <p:spPr>
            <a:xfrm>
              <a:off x="2415540" y="1737360"/>
              <a:ext cx="1620520" cy="731520"/>
            </a:xfrm>
            <a:custGeom>
              <a:avLst/>
              <a:gdLst/>
              <a:ahLst/>
              <a:cxnLst/>
              <a:rect l="l" t="t" r="r" b="b"/>
              <a:pathLst>
                <a:path w="1620520" h="731519">
                  <a:moveTo>
                    <a:pt x="1546860" y="0"/>
                  </a:moveTo>
                  <a:lnTo>
                    <a:pt x="73152" y="0"/>
                  </a:lnTo>
                  <a:lnTo>
                    <a:pt x="44684" y="5750"/>
                  </a:lnTo>
                  <a:lnTo>
                    <a:pt x="21431" y="21431"/>
                  </a:lnTo>
                  <a:lnTo>
                    <a:pt x="5750" y="44684"/>
                  </a:lnTo>
                  <a:lnTo>
                    <a:pt x="0" y="73151"/>
                  </a:lnTo>
                  <a:lnTo>
                    <a:pt x="0" y="658367"/>
                  </a:lnTo>
                  <a:lnTo>
                    <a:pt x="5750" y="686835"/>
                  </a:lnTo>
                  <a:lnTo>
                    <a:pt x="21431" y="710088"/>
                  </a:lnTo>
                  <a:lnTo>
                    <a:pt x="44684" y="725769"/>
                  </a:lnTo>
                  <a:lnTo>
                    <a:pt x="73152" y="731519"/>
                  </a:lnTo>
                  <a:lnTo>
                    <a:pt x="1546860" y="731519"/>
                  </a:lnTo>
                  <a:lnTo>
                    <a:pt x="1575327" y="725769"/>
                  </a:lnTo>
                  <a:lnTo>
                    <a:pt x="1598580" y="710088"/>
                  </a:lnTo>
                  <a:lnTo>
                    <a:pt x="1614261" y="686835"/>
                  </a:lnTo>
                  <a:lnTo>
                    <a:pt x="1620012" y="658367"/>
                  </a:lnTo>
                  <a:lnTo>
                    <a:pt x="1620012" y="73151"/>
                  </a:lnTo>
                  <a:lnTo>
                    <a:pt x="1614261" y="44684"/>
                  </a:lnTo>
                  <a:lnTo>
                    <a:pt x="1598580" y="21431"/>
                  </a:lnTo>
                  <a:lnTo>
                    <a:pt x="1575327" y="5750"/>
                  </a:lnTo>
                  <a:lnTo>
                    <a:pt x="1546860" y="0"/>
                  </a:lnTo>
                  <a:close/>
                </a:path>
              </a:pathLst>
            </a:custGeom>
            <a:solidFill>
              <a:srgbClr val="E6F3E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2415540" y="1737360"/>
              <a:ext cx="1620520" cy="731520"/>
            </a:xfrm>
            <a:custGeom>
              <a:avLst/>
              <a:gdLst/>
              <a:ahLst/>
              <a:cxnLst/>
              <a:rect l="l" t="t" r="r" b="b"/>
              <a:pathLst>
                <a:path w="1620520" h="731519">
                  <a:moveTo>
                    <a:pt x="0" y="73151"/>
                  </a:moveTo>
                  <a:lnTo>
                    <a:pt x="5750" y="44684"/>
                  </a:lnTo>
                  <a:lnTo>
                    <a:pt x="21431" y="21431"/>
                  </a:lnTo>
                  <a:lnTo>
                    <a:pt x="44684" y="5750"/>
                  </a:lnTo>
                  <a:lnTo>
                    <a:pt x="73152" y="0"/>
                  </a:lnTo>
                  <a:lnTo>
                    <a:pt x="1546860" y="0"/>
                  </a:lnTo>
                  <a:lnTo>
                    <a:pt x="1575327" y="5750"/>
                  </a:lnTo>
                  <a:lnTo>
                    <a:pt x="1598580" y="21431"/>
                  </a:lnTo>
                  <a:lnTo>
                    <a:pt x="1614261" y="44684"/>
                  </a:lnTo>
                  <a:lnTo>
                    <a:pt x="1620012" y="73151"/>
                  </a:lnTo>
                  <a:lnTo>
                    <a:pt x="1620012" y="658367"/>
                  </a:lnTo>
                  <a:lnTo>
                    <a:pt x="1614261" y="686835"/>
                  </a:lnTo>
                  <a:lnTo>
                    <a:pt x="1598580" y="710088"/>
                  </a:lnTo>
                  <a:lnTo>
                    <a:pt x="1575327" y="725769"/>
                  </a:lnTo>
                  <a:lnTo>
                    <a:pt x="1546860" y="731519"/>
                  </a:lnTo>
                  <a:lnTo>
                    <a:pt x="73152" y="731519"/>
                  </a:lnTo>
                  <a:lnTo>
                    <a:pt x="44684" y="725769"/>
                  </a:lnTo>
                  <a:lnTo>
                    <a:pt x="21431" y="710088"/>
                  </a:lnTo>
                  <a:lnTo>
                    <a:pt x="5750" y="686835"/>
                  </a:lnTo>
                  <a:lnTo>
                    <a:pt x="0" y="658367"/>
                  </a:lnTo>
                  <a:lnTo>
                    <a:pt x="0" y="73151"/>
                  </a:lnTo>
                  <a:close/>
                </a:path>
              </a:pathLst>
            </a:custGeom>
            <a:ln w="12192">
              <a:solidFill>
                <a:srgbClr val="1F4D3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/>
          <p:nvPr/>
        </p:nvSpPr>
        <p:spPr>
          <a:xfrm>
            <a:off x="2940176" y="1921509"/>
            <a:ext cx="571500" cy="34671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defRPr sz="950" b="1">
                <a:solidFill>
                  <a:srgbClr val="FFFFFF"/>
                </a:solidFill>
                <a:latin typeface="Calibri"/>
              </a:defRPr>
            </a:pPr>
            <a:r>
              <a:t>Live Face</a:t>
            </a:r>
            <a:br/>
            <a:r>
              <a:t>Match</a:t>
            </a:r>
          </a:p>
        </p:txBody>
      </p:sp>
      <p:sp>
        <p:nvSpPr>
          <p:cNvPr id="14" name="object 14"/>
          <p:cNvSpPr txBox="1"/>
          <p:nvPr/>
        </p:nvSpPr>
        <p:spPr>
          <a:xfrm>
            <a:off x="4099940" y="1989785"/>
            <a:ext cx="163830" cy="2089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spc="-50" dirty="0">
                <a:solidFill>
                  <a:srgbClr val="C8A83E"/>
                </a:solidFill>
                <a:latin typeface="Calibri"/>
                <a:cs typeface="Calibri"/>
              </a:rPr>
              <a:t>→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4322064" y="1731264"/>
            <a:ext cx="1632585" cy="744220"/>
            <a:chOff x="4322064" y="1731264"/>
            <a:chExt cx="1632585" cy="744220"/>
          </a:xfrm>
        </p:grpSpPr>
        <p:sp>
          <p:nvSpPr>
            <p:cNvPr id="16" name="object 16"/>
            <p:cNvSpPr/>
            <p:nvPr/>
          </p:nvSpPr>
          <p:spPr>
            <a:xfrm>
              <a:off x="4328160" y="1737360"/>
              <a:ext cx="1620520" cy="731520"/>
            </a:xfrm>
            <a:custGeom>
              <a:avLst/>
              <a:gdLst/>
              <a:ahLst/>
              <a:cxnLst/>
              <a:rect l="l" t="t" r="r" b="b"/>
              <a:pathLst>
                <a:path w="1620520" h="731519">
                  <a:moveTo>
                    <a:pt x="1546860" y="0"/>
                  </a:moveTo>
                  <a:lnTo>
                    <a:pt x="73151" y="0"/>
                  </a:lnTo>
                  <a:lnTo>
                    <a:pt x="44684" y="5750"/>
                  </a:lnTo>
                  <a:lnTo>
                    <a:pt x="21431" y="21431"/>
                  </a:lnTo>
                  <a:lnTo>
                    <a:pt x="5750" y="44684"/>
                  </a:lnTo>
                  <a:lnTo>
                    <a:pt x="0" y="73151"/>
                  </a:lnTo>
                  <a:lnTo>
                    <a:pt x="0" y="658367"/>
                  </a:lnTo>
                  <a:lnTo>
                    <a:pt x="5750" y="686835"/>
                  </a:lnTo>
                  <a:lnTo>
                    <a:pt x="21431" y="710088"/>
                  </a:lnTo>
                  <a:lnTo>
                    <a:pt x="44684" y="725769"/>
                  </a:lnTo>
                  <a:lnTo>
                    <a:pt x="73151" y="731519"/>
                  </a:lnTo>
                  <a:lnTo>
                    <a:pt x="1546860" y="731519"/>
                  </a:lnTo>
                  <a:lnTo>
                    <a:pt x="1575327" y="725769"/>
                  </a:lnTo>
                  <a:lnTo>
                    <a:pt x="1598580" y="710088"/>
                  </a:lnTo>
                  <a:lnTo>
                    <a:pt x="1614261" y="686835"/>
                  </a:lnTo>
                  <a:lnTo>
                    <a:pt x="1620012" y="658367"/>
                  </a:lnTo>
                  <a:lnTo>
                    <a:pt x="1620012" y="73151"/>
                  </a:lnTo>
                  <a:lnTo>
                    <a:pt x="1614261" y="44684"/>
                  </a:lnTo>
                  <a:lnTo>
                    <a:pt x="1598580" y="21431"/>
                  </a:lnTo>
                  <a:lnTo>
                    <a:pt x="1575327" y="5750"/>
                  </a:lnTo>
                  <a:lnTo>
                    <a:pt x="1546860" y="0"/>
                  </a:lnTo>
                  <a:close/>
                </a:path>
              </a:pathLst>
            </a:custGeom>
            <a:solidFill>
              <a:srgbClr val="E6F3E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4328160" y="1737360"/>
              <a:ext cx="1620520" cy="731520"/>
            </a:xfrm>
            <a:custGeom>
              <a:avLst/>
              <a:gdLst/>
              <a:ahLst/>
              <a:cxnLst/>
              <a:rect l="l" t="t" r="r" b="b"/>
              <a:pathLst>
                <a:path w="1620520" h="731519">
                  <a:moveTo>
                    <a:pt x="0" y="73151"/>
                  </a:moveTo>
                  <a:lnTo>
                    <a:pt x="5750" y="44684"/>
                  </a:lnTo>
                  <a:lnTo>
                    <a:pt x="21431" y="21431"/>
                  </a:lnTo>
                  <a:lnTo>
                    <a:pt x="44684" y="5750"/>
                  </a:lnTo>
                  <a:lnTo>
                    <a:pt x="73151" y="0"/>
                  </a:lnTo>
                  <a:lnTo>
                    <a:pt x="1546860" y="0"/>
                  </a:lnTo>
                  <a:lnTo>
                    <a:pt x="1575327" y="5750"/>
                  </a:lnTo>
                  <a:lnTo>
                    <a:pt x="1598580" y="21431"/>
                  </a:lnTo>
                  <a:lnTo>
                    <a:pt x="1614261" y="44684"/>
                  </a:lnTo>
                  <a:lnTo>
                    <a:pt x="1620012" y="73151"/>
                  </a:lnTo>
                  <a:lnTo>
                    <a:pt x="1620012" y="658367"/>
                  </a:lnTo>
                  <a:lnTo>
                    <a:pt x="1614261" y="686835"/>
                  </a:lnTo>
                  <a:lnTo>
                    <a:pt x="1598580" y="710088"/>
                  </a:lnTo>
                  <a:lnTo>
                    <a:pt x="1575327" y="725769"/>
                  </a:lnTo>
                  <a:lnTo>
                    <a:pt x="1546860" y="731519"/>
                  </a:lnTo>
                  <a:lnTo>
                    <a:pt x="73151" y="731519"/>
                  </a:lnTo>
                  <a:lnTo>
                    <a:pt x="44684" y="725769"/>
                  </a:lnTo>
                  <a:lnTo>
                    <a:pt x="21431" y="710088"/>
                  </a:lnTo>
                  <a:lnTo>
                    <a:pt x="5750" y="686835"/>
                  </a:lnTo>
                  <a:lnTo>
                    <a:pt x="0" y="658367"/>
                  </a:lnTo>
                  <a:lnTo>
                    <a:pt x="0" y="73151"/>
                  </a:lnTo>
                  <a:close/>
                </a:path>
              </a:pathLst>
            </a:custGeom>
            <a:ln w="12192">
              <a:solidFill>
                <a:srgbClr val="1F4D3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8" name="object 18"/>
          <p:cNvSpPr txBox="1"/>
          <p:nvPr/>
        </p:nvSpPr>
        <p:spPr>
          <a:xfrm>
            <a:off x="4849748" y="1921509"/>
            <a:ext cx="578485" cy="34671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defRPr sz="950" b="1">
                <a:solidFill>
                  <a:srgbClr val="FFFFFF"/>
                </a:solidFill>
                <a:latin typeface="Calibri"/>
              </a:defRPr>
            </a:pPr>
            <a:r>
              <a:t>OCR Cross</a:t>
            </a:r>
            <a:br/>
            <a:r>
              <a:t>Check</a:t>
            </a:r>
          </a:p>
        </p:txBody>
      </p:sp>
      <p:sp>
        <p:nvSpPr>
          <p:cNvPr id="19" name="object 19"/>
          <p:cNvSpPr txBox="1"/>
          <p:nvPr/>
        </p:nvSpPr>
        <p:spPr>
          <a:xfrm>
            <a:off x="6012941" y="1989785"/>
            <a:ext cx="163830" cy="2089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spc="-50" dirty="0">
                <a:solidFill>
                  <a:srgbClr val="C8A83E"/>
                </a:solidFill>
                <a:latin typeface="Calibri"/>
                <a:cs typeface="Calibri"/>
              </a:rPr>
              <a:t>→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20" name="object 20"/>
          <p:cNvGrpSpPr/>
          <p:nvPr/>
        </p:nvGrpSpPr>
        <p:grpSpPr>
          <a:xfrm>
            <a:off x="6234684" y="1731264"/>
            <a:ext cx="1632585" cy="744220"/>
            <a:chOff x="6234684" y="1731264"/>
            <a:chExt cx="1632585" cy="744220"/>
          </a:xfrm>
        </p:grpSpPr>
        <p:sp>
          <p:nvSpPr>
            <p:cNvPr id="21" name="object 21"/>
            <p:cNvSpPr/>
            <p:nvPr/>
          </p:nvSpPr>
          <p:spPr>
            <a:xfrm>
              <a:off x="6240780" y="1737360"/>
              <a:ext cx="1620520" cy="731520"/>
            </a:xfrm>
            <a:custGeom>
              <a:avLst/>
              <a:gdLst/>
              <a:ahLst/>
              <a:cxnLst/>
              <a:rect l="l" t="t" r="r" b="b"/>
              <a:pathLst>
                <a:path w="1620520" h="731519">
                  <a:moveTo>
                    <a:pt x="1546860" y="0"/>
                  </a:moveTo>
                  <a:lnTo>
                    <a:pt x="73152" y="0"/>
                  </a:lnTo>
                  <a:lnTo>
                    <a:pt x="44684" y="5750"/>
                  </a:lnTo>
                  <a:lnTo>
                    <a:pt x="21431" y="21431"/>
                  </a:lnTo>
                  <a:lnTo>
                    <a:pt x="5750" y="44684"/>
                  </a:lnTo>
                  <a:lnTo>
                    <a:pt x="0" y="73151"/>
                  </a:lnTo>
                  <a:lnTo>
                    <a:pt x="0" y="658367"/>
                  </a:lnTo>
                  <a:lnTo>
                    <a:pt x="5750" y="686835"/>
                  </a:lnTo>
                  <a:lnTo>
                    <a:pt x="21431" y="710088"/>
                  </a:lnTo>
                  <a:lnTo>
                    <a:pt x="44684" y="725769"/>
                  </a:lnTo>
                  <a:lnTo>
                    <a:pt x="73152" y="731519"/>
                  </a:lnTo>
                  <a:lnTo>
                    <a:pt x="1546860" y="731519"/>
                  </a:lnTo>
                  <a:lnTo>
                    <a:pt x="1575327" y="725769"/>
                  </a:lnTo>
                  <a:lnTo>
                    <a:pt x="1598580" y="710088"/>
                  </a:lnTo>
                  <a:lnTo>
                    <a:pt x="1614261" y="686835"/>
                  </a:lnTo>
                  <a:lnTo>
                    <a:pt x="1620012" y="658367"/>
                  </a:lnTo>
                  <a:lnTo>
                    <a:pt x="1620012" y="73151"/>
                  </a:lnTo>
                  <a:lnTo>
                    <a:pt x="1614261" y="44684"/>
                  </a:lnTo>
                  <a:lnTo>
                    <a:pt x="1598580" y="21431"/>
                  </a:lnTo>
                  <a:lnTo>
                    <a:pt x="1575327" y="5750"/>
                  </a:lnTo>
                  <a:lnTo>
                    <a:pt x="1546860" y="0"/>
                  </a:lnTo>
                  <a:close/>
                </a:path>
              </a:pathLst>
            </a:custGeom>
            <a:solidFill>
              <a:srgbClr val="FFF7D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6240780" y="1737360"/>
              <a:ext cx="1620520" cy="731520"/>
            </a:xfrm>
            <a:custGeom>
              <a:avLst/>
              <a:gdLst/>
              <a:ahLst/>
              <a:cxnLst/>
              <a:rect l="l" t="t" r="r" b="b"/>
              <a:pathLst>
                <a:path w="1620520" h="731519">
                  <a:moveTo>
                    <a:pt x="0" y="73151"/>
                  </a:moveTo>
                  <a:lnTo>
                    <a:pt x="5750" y="44684"/>
                  </a:lnTo>
                  <a:lnTo>
                    <a:pt x="21431" y="21431"/>
                  </a:lnTo>
                  <a:lnTo>
                    <a:pt x="44684" y="5750"/>
                  </a:lnTo>
                  <a:lnTo>
                    <a:pt x="73152" y="0"/>
                  </a:lnTo>
                  <a:lnTo>
                    <a:pt x="1546860" y="0"/>
                  </a:lnTo>
                  <a:lnTo>
                    <a:pt x="1575327" y="5750"/>
                  </a:lnTo>
                  <a:lnTo>
                    <a:pt x="1598580" y="21431"/>
                  </a:lnTo>
                  <a:lnTo>
                    <a:pt x="1614261" y="44684"/>
                  </a:lnTo>
                  <a:lnTo>
                    <a:pt x="1620012" y="73151"/>
                  </a:lnTo>
                  <a:lnTo>
                    <a:pt x="1620012" y="658367"/>
                  </a:lnTo>
                  <a:lnTo>
                    <a:pt x="1614261" y="686835"/>
                  </a:lnTo>
                  <a:lnTo>
                    <a:pt x="1598580" y="710088"/>
                  </a:lnTo>
                  <a:lnTo>
                    <a:pt x="1575327" y="725769"/>
                  </a:lnTo>
                  <a:lnTo>
                    <a:pt x="1546860" y="731519"/>
                  </a:lnTo>
                  <a:lnTo>
                    <a:pt x="73152" y="731519"/>
                  </a:lnTo>
                  <a:lnTo>
                    <a:pt x="44684" y="725769"/>
                  </a:lnTo>
                  <a:lnTo>
                    <a:pt x="21431" y="710088"/>
                  </a:lnTo>
                  <a:lnTo>
                    <a:pt x="5750" y="686835"/>
                  </a:lnTo>
                  <a:lnTo>
                    <a:pt x="0" y="658367"/>
                  </a:lnTo>
                  <a:lnTo>
                    <a:pt x="0" y="73151"/>
                  </a:lnTo>
                  <a:close/>
                </a:path>
              </a:pathLst>
            </a:custGeom>
            <a:ln w="12191">
              <a:solidFill>
                <a:srgbClr val="C8A83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3" name="object 23"/>
          <p:cNvSpPr txBox="1"/>
          <p:nvPr/>
        </p:nvSpPr>
        <p:spPr>
          <a:xfrm>
            <a:off x="6768845" y="1921509"/>
            <a:ext cx="567055" cy="34671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defRPr sz="950" b="1">
                <a:solidFill>
                  <a:srgbClr val="FFFFFF"/>
                </a:solidFill>
                <a:latin typeface="Calibri"/>
              </a:defRPr>
            </a:pPr>
            <a:r>
              <a:t>EBM</a:t>
            </a:r>
            <a:br/>
            <a:r>
              <a:t>Scoring</a:t>
            </a:r>
          </a:p>
        </p:txBody>
      </p:sp>
      <p:sp>
        <p:nvSpPr>
          <p:cNvPr id="24" name="object 24"/>
          <p:cNvSpPr txBox="1"/>
          <p:nvPr/>
        </p:nvSpPr>
        <p:spPr>
          <a:xfrm>
            <a:off x="7925561" y="1989785"/>
            <a:ext cx="163830" cy="2089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spc="-50" dirty="0">
                <a:solidFill>
                  <a:srgbClr val="C8A83E"/>
                </a:solidFill>
                <a:latin typeface="Calibri"/>
                <a:cs typeface="Calibri"/>
              </a:rPr>
              <a:t>→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25" name="object 25"/>
          <p:cNvGrpSpPr/>
          <p:nvPr/>
        </p:nvGrpSpPr>
        <p:grpSpPr>
          <a:xfrm>
            <a:off x="8147304" y="1731264"/>
            <a:ext cx="1632585" cy="744220"/>
            <a:chOff x="8147304" y="1731264"/>
            <a:chExt cx="1632585" cy="744220"/>
          </a:xfrm>
        </p:grpSpPr>
        <p:sp>
          <p:nvSpPr>
            <p:cNvPr id="26" name="object 26"/>
            <p:cNvSpPr/>
            <p:nvPr/>
          </p:nvSpPr>
          <p:spPr>
            <a:xfrm>
              <a:off x="8153400" y="1737360"/>
              <a:ext cx="1620520" cy="731520"/>
            </a:xfrm>
            <a:custGeom>
              <a:avLst/>
              <a:gdLst/>
              <a:ahLst/>
              <a:cxnLst/>
              <a:rect l="l" t="t" r="r" b="b"/>
              <a:pathLst>
                <a:path w="1620520" h="731519">
                  <a:moveTo>
                    <a:pt x="1546859" y="0"/>
                  </a:moveTo>
                  <a:lnTo>
                    <a:pt x="73151" y="0"/>
                  </a:lnTo>
                  <a:lnTo>
                    <a:pt x="44684" y="5750"/>
                  </a:lnTo>
                  <a:lnTo>
                    <a:pt x="21431" y="21431"/>
                  </a:lnTo>
                  <a:lnTo>
                    <a:pt x="5750" y="44684"/>
                  </a:lnTo>
                  <a:lnTo>
                    <a:pt x="0" y="73151"/>
                  </a:lnTo>
                  <a:lnTo>
                    <a:pt x="0" y="658367"/>
                  </a:lnTo>
                  <a:lnTo>
                    <a:pt x="5750" y="686835"/>
                  </a:lnTo>
                  <a:lnTo>
                    <a:pt x="21431" y="710088"/>
                  </a:lnTo>
                  <a:lnTo>
                    <a:pt x="44684" y="725769"/>
                  </a:lnTo>
                  <a:lnTo>
                    <a:pt x="73151" y="731519"/>
                  </a:lnTo>
                  <a:lnTo>
                    <a:pt x="1546859" y="731519"/>
                  </a:lnTo>
                  <a:lnTo>
                    <a:pt x="1575327" y="725769"/>
                  </a:lnTo>
                  <a:lnTo>
                    <a:pt x="1598580" y="710088"/>
                  </a:lnTo>
                  <a:lnTo>
                    <a:pt x="1614261" y="686835"/>
                  </a:lnTo>
                  <a:lnTo>
                    <a:pt x="1620011" y="658367"/>
                  </a:lnTo>
                  <a:lnTo>
                    <a:pt x="1620011" y="73151"/>
                  </a:lnTo>
                  <a:lnTo>
                    <a:pt x="1614261" y="44684"/>
                  </a:lnTo>
                  <a:lnTo>
                    <a:pt x="1598580" y="21431"/>
                  </a:lnTo>
                  <a:lnTo>
                    <a:pt x="1575327" y="5750"/>
                  </a:lnTo>
                  <a:lnTo>
                    <a:pt x="1546859" y="0"/>
                  </a:lnTo>
                  <a:close/>
                </a:path>
              </a:pathLst>
            </a:custGeom>
            <a:solidFill>
              <a:srgbClr val="E6F3E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8153400" y="1737360"/>
              <a:ext cx="1620520" cy="731520"/>
            </a:xfrm>
            <a:custGeom>
              <a:avLst/>
              <a:gdLst/>
              <a:ahLst/>
              <a:cxnLst/>
              <a:rect l="l" t="t" r="r" b="b"/>
              <a:pathLst>
                <a:path w="1620520" h="731519">
                  <a:moveTo>
                    <a:pt x="0" y="73151"/>
                  </a:moveTo>
                  <a:lnTo>
                    <a:pt x="5750" y="44684"/>
                  </a:lnTo>
                  <a:lnTo>
                    <a:pt x="21431" y="21431"/>
                  </a:lnTo>
                  <a:lnTo>
                    <a:pt x="44684" y="5750"/>
                  </a:lnTo>
                  <a:lnTo>
                    <a:pt x="73151" y="0"/>
                  </a:lnTo>
                  <a:lnTo>
                    <a:pt x="1546859" y="0"/>
                  </a:lnTo>
                  <a:lnTo>
                    <a:pt x="1575327" y="5750"/>
                  </a:lnTo>
                  <a:lnTo>
                    <a:pt x="1598580" y="21431"/>
                  </a:lnTo>
                  <a:lnTo>
                    <a:pt x="1614261" y="44684"/>
                  </a:lnTo>
                  <a:lnTo>
                    <a:pt x="1620011" y="73151"/>
                  </a:lnTo>
                  <a:lnTo>
                    <a:pt x="1620011" y="658367"/>
                  </a:lnTo>
                  <a:lnTo>
                    <a:pt x="1614261" y="686835"/>
                  </a:lnTo>
                  <a:lnTo>
                    <a:pt x="1598580" y="710088"/>
                  </a:lnTo>
                  <a:lnTo>
                    <a:pt x="1575327" y="725769"/>
                  </a:lnTo>
                  <a:lnTo>
                    <a:pt x="1546859" y="731519"/>
                  </a:lnTo>
                  <a:lnTo>
                    <a:pt x="73151" y="731519"/>
                  </a:lnTo>
                  <a:lnTo>
                    <a:pt x="44684" y="725769"/>
                  </a:lnTo>
                  <a:lnTo>
                    <a:pt x="21431" y="710088"/>
                  </a:lnTo>
                  <a:lnTo>
                    <a:pt x="5750" y="686835"/>
                  </a:lnTo>
                  <a:lnTo>
                    <a:pt x="0" y="658367"/>
                  </a:lnTo>
                  <a:lnTo>
                    <a:pt x="0" y="73151"/>
                  </a:lnTo>
                  <a:close/>
                </a:path>
              </a:pathLst>
            </a:custGeom>
            <a:ln w="12192">
              <a:solidFill>
                <a:srgbClr val="1F4D3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8658859" y="1921509"/>
            <a:ext cx="609600" cy="34671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defRPr sz="950" b="1">
                <a:solidFill>
                  <a:srgbClr val="FFFFFF"/>
                </a:solidFill>
                <a:latin typeface="Calibri"/>
              </a:defRPr>
            </a:pPr>
            <a:r>
              <a:t>Ranked</a:t>
            </a:r>
            <a:br/>
            <a:r>
              <a:t>Reasons</a:t>
            </a:r>
          </a:p>
        </p:txBody>
      </p:sp>
      <p:sp>
        <p:nvSpPr>
          <p:cNvPr id="29" name="object 29"/>
          <p:cNvSpPr txBox="1"/>
          <p:nvPr/>
        </p:nvSpPr>
        <p:spPr>
          <a:xfrm>
            <a:off x="9838435" y="1989785"/>
            <a:ext cx="163830" cy="2089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spc="-50" dirty="0">
                <a:solidFill>
                  <a:srgbClr val="C8A83E"/>
                </a:solidFill>
                <a:latin typeface="Calibri"/>
                <a:cs typeface="Calibri"/>
              </a:rPr>
              <a:t>→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10059923" y="1731264"/>
            <a:ext cx="1632585" cy="744220"/>
            <a:chOff x="10059923" y="1731264"/>
            <a:chExt cx="1632585" cy="744220"/>
          </a:xfrm>
        </p:grpSpPr>
        <p:sp>
          <p:nvSpPr>
            <p:cNvPr id="31" name="object 31"/>
            <p:cNvSpPr/>
            <p:nvPr/>
          </p:nvSpPr>
          <p:spPr>
            <a:xfrm>
              <a:off x="10066019" y="1737360"/>
              <a:ext cx="1620520" cy="731520"/>
            </a:xfrm>
            <a:custGeom>
              <a:avLst/>
              <a:gdLst/>
              <a:ahLst/>
              <a:cxnLst/>
              <a:rect l="l" t="t" r="r" b="b"/>
              <a:pathLst>
                <a:path w="1620520" h="731519">
                  <a:moveTo>
                    <a:pt x="1546859" y="0"/>
                  </a:moveTo>
                  <a:lnTo>
                    <a:pt x="73151" y="0"/>
                  </a:lnTo>
                  <a:lnTo>
                    <a:pt x="44684" y="5750"/>
                  </a:lnTo>
                  <a:lnTo>
                    <a:pt x="21431" y="21431"/>
                  </a:lnTo>
                  <a:lnTo>
                    <a:pt x="5750" y="44684"/>
                  </a:lnTo>
                  <a:lnTo>
                    <a:pt x="0" y="73151"/>
                  </a:lnTo>
                  <a:lnTo>
                    <a:pt x="0" y="658367"/>
                  </a:lnTo>
                  <a:lnTo>
                    <a:pt x="5750" y="686835"/>
                  </a:lnTo>
                  <a:lnTo>
                    <a:pt x="21431" y="710088"/>
                  </a:lnTo>
                  <a:lnTo>
                    <a:pt x="44684" y="725769"/>
                  </a:lnTo>
                  <a:lnTo>
                    <a:pt x="73151" y="731519"/>
                  </a:lnTo>
                  <a:lnTo>
                    <a:pt x="1546859" y="731519"/>
                  </a:lnTo>
                  <a:lnTo>
                    <a:pt x="1575327" y="725769"/>
                  </a:lnTo>
                  <a:lnTo>
                    <a:pt x="1598580" y="710088"/>
                  </a:lnTo>
                  <a:lnTo>
                    <a:pt x="1614261" y="686835"/>
                  </a:lnTo>
                  <a:lnTo>
                    <a:pt x="1620011" y="658367"/>
                  </a:lnTo>
                  <a:lnTo>
                    <a:pt x="1620011" y="73151"/>
                  </a:lnTo>
                  <a:lnTo>
                    <a:pt x="1614261" y="44684"/>
                  </a:lnTo>
                  <a:lnTo>
                    <a:pt x="1598580" y="21431"/>
                  </a:lnTo>
                  <a:lnTo>
                    <a:pt x="1575327" y="5750"/>
                  </a:lnTo>
                  <a:lnTo>
                    <a:pt x="1546859" y="0"/>
                  </a:lnTo>
                  <a:close/>
                </a:path>
              </a:pathLst>
            </a:custGeom>
            <a:solidFill>
              <a:srgbClr val="1F4D3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10066019" y="1737360"/>
              <a:ext cx="1620520" cy="731520"/>
            </a:xfrm>
            <a:custGeom>
              <a:avLst/>
              <a:gdLst/>
              <a:ahLst/>
              <a:cxnLst/>
              <a:rect l="l" t="t" r="r" b="b"/>
              <a:pathLst>
                <a:path w="1620520" h="731519">
                  <a:moveTo>
                    <a:pt x="0" y="73151"/>
                  </a:moveTo>
                  <a:lnTo>
                    <a:pt x="5750" y="44684"/>
                  </a:lnTo>
                  <a:lnTo>
                    <a:pt x="21431" y="21431"/>
                  </a:lnTo>
                  <a:lnTo>
                    <a:pt x="44684" y="5750"/>
                  </a:lnTo>
                  <a:lnTo>
                    <a:pt x="73151" y="0"/>
                  </a:lnTo>
                  <a:lnTo>
                    <a:pt x="1546859" y="0"/>
                  </a:lnTo>
                  <a:lnTo>
                    <a:pt x="1575327" y="5750"/>
                  </a:lnTo>
                  <a:lnTo>
                    <a:pt x="1598580" y="21431"/>
                  </a:lnTo>
                  <a:lnTo>
                    <a:pt x="1614261" y="44684"/>
                  </a:lnTo>
                  <a:lnTo>
                    <a:pt x="1620011" y="73151"/>
                  </a:lnTo>
                  <a:lnTo>
                    <a:pt x="1620011" y="658367"/>
                  </a:lnTo>
                  <a:lnTo>
                    <a:pt x="1614261" y="686835"/>
                  </a:lnTo>
                  <a:lnTo>
                    <a:pt x="1598580" y="710088"/>
                  </a:lnTo>
                  <a:lnTo>
                    <a:pt x="1575327" y="725769"/>
                  </a:lnTo>
                  <a:lnTo>
                    <a:pt x="1546859" y="731519"/>
                  </a:lnTo>
                  <a:lnTo>
                    <a:pt x="73151" y="731519"/>
                  </a:lnTo>
                  <a:lnTo>
                    <a:pt x="44684" y="725769"/>
                  </a:lnTo>
                  <a:lnTo>
                    <a:pt x="21431" y="710088"/>
                  </a:lnTo>
                  <a:lnTo>
                    <a:pt x="5750" y="686835"/>
                  </a:lnTo>
                  <a:lnTo>
                    <a:pt x="0" y="658367"/>
                  </a:lnTo>
                  <a:lnTo>
                    <a:pt x="0" y="73151"/>
                  </a:lnTo>
                  <a:close/>
                </a:path>
              </a:pathLst>
            </a:custGeom>
            <a:ln w="12192">
              <a:solidFill>
                <a:srgbClr val="1F4D3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3" name="object 33"/>
          <p:cNvSpPr txBox="1"/>
          <p:nvPr/>
        </p:nvSpPr>
        <p:spPr>
          <a:xfrm>
            <a:off x="10564114" y="1921509"/>
            <a:ext cx="628650" cy="34671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defRPr sz="950" b="1">
                <a:solidFill>
                  <a:srgbClr val="FFFFFF"/>
                </a:solidFill>
                <a:latin typeface="Calibri"/>
              </a:defRPr>
            </a:pPr>
            <a:r>
              <a:t>Verdict +</a:t>
            </a:r>
            <a:br/>
            <a:r>
              <a:t>Audit</a:t>
            </a:r>
          </a:p>
        </p:txBody>
      </p:sp>
      <p:sp>
        <p:nvSpPr>
          <p:cNvPr id="34" name="object 34"/>
          <p:cNvSpPr/>
          <p:nvPr/>
        </p:nvSpPr>
        <p:spPr>
          <a:xfrm>
            <a:off x="502919" y="2743200"/>
            <a:ext cx="5486400" cy="329565"/>
          </a:xfrm>
          <a:custGeom>
            <a:avLst/>
            <a:gdLst/>
            <a:ahLst/>
            <a:cxnLst/>
            <a:rect l="l" t="t" r="r" b="b"/>
            <a:pathLst>
              <a:path w="5486400" h="329564">
                <a:moveTo>
                  <a:pt x="0" y="329184"/>
                </a:moveTo>
                <a:lnTo>
                  <a:pt x="5486400" y="329184"/>
                </a:lnTo>
                <a:lnTo>
                  <a:pt x="5486400" y="0"/>
                </a:lnTo>
                <a:lnTo>
                  <a:pt x="0" y="0"/>
                </a:lnTo>
                <a:lnTo>
                  <a:pt x="0" y="329184"/>
                </a:lnTo>
                <a:close/>
              </a:path>
            </a:pathLst>
          </a:custGeom>
          <a:ln w="12192">
            <a:solidFill>
              <a:srgbClr val="1F4D3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5" name="object 35"/>
          <p:cNvSpPr txBox="1"/>
          <p:nvPr/>
        </p:nvSpPr>
        <p:spPr>
          <a:xfrm>
            <a:off x="496823" y="2737104"/>
            <a:ext cx="5499100" cy="341630"/>
          </a:xfrm>
          <a:prstGeom prst="rect">
            <a:avLst/>
          </a:prstGeom>
          <a:solidFill>
            <a:srgbClr val="1F4D39"/>
          </a:solidFill>
        </p:spPr>
        <p:txBody>
          <a:bodyPr vert="horz" wrap="square" lIns="0" tIns="86995" rIns="0" bIns="0" rtlCol="0">
            <a:spAutoFit/>
          </a:bodyPr>
          <a:lstStyle/>
          <a:p>
            <a:pPr>
              <a:defRPr sz="1000" b="1">
                <a:solidFill>
                  <a:srgbClr val="FFFFFF"/>
                </a:solidFill>
                <a:latin typeface="Calibri"/>
              </a:defRPr>
            </a:pPr>
            <a:r>
              <a:t>PROCESSING STEPS</a:t>
            </a:r>
          </a:p>
        </p:txBody>
      </p:sp>
      <p:sp>
        <p:nvSpPr>
          <p:cNvPr id="39" name="object 39"/>
          <p:cNvSpPr/>
          <p:nvPr/>
        </p:nvSpPr>
        <p:spPr>
          <a:xfrm>
            <a:off x="6199632" y="2743200"/>
            <a:ext cx="5486400" cy="329565"/>
          </a:xfrm>
          <a:custGeom>
            <a:avLst/>
            <a:gdLst/>
            <a:ahLst/>
            <a:cxnLst/>
            <a:rect l="l" t="t" r="r" b="b"/>
            <a:pathLst>
              <a:path w="5486400" h="329564">
                <a:moveTo>
                  <a:pt x="0" y="329184"/>
                </a:moveTo>
                <a:lnTo>
                  <a:pt x="5486400" y="329184"/>
                </a:lnTo>
                <a:lnTo>
                  <a:pt x="5486400" y="0"/>
                </a:lnTo>
                <a:lnTo>
                  <a:pt x="0" y="0"/>
                </a:lnTo>
                <a:lnTo>
                  <a:pt x="0" y="329184"/>
                </a:lnTo>
                <a:close/>
              </a:path>
            </a:pathLst>
          </a:custGeom>
          <a:ln w="12192">
            <a:solidFill>
              <a:srgbClr val="1F4D3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0" name="object 40"/>
          <p:cNvSpPr txBox="1"/>
          <p:nvPr/>
        </p:nvSpPr>
        <p:spPr>
          <a:xfrm>
            <a:off x="6193535" y="2737104"/>
            <a:ext cx="5499100" cy="341630"/>
          </a:xfrm>
          <a:prstGeom prst="rect">
            <a:avLst/>
          </a:prstGeom>
          <a:solidFill>
            <a:srgbClr val="1F4D39"/>
          </a:solidFill>
        </p:spPr>
        <p:txBody>
          <a:bodyPr vert="horz" wrap="square" lIns="0" tIns="86995" rIns="0" bIns="0" rtlCol="0">
            <a:spAutoFit/>
          </a:bodyPr>
          <a:lstStyle/>
          <a:p>
            <a:pPr>
              <a:defRPr sz="1000" b="1">
                <a:solidFill>
                  <a:srgbClr val="FFFFFF"/>
                </a:solidFill>
                <a:latin typeface="Calibri"/>
              </a:defRPr>
            </a:pPr>
            <a:r>
              <a:t>KEY FEATURES</a:t>
            </a:r>
          </a:p>
        </p:txBody>
      </p:sp>
      <p:grpSp>
        <p:nvGrpSpPr>
          <p:cNvPr id="36" name="object 36"/>
          <p:cNvGrpSpPr/>
          <p:nvPr/>
        </p:nvGrpSpPr>
        <p:grpSpPr>
          <a:xfrm>
            <a:off x="498348" y="3067811"/>
            <a:ext cx="5495925" cy="3118485"/>
            <a:chOff x="498348" y="3067811"/>
            <a:chExt cx="5495925" cy="3118485"/>
          </a:xfrm>
        </p:grpSpPr>
        <p:sp>
          <p:nvSpPr>
            <p:cNvPr id="37" name="object 37"/>
            <p:cNvSpPr/>
            <p:nvPr/>
          </p:nvSpPr>
          <p:spPr>
            <a:xfrm>
              <a:off x="502920" y="3072383"/>
              <a:ext cx="5486400" cy="3108960"/>
            </a:xfrm>
            <a:custGeom>
              <a:avLst/>
              <a:gdLst/>
              <a:ahLst/>
              <a:cxnLst/>
              <a:rect l="l" t="t" r="r" b="b"/>
              <a:pathLst>
                <a:path w="5486400" h="3108960">
                  <a:moveTo>
                    <a:pt x="5413247" y="0"/>
                  </a:moveTo>
                  <a:lnTo>
                    <a:pt x="73151" y="0"/>
                  </a:lnTo>
                  <a:lnTo>
                    <a:pt x="44678" y="5750"/>
                  </a:lnTo>
                  <a:lnTo>
                    <a:pt x="21426" y="21431"/>
                  </a:lnTo>
                  <a:lnTo>
                    <a:pt x="5748" y="44684"/>
                  </a:lnTo>
                  <a:lnTo>
                    <a:pt x="0" y="73151"/>
                  </a:lnTo>
                  <a:lnTo>
                    <a:pt x="0" y="3035808"/>
                  </a:lnTo>
                  <a:lnTo>
                    <a:pt x="5748" y="3064281"/>
                  </a:lnTo>
                  <a:lnTo>
                    <a:pt x="21426" y="3087533"/>
                  </a:lnTo>
                  <a:lnTo>
                    <a:pt x="44678" y="3103211"/>
                  </a:lnTo>
                  <a:lnTo>
                    <a:pt x="73151" y="3108960"/>
                  </a:lnTo>
                  <a:lnTo>
                    <a:pt x="5413247" y="3108960"/>
                  </a:lnTo>
                  <a:lnTo>
                    <a:pt x="5441715" y="3103211"/>
                  </a:lnTo>
                  <a:lnTo>
                    <a:pt x="5464968" y="3087533"/>
                  </a:lnTo>
                  <a:lnTo>
                    <a:pt x="5480649" y="3064281"/>
                  </a:lnTo>
                  <a:lnTo>
                    <a:pt x="5486400" y="3035808"/>
                  </a:lnTo>
                  <a:lnTo>
                    <a:pt x="5486400" y="73151"/>
                  </a:lnTo>
                  <a:lnTo>
                    <a:pt x="5480649" y="44684"/>
                  </a:lnTo>
                  <a:lnTo>
                    <a:pt x="5464968" y="21431"/>
                  </a:lnTo>
                  <a:lnTo>
                    <a:pt x="5441715" y="5750"/>
                  </a:lnTo>
                  <a:lnTo>
                    <a:pt x="5413247" y="0"/>
                  </a:lnTo>
                  <a:close/>
                </a:path>
              </a:pathLst>
            </a:custGeom>
            <a:solidFill>
              <a:srgbClr val="F3F8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502920" y="3072383"/>
              <a:ext cx="5486400" cy="3108960"/>
            </a:xfrm>
            <a:custGeom>
              <a:avLst/>
              <a:gdLst/>
              <a:ahLst/>
              <a:cxnLst/>
              <a:rect l="l" t="t" r="r" b="b"/>
              <a:pathLst>
                <a:path w="5486400" h="3108960">
                  <a:moveTo>
                    <a:pt x="0" y="73151"/>
                  </a:moveTo>
                  <a:lnTo>
                    <a:pt x="5748" y="44684"/>
                  </a:lnTo>
                  <a:lnTo>
                    <a:pt x="21426" y="21431"/>
                  </a:lnTo>
                  <a:lnTo>
                    <a:pt x="44678" y="5750"/>
                  </a:lnTo>
                  <a:lnTo>
                    <a:pt x="73151" y="0"/>
                  </a:lnTo>
                  <a:lnTo>
                    <a:pt x="5413247" y="0"/>
                  </a:lnTo>
                  <a:lnTo>
                    <a:pt x="5441715" y="5750"/>
                  </a:lnTo>
                  <a:lnTo>
                    <a:pt x="5464968" y="21431"/>
                  </a:lnTo>
                  <a:lnTo>
                    <a:pt x="5480649" y="44684"/>
                  </a:lnTo>
                  <a:lnTo>
                    <a:pt x="5486400" y="73151"/>
                  </a:lnTo>
                  <a:lnTo>
                    <a:pt x="5486400" y="3035808"/>
                  </a:lnTo>
                  <a:lnTo>
                    <a:pt x="5480649" y="3064281"/>
                  </a:lnTo>
                  <a:lnTo>
                    <a:pt x="5464968" y="3087533"/>
                  </a:lnTo>
                  <a:lnTo>
                    <a:pt x="5441715" y="3103211"/>
                  </a:lnTo>
                  <a:lnTo>
                    <a:pt x="5413247" y="3108960"/>
                  </a:lnTo>
                  <a:lnTo>
                    <a:pt x="73151" y="3108960"/>
                  </a:lnTo>
                  <a:lnTo>
                    <a:pt x="44678" y="3103211"/>
                  </a:lnTo>
                  <a:lnTo>
                    <a:pt x="21426" y="3087533"/>
                  </a:lnTo>
                  <a:lnTo>
                    <a:pt x="5748" y="3064281"/>
                  </a:lnTo>
                  <a:lnTo>
                    <a:pt x="0" y="3035808"/>
                  </a:lnTo>
                  <a:lnTo>
                    <a:pt x="0" y="73151"/>
                  </a:lnTo>
                  <a:close/>
                </a:path>
              </a:pathLst>
            </a:custGeom>
            <a:ln w="9144">
              <a:solidFill>
                <a:srgbClr val="BED7C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4" name="object 44"/>
          <p:cNvSpPr txBox="1"/>
          <p:nvPr/>
        </p:nvSpPr>
        <p:spPr>
          <a:xfrm>
            <a:off x="718819" y="3149016"/>
            <a:ext cx="3736340" cy="1283335"/>
          </a:xfrm>
          <a:prstGeom prst="rect">
            <a:avLst/>
          </a:prstGeom>
        </p:spPr>
        <p:txBody>
          <a:bodyPr vert="horz" wrap="square" lIns="0" tIns="88900" rIns="0" bIns="0" rtlCol="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1A1A1A"/>
                </a:solidFill>
                <a:latin typeface="Calibri"/>
              </a:rPr>
              <a:t>DigiLocker SSO: </a:t>
            </a:r>
            <a:r>
              <a:rPr sz="1100" b="0">
                <a:solidFill>
                  <a:srgbClr val="1A1A1A"/>
                </a:solidFill>
                <a:latin typeface="Calibri"/>
              </a:rPr>
              <a:t>pulls authentic e-Aadhaar and PAN from government databases.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1A1A1A"/>
                </a:solidFill>
                <a:latin typeface="Calibri"/>
              </a:rPr>
              <a:t>Tri-Biometric Match: </a:t>
            </a:r>
            <a:r>
              <a:rPr sz="1100" b="0">
                <a:solidFill>
                  <a:srgbClr val="1A1A1A"/>
                </a:solidFill>
                <a:latin typeface="Calibri"/>
              </a:rPr>
              <a:t>compares live webcam selfie with both document photos (≥ 75%).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1A1A1A"/>
                </a:solidFill>
                <a:latin typeface="Calibri"/>
              </a:rPr>
              <a:t>OCR Cross-Check: </a:t>
            </a:r>
            <a:r>
              <a:rPr sz="1100" b="0">
                <a:solidFill>
                  <a:srgbClr val="1A1A1A"/>
                </a:solidFill>
                <a:latin typeface="Calibri"/>
              </a:rPr>
              <a:t>extracts text and validates name and DOB consistency across IDs.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1A1A1A"/>
                </a:solidFill>
                <a:latin typeface="Calibri"/>
              </a:rPr>
              <a:t>EBM Scoring: </a:t>
            </a:r>
            <a:r>
              <a:rPr sz="1100" b="0">
                <a:solidFill>
                  <a:srgbClr val="1A1A1A"/>
                </a:solidFill>
                <a:latin typeface="Calibri"/>
              </a:rPr>
              <a:t>calculates risk probability from income, debts, and bureau score.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1A1A1A"/>
                </a:solidFill>
                <a:latin typeface="Calibri"/>
              </a:rPr>
              <a:t>Explainable Verdict: </a:t>
            </a:r>
            <a:r>
              <a:rPr sz="1100" b="0">
                <a:solidFill>
                  <a:srgbClr val="1A1A1A"/>
                </a:solidFill>
                <a:latin typeface="Calibri"/>
              </a:rPr>
              <a:t>ranks top reasons and outputs instant sanction or decline notice.</a:t>
            </a:r>
          </a:p>
        </p:txBody>
      </p:sp>
      <p:grpSp>
        <p:nvGrpSpPr>
          <p:cNvPr id="41" name="object 41"/>
          <p:cNvGrpSpPr/>
          <p:nvPr/>
        </p:nvGrpSpPr>
        <p:grpSpPr>
          <a:xfrm>
            <a:off x="6195059" y="3067811"/>
            <a:ext cx="5495925" cy="3118485"/>
            <a:chOff x="6195059" y="3067811"/>
            <a:chExt cx="5495925" cy="3118485"/>
          </a:xfrm>
        </p:grpSpPr>
        <p:sp>
          <p:nvSpPr>
            <p:cNvPr id="42" name="object 42"/>
            <p:cNvSpPr/>
            <p:nvPr/>
          </p:nvSpPr>
          <p:spPr>
            <a:xfrm>
              <a:off x="6199631" y="3072383"/>
              <a:ext cx="5486400" cy="3108960"/>
            </a:xfrm>
            <a:custGeom>
              <a:avLst/>
              <a:gdLst/>
              <a:ahLst/>
              <a:cxnLst/>
              <a:rect l="l" t="t" r="r" b="b"/>
              <a:pathLst>
                <a:path w="5486400" h="3108960">
                  <a:moveTo>
                    <a:pt x="5413247" y="0"/>
                  </a:moveTo>
                  <a:lnTo>
                    <a:pt x="73151" y="0"/>
                  </a:lnTo>
                  <a:lnTo>
                    <a:pt x="44684" y="5750"/>
                  </a:lnTo>
                  <a:lnTo>
                    <a:pt x="21431" y="21431"/>
                  </a:lnTo>
                  <a:lnTo>
                    <a:pt x="5750" y="44684"/>
                  </a:lnTo>
                  <a:lnTo>
                    <a:pt x="0" y="73151"/>
                  </a:lnTo>
                  <a:lnTo>
                    <a:pt x="0" y="3035808"/>
                  </a:lnTo>
                  <a:lnTo>
                    <a:pt x="5750" y="3064281"/>
                  </a:lnTo>
                  <a:lnTo>
                    <a:pt x="21431" y="3087533"/>
                  </a:lnTo>
                  <a:lnTo>
                    <a:pt x="44684" y="3103211"/>
                  </a:lnTo>
                  <a:lnTo>
                    <a:pt x="73151" y="3108960"/>
                  </a:lnTo>
                  <a:lnTo>
                    <a:pt x="5413247" y="3108960"/>
                  </a:lnTo>
                  <a:lnTo>
                    <a:pt x="5441715" y="3103211"/>
                  </a:lnTo>
                  <a:lnTo>
                    <a:pt x="5464968" y="3087533"/>
                  </a:lnTo>
                  <a:lnTo>
                    <a:pt x="5480649" y="3064281"/>
                  </a:lnTo>
                  <a:lnTo>
                    <a:pt x="5486399" y="3035808"/>
                  </a:lnTo>
                  <a:lnTo>
                    <a:pt x="5486399" y="73151"/>
                  </a:lnTo>
                  <a:lnTo>
                    <a:pt x="5480649" y="44684"/>
                  </a:lnTo>
                  <a:lnTo>
                    <a:pt x="5464968" y="21431"/>
                  </a:lnTo>
                  <a:lnTo>
                    <a:pt x="5441715" y="5750"/>
                  </a:lnTo>
                  <a:lnTo>
                    <a:pt x="5413247" y="0"/>
                  </a:lnTo>
                  <a:close/>
                </a:path>
              </a:pathLst>
            </a:custGeom>
            <a:solidFill>
              <a:srgbClr val="F3F8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3" name="object 43"/>
            <p:cNvSpPr/>
            <p:nvPr/>
          </p:nvSpPr>
          <p:spPr>
            <a:xfrm>
              <a:off x="6199631" y="3072383"/>
              <a:ext cx="5486400" cy="3108960"/>
            </a:xfrm>
            <a:custGeom>
              <a:avLst/>
              <a:gdLst/>
              <a:ahLst/>
              <a:cxnLst/>
              <a:rect l="l" t="t" r="r" b="b"/>
              <a:pathLst>
                <a:path w="5486400" h="3108960">
                  <a:moveTo>
                    <a:pt x="0" y="73151"/>
                  </a:moveTo>
                  <a:lnTo>
                    <a:pt x="5750" y="44684"/>
                  </a:lnTo>
                  <a:lnTo>
                    <a:pt x="21431" y="21431"/>
                  </a:lnTo>
                  <a:lnTo>
                    <a:pt x="44684" y="5750"/>
                  </a:lnTo>
                  <a:lnTo>
                    <a:pt x="73151" y="0"/>
                  </a:lnTo>
                  <a:lnTo>
                    <a:pt x="5413247" y="0"/>
                  </a:lnTo>
                  <a:lnTo>
                    <a:pt x="5441715" y="5750"/>
                  </a:lnTo>
                  <a:lnTo>
                    <a:pt x="5464968" y="21431"/>
                  </a:lnTo>
                  <a:lnTo>
                    <a:pt x="5480649" y="44684"/>
                  </a:lnTo>
                  <a:lnTo>
                    <a:pt x="5486399" y="73151"/>
                  </a:lnTo>
                  <a:lnTo>
                    <a:pt x="5486399" y="3035808"/>
                  </a:lnTo>
                  <a:lnTo>
                    <a:pt x="5480649" y="3064281"/>
                  </a:lnTo>
                  <a:lnTo>
                    <a:pt x="5464968" y="3087533"/>
                  </a:lnTo>
                  <a:lnTo>
                    <a:pt x="5441715" y="3103211"/>
                  </a:lnTo>
                  <a:lnTo>
                    <a:pt x="5413247" y="3108960"/>
                  </a:lnTo>
                  <a:lnTo>
                    <a:pt x="73151" y="3108960"/>
                  </a:lnTo>
                  <a:lnTo>
                    <a:pt x="44684" y="3103211"/>
                  </a:lnTo>
                  <a:lnTo>
                    <a:pt x="21431" y="3087533"/>
                  </a:lnTo>
                  <a:lnTo>
                    <a:pt x="5750" y="3064281"/>
                  </a:lnTo>
                  <a:lnTo>
                    <a:pt x="0" y="3035808"/>
                  </a:lnTo>
                  <a:lnTo>
                    <a:pt x="0" y="73151"/>
                  </a:lnTo>
                  <a:close/>
                </a:path>
              </a:pathLst>
            </a:custGeom>
            <a:ln w="9144">
              <a:solidFill>
                <a:srgbClr val="BED7C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5" name="object 45"/>
          <p:cNvSpPr txBox="1"/>
          <p:nvPr/>
        </p:nvSpPr>
        <p:spPr>
          <a:xfrm>
            <a:off x="6416421" y="3149016"/>
            <a:ext cx="3615054" cy="1283335"/>
          </a:xfrm>
          <a:prstGeom prst="rect">
            <a:avLst/>
          </a:prstGeom>
        </p:spPr>
        <p:txBody>
          <a:bodyPr vert="horz" wrap="square" lIns="0" tIns="88900" rIns="0" bIns="0" rtlCol="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1A1A1A"/>
                </a:solidFill>
                <a:latin typeface="Calibri"/>
              </a:rPr>
              <a:t>Under 60 seconds </a:t>
            </a:r>
            <a:r>
              <a:rPr sz="1100" b="0">
                <a:solidFill>
                  <a:srgbClr val="1A1A1A"/>
                </a:solidFill>
                <a:latin typeface="Calibri"/>
              </a:rPr>
              <a:t>from application start to disbursed loan decision.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1A1A1A"/>
                </a:solidFill>
                <a:latin typeface="Calibri"/>
              </a:rPr>
              <a:t>Zero fake certificates: </a:t>
            </a:r>
            <a:r>
              <a:rPr sz="1100" b="0">
                <a:solidFill>
                  <a:srgbClr val="1A1A1A"/>
                </a:solidFill>
                <a:latin typeface="Calibri"/>
              </a:rPr>
              <a:t>only government issuer documents accepted.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1A1A1A"/>
                </a:solidFill>
                <a:latin typeface="Calibri"/>
              </a:rPr>
              <a:t>Immune to stolen OTPs: </a:t>
            </a:r>
            <a:r>
              <a:rPr sz="1100" b="0">
                <a:solidFill>
                  <a:srgbClr val="1A1A1A"/>
                </a:solidFill>
                <a:latin typeface="Calibri"/>
              </a:rPr>
              <a:t>physical presence required for face match.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1A1A1A"/>
                </a:solidFill>
                <a:latin typeface="Calibri"/>
              </a:rPr>
              <a:t>Plain-English explanations: </a:t>
            </a:r>
            <a:r>
              <a:rPr sz="1100" b="0">
                <a:solidFill>
                  <a:srgbClr val="1A1A1A"/>
                </a:solidFill>
                <a:latin typeface="Calibri"/>
              </a:rPr>
              <a:t>tells applicants exactly how to qualify.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1A1A1A"/>
                </a:solidFill>
                <a:latin typeface="Calibri"/>
              </a:rPr>
              <a:t>Full audit trail: </a:t>
            </a:r>
            <a:r>
              <a:rPr sz="1100" b="0">
                <a:solidFill>
                  <a:srgbClr val="1A1A1A"/>
                </a:solidFill>
                <a:latin typeface="Calibri"/>
              </a:rPr>
              <a:t>loan officers can inspect complete decision logs.</a:t>
            </a:r>
          </a:p>
        </p:txBody>
      </p:sp>
      <p:sp>
        <p:nvSpPr>
          <p:cNvPr id="47" name="object 47"/>
          <p:cNvSpPr txBox="1">
            <a:spLocks noGrp="1"/>
          </p:cNvSpPr>
          <p:nvPr>
            <p:ph type="dt" sz="half" idx="6"/>
          </p:nvPr>
        </p:nvSpPr>
        <p:spPr>
          <a:xfrm>
            <a:off x="490219" y="6531584"/>
            <a:ext cx="610235" cy="11541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910"/>
              </a:lnSpc>
            </a:pPr>
            <a:r>
              <a:rPr spc="-10" dirty="0"/>
              <a:t>[3</a:t>
            </a:r>
            <a:r>
              <a:rPr lang="en-US" spc="-10" dirty="0"/>
              <a:t>1</a:t>
            </a:r>
            <a:r>
              <a:rPr spc="-10" dirty="0"/>
              <a:t>/10/2026]</a:t>
            </a:r>
          </a:p>
        </p:txBody>
      </p:sp>
      <p:sp>
        <p:nvSpPr>
          <p:cNvPr id="48" name="object 4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910"/>
              </a:lnSpc>
            </a:pPr>
            <a:r>
              <a:rPr spc="-10" dirty="0"/>
              <a:t>Smart Digital Lending System with AI-Based Risk Analysis</a:t>
            </a:r>
          </a:p>
        </p:txBody>
      </p:sp>
      <p:sp>
        <p:nvSpPr>
          <p:cNvPr id="46" name="object 4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955"/>
              </a:lnSpc>
            </a:pPr>
            <a:fld id="{81D60167-4931-47E6-BA6A-407CBD079E47}" type="slidenum">
              <a:rPr spc="-25" dirty="0"/>
              <a:t>6</a:t>
            </a:fld>
            <a:endParaRPr spc="-25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20" dirty="0"/>
              <a:t>SYSTEM</a:t>
            </a:r>
            <a:r>
              <a:rPr spc="-95" dirty="0"/>
              <a:t> </a:t>
            </a:r>
            <a:r>
              <a:rPr spc="-10" dirty="0"/>
              <a:t>ARCHITECTURE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75842" y="894076"/>
            <a:ext cx="4097786" cy="18274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defRPr sz="1100" b="0">
                <a:solidFill>
                  <a:srgbClr val="6B6B6B"/>
                </a:solidFill>
                <a:latin typeface="Calibri"/>
              </a:defRPr>
            </a:pPr>
            <a:r>
              <a:t>Components and data flow of the application</a:t>
            </a:r>
          </a:p>
        </p:txBody>
      </p:sp>
      <p:sp>
        <p:nvSpPr>
          <p:cNvPr id="4" name="object 4"/>
          <p:cNvSpPr/>
          <p:nvPr/>
        </p:nvSpPr>
        <p:spPr>
          <a:xfrm>
            <a:off x="502919" y="1298447"/>
            <a:ext cx="11183620" cy="0"/>
          </a:xfrm>
          <a:custGeom>
            <a:avLst/>
            <a:gdLst/>
            <a:ahLst/>
            <a:cxnLst/>
            <a:rect l="l" t="t" r="r" b="b"/>
            <a:pathLst>
              <a:path w="11183620">
                <a:moveTo>
                  <a:pt x="0" y="0"/>
                </a:moveTo>
                <a:lnTo>
                  <a:pt x="11183112" y="0"/>
                </a:lnTo>
              </a:path>
            </a:pathLst>
          </a:custGeom>
          <a:ln w="12192">
            <a:solidFill>
              <a:srgbClr val="C8A83E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490219" y="1442974"/>
            <a:ext cx="1433830" cy="1701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950" b="1" spc="70" dirty="0">
                <a:solidFill>
                  <a:srgbClr val="1F4D39"/>
                </a:solidFill>
                <a:latin typeface="Calibri"/>
                <a:cs typeface="Calibri"/>
              </a:rPr>
              <a:t>SYSTEM</a:t>
            </a:r>
            <a:r>
              <a:rPr sz="950" b="1" spc="240" dirty="0">
                <a:solidFill>
                  <a:srgbClr val="1F4D39"/>
                </a:solidFill>
                <a:latin typeface="Calibri"/>
                <a:cs typeface="Calibri"/>
              </a:rPr>
              <a:t> </a:t>
            </a:r>
            <a:r>
              <a:rPr sz="950" b="1" spc="70" dirty="0">
                <a:solidFill>
                  <a:srgbClr val="1F4D39"/>
                </a:solidFill>
                <a:latin typeface="Calibri"/>
                <a:cs typeface="Calibri"/>
              </a:rPr>
              <a:t>ARCHITECTURE</a:t>
            </a:r>
            <a:endParaRPr sz="950">
              <a:latin typeface="Calibri"/>
              <a:cs typeface="Calibri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8686800" y="1463039"/>
            <a:ext cx="2999740" cy="329565"/>
          </a:xfrm>
          <a:prstGeom prst="rect">
            <a:avLst/>
          </a:prstGeom>
          <a:solidFill>
            <a:srgbClr val="1F4D39"/>
          </a:solidFill>
          <a:ln w="12192">
            <a:solidFill>
              <a:srgbClr val="1F4D39"/>
            </a:solidFill>
          </a:ln>
        </p:spPr>
        <p:txBody>
          <a:bodyPr vert="horz" wrap="square" lIns="0" tIns="80645" rIns="0" bIns="0" rtlCol="0">
            <a:spAutoFit/>
          </a:bodyPr>
          <a:lstStyle/>
          <a:p>
            <a:pPr marL="137795">
              <a:lnSpc>
                <a:spcPct val="100000"/>
              </a:lnSpc>
              <a:spcBef>
                <a:spcPts val="635"/>
              </a:spcBef>
            </a:pPr>
            <a:r>
              <a:rPr sz="1000" b="1" spc="45" dirty="0">
                <a:solidFill>
                  <a:srgbClr val="FFFFFF"/>
                </a:solidFill>
                <a:latin typeface="Calibri"/>
                <a:cs typeface="Calibri"/>
              </a:rPr>
              <a:t>SERVICES</a:t>
            </a:r>
            <a:endParaRPr sz="1000">
              <a:latin typeface="Calibri"/>
              <a:cs typeface="Calibri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496823" y="1731264"/>
            <a:ext cx="1704339" cy="881380"/>
            <a:chOff x="496823" y="1731264"/>
            <a:chExt cx="1704339" cy="881380"/>
          </a:xfrm>
        </p:grpSpPr>
        <p:sp>
          <p:nvSpPr>
            <p:cNvPr id="7" name="object 7"/>
            <p:cNvSpPr/>
            <p:nvPr/>
          </p:nvSpPr>
          <p:spPr>
            <a:xfrm>
              <a:off x="502919" y="1737360"/>
              <a:ext cx="1691639" cy="868680"/>
            </a:xfrm>
            <a:custGeom>
              <a:avLst/>
              <a:gdLst/>
              <a:ahLst/>
              <a:cxnLst/>
              <a:rect l="l" t="t" r="r" b="b"/>
              <a:pathLst>
                <a:path w="1691639" h="868680">
                  <a:moveTo>
                    <a:pt x="1618488" y="0"/>
                  </a:moveTo>
                  <a:lnTo>
                    <a:pt x="73151" y="0"/>
                  </a:lnTo>
                  <a:lnTo>
                    <a:pt x="44678" y="5750"/>
                  </a:lnTo>
                  <a:lnTo>
                    <a:pt x="21426" y="21431"/>
                  </a:lnTo>
                  <a:lnTo>
                    <a:pt x="5748" y="44684"/>
                  </a:lnTo>
                  <a:lnTo>
                    <a:pt x="0" y="73151"/>
                  </a:lnTo>
                  <a:lnTo>
                    <a:pt x="0" y="795527"/>
                  </a:lnTo>
                  <a:lnTo>
                    <a:pt x="5748" y="823995"/>
                  </a:lnTo>
                  <a:lnTo>
                    <a:pt x="21426" y="847248"/>
                  </a:lnTo>
                  <a:lnTo>
                    <a:pt x="44678" y="862929"/>
                  </a:lnTo>
                  <a:lnTo>
                    <a:pt x="73151" y="868679"/>
                  </a:lnTo>
                  <a:lnTo>
                    <a:pt x="1618488" y="868679"/>
                  </a:lnTo>
                  <a:lnTo>
                    <a:pt x="1646955" y="862929"/>
                  </a:lnTo>
                  <a:lnTo>
                    <a:pt x="1670208" y="847248"/>
                  </a:lnTo>
                  <a:lnTo>
                    <a:pt x="1685889" y="823995"/>
                  </a:lnTo>
                  <a:lnTo>
                    <a:pt x="1691640" y="795527"/>
                  </a:lnTo>
                  <a:lnTo>
                    <a:pt x="1691640" y="73151"/>
                  </a:lnTo>
                  <a:lnTo>
                    <a:pt x="1685889" y="44684"/>
                  </a:lnTo>
                  <a:lnTo>
                    <a:pt x="1670208" y="21431"/>
                  </a:lnTo>
                  <a:lnTo>
                    <a:pt x="1646955" y="5750"/>
                  </a:lnTo>
                  <a:lnTo>
                    <a:pt x="1618488" y="0"/>
                  </a:lnTo>
                  <a:close/>
                </a:path>
              </a:pathLst>
            </a:custGeom>
            <a:solidFill>
              <a:srgbClr val="E6F3E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502919" y="1737360"/>
              <a:ext cx="1691639" cy="868680"/>
            </a:xfrm>
            <a:custGeom>
              <a:avLst/>
              <a:gdLst/>
              <a:ahLst/>
              <a:cxnLst/>
              <a:rect l="l" t="t" r="r" b="b"/>
              <a:pathLst>
                <a:path w="1691639" h="868680">
                  <a:moveTo>
                    <a:pt x="0" y="73151"/>
                  </a:moveTo>
                  <a:lnTo>
                    <a:pt x="5748" y="44684"/>
                  </a:lnTo>
                  <a:lnTo>
                    <a:pt x="21426" y="21431"/>
                  </a:lnTo>
                  <a:lnTo>
                    <a:pt x="44678" y="5750"/>
                  </a:lnTo>
                  <a:lnTo>
                    <a:pt x="73151" y="0"/>
                  </a:lnTo>
                  <a:lnTo>
                    <a:pt x="1618488" y="0"/>
                  </a:lnTo>
                  <a:lnTo>
                    <a:pt x="1646955" y="5750"/>
                  </a:lnTo>
                  <a:lnTo>
                    <a:pt x="1670208" y="21431"/>
                  </a:lnTo>
                  <a:lnTo>
                    <a:pt x="1685889" y="44684"/>
                  </a:lnTo>
                  <a:lnTo>
                    <a:pt x="1691640" y="73151"/>
                  </a:lnTo>
                  <a:lnTo>
                    <a:pt x="1691640" y="795527"/>
                  </a:lnTo>
                  <a:lnTo>
                    <a:pt x="1685889" y="823995"/>
                  </a:lnTo>
                  <a:lnTo>
                    <a:pt x="1670208" y="847248"/>
                  </a:lnTo>
                  <a:lnTo>
                    <a:pt x="1646955" y="862929"/>
                  </a:lnTo>
                  <a:lnTo>
                    <a:pt x="1618488" y="868679"/>
                  </a:lnTo>
                  <a:lnTo>
                    <a:pt x="73151" y="868679"/>
                  </a:lnTo>
                  <a:lnTo>
                    <a:pt x="44678" y="862929"/>
                  </a:lnTo>
                  <a:lnTo>
                    <a:pt x="21426" y="847248"/>
                  </a:lnTo>
                  <a:lnTo>
                    <a:pt x="5748" y="823995"/>
                  </a:lnTo>
                  <a:lnTo>
                    <a:pt x="0" y="795527"/>
                  </a:lnTo>
                  <a:lnTo>
                    <a:pt x="0" y="73151"/>
                  </a:lnTo>
                  <a:close/>
                </a:path>
              </a:pathLst>
            </a:custGeom>
            <a:ln w="12191">
              <a:solidFill>
                <a:srgbClr val="1F4D3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815441" y="1989785"/>
            <a:ext cx="1064260" cy="34734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175" algn="ctr">
              <a:lnSpc>
                <a:spcPct val="100000"/>
              </a:lnSpc>
              <a:spcBef>
                <a:spcPts val="105"/>
              </a:spcBef>
            </a:pPr>
            <a:r>
              <a:rPr sz="1150" b="1" spc="-20" dirty="0">
                <a:solidFill>
                  <a:srgbClr val="1F4D39"/>
                </a:solidFill>
                <a:latin typeface="Calibri"/>
                <a:cs typeface="Calibri"/>
              </a:rPr>
              <a:t>Users</a:t>
            </a:r>
            <a:endParaRPr sz="1150">
              <a:latin typeface="Calibri"/>
              <a:cs typeface="Calibri"/>
            </a:endParaRPr>
          </a:p>
          <a:p>
            <a:pPr algn="ctr">
              <a:lnSpc>
                <a:spcPct val="100000"/>
              </a:lnSpc>
              <a:spcBef>
                <a:spcPts val="10"/>
              </a:spcBef>
            </a:pPr>
            <a:r>
              <a:rPr sz="950" dirty="0">
                <a:solidFill>
                  <a:srgbClr val="1F4D39"/>
                </a:solidFill>
                <a:latin typeface="Calibri"/>
                <a:cs typeface="Calibri"/>
              </a:rPr>
              <a:t>Applicant · Administrator</a:t>
            </a:r>
            <a:endParaRPr sz="950">
              <a:latin typeface="Calibri"/>
              <a:cs typeface="Calibri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2234564" y="2049221"/>
            <a:ext cx="241935" cy="2235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300" b="1" spc="-50" dirty="0">
                <a:solidFill>
                  <a:srgbClr val="C8A83E"/>
                </a:solidFill>
                <a:latin typeface="Calibri"/>
                <a:cs typeface="Calibri"/>
              </a:rPr>
              <a:t>↔</a:t>
            </a:r>
            <a:endParaRPr sz="1300">
              <a:latin typeface="Calibri"/>
              <a:cs typeface="Calibri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2508504" y="1731264"/>
            <a:ext cx="1704339" cy="881380"/>
            <a:chOff x="2508504" y="1731264"/>
            <a:chExt cx="1704339" cy="881380"/>
          </a:xfrm>
        </p:grpSpPr>
        <p:sp>
          <p:nvSpPr>
            <p:cNvPr id="12" name="object 12"/>
            <p:cNvSpPr/>
            <p:nvPr/>
          </p:nvSpPr>
          <p:spPr>
            <a:xfrm>
              <a:off x="2514600" y="1737360"/>
              <a:ext cx="1691639" cy="868680"/>
            </a:xfrm>
            <a:custGeom>
              <a:avLst/>
              <a:gdLst/>
              <a:ahLst/>
              <a:cxnLst/>
              <a:rect l="l" t="t" r="r" b="b"/>
              <a:pathLst>
                <a:path w="1691639" h="868680">
                  <a:moveTo>
                    <a:pt x="1618488" y="0"/>
                  </a:moveTo>
                  <a:lnTo>
                    <a:pt x="73151" y="0"/>
                  </a:lnTo>
                  <a:lnTo>
                    <a:pt x="44684" y="5750"/>
                  </a:lnTo>
                  <a:lnTo>
                    <a:pt x="21431" y="21431"/>
                  </a:lnTo>
                  <a:lnTo>
                    <a:pt x="5750" y="44684"/>
                  </a:lnTo>
                  <a:lnTo>
                    <a:pt x="0" y="73151"/>
                  </a:lnTo>
                  <a:lnTo>
                    <a:pt x="0" y="795527"/>
                  </a:lnTo>
                  <a:lnTo>
                    <a:pt x="5750" y="823995"/>
                  </a:lnTo>
                  <a:lnTo>
                    <a:pt x="21431" y="847248"/>
                  </a:lnTo>
                  <a:lnTo>
                    <a:pt x="44684" y="862929"/>
                  </a:lnTo>
                  <a:lnTo>
                    <a:pt x="73151" y="868679"/>
                  </a:lnTo>
                  <a:lnTo>
                    <a:pt x="1618488" y="868679"/>
                  </a:lnTo>
                  <a:lnTo>
                    <a:pt x="1646955" y="862929"/>
                  </a:lnTo>
                  <a:lnTo>
                    <a:pt x="1670208" y="847248"/>
                  </a:lnTo>
                  <a:lnTo>
                    <a:pt x="1685889" y="823995"/>
                  </a:lnTo>
                  <a:lnTo>
                    <a:pt x="1691639" y="795527"/>
                  </a:lnTo>
                  <a:lnTo>
                    <a:pt x="1691639" y="73151"/>
                  </a:lnTo>
                  <a:lnTo>
                    <a:pt x="1685889" y="44684"/>
                  </a:lnTo>
                  <a:lnTo>
                    <a:pt x="1670208" y="21431"/>
                  </a:lnTo>
                  <a:lnTo>
                    <a:pt x="1646955" y="5750"/>
                  </a:lnTo>
                  <a:lnTo>
                    <a:pt x="1618488" y="0"/>
                  </a:lnTo>
                  <a:close/>
                </a:path>
              </a:pathLst>
            </a:custGeom>
            <a:solidFill>
              <a:srgbClr val="E6F3E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2514600" y="1737360"/>
              <a:ext cx="1691639" cy="868680"/>
            </a:xfrm>
            <a:custGeom>
              <a:avLst/>
              <a:gdLst/>
              <a:ahLst/>
              <a:cxnLst/>
              <a:rect l="l" t="t" r="r" b="b"/>
              <a:pathLst>
                <a:path w="1691639" h="868680">
                  <a:moveTo>
                    <a:pt x="0" y="73151"/>
                  </a:moveTo>
                  <a:lnTo>
                    <a:pt x="5750" y="44684"/>
                  </a:lnTo>
                  <a:lnTo>
                    <a:pt x="21431" y="21431"/>
                  </a:lnTo>
                  <a:lnTo>
                    <a:pt x="44684" y="5750"/>
                  </a:lnTo>
                  <a:lnTo>
                    <a:pt x="73151" y="0"/>
                  </a:lnTo>
                  <a:lnTo>
                    <a:pt x="1618488" y="0"/>
                  </a:lnTo>
                  <a:lnTo>
                    <a:pt x="1646955" y="5750"/>
                  </a:lnTo>
                  <a:lnTo>
                    <a:pt x="1670208" y="21431"/>
                  </a:lnTo>
                  <a:lnTo>
                    <a:pt x="1685889" y="44684"/>
                  </a:lnTo>
                  <a:lnTo>
                    <a:pt x="1691639" y="73151"/>
                  </a:lnTo>
                  <a:lnTo>
                    <a:pt x="1691639" y="795527"/>
                  </a:lnTo>
                  <a:lnTo>
                    <a:pt x="1685889" y="823995"/>
                  </a:lnTo>
                  <a:lnTo>
                    <a:pt x="1670208" y="847248"/>
                  </a:lnTo>
                  <a:lnTo>
                    <a:pt x="1646955" y="862929"/>
                  </a:lnTo>
                  <a:lnTo>
                    <a:pt x="1618488" y="868679"/>
                  </a:lnTo>
                  <a:lnTo>
                    <a:pt x="73151" y="868679"/>
                  </a:lnTo>
                  <a:lnTo>
                    <a:pt x="44684" y="862929"/>
                  </a:lnTo>
                  <a:lnTo>
                    <a:pt x="21431" y="847248"/>
                  </a:lnTo>
                  <a:lnTo>
                    <a:pt x="5750" y="823995"/>
                  </a:lnTo>
                  <a:lnTo>
                    <a:pt x="0" y="795527"/>
                  </a:lnTo>
                  <a:lnTo>
                    <a:pt x="0" y="73151"/>
                  </a:lnTo>
                  <a:close/>
                </a:path>
              </a:pathLst>
            </a:custGeom>
            <a:ln w="12192">
              <a:solidFill>
                <a:srgbClr val="1F4D3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/>
          <p:cNvSpPr txBox="1"/>
          <p:nvPr/>
        </p:nvSpPr>
        <p:spPr>
          <a:xfrm>
            <a:off x="2746629" y="1989785"/>
            <a:ext cx="1227455" cy="34734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5"/>
              </a:spcBef>
            </a:pPr>
            <a:r>
              <a:rPr sz="1150" b="1" dirty="0">
                <a:solidFill>
                  <a:srgbClr val="1F4D39"/>
                </a:solidFill>
                <a:latin typeface="Calibri"/>
                <a:cs typeface="Calibri"/>
              </a:rPr>
              <a:t>React Client</a:t>
            </a:r>
            <a:endParaRPr sz="1150">
              <a:latin typeface="Calibri"/>
              <a:cs typeface="Calibri"/>
            </a:endParaRPr>
          </a:p>
          <a:p>
            <a:pPr algn="ctr">
              <a:lnSpc>
                <a:spcPct val="100000"/>
              </a:lnSpc>
              <a:spcBef>
                <a:spcPts val="10"/>
              </a:spcBef>
            </a:pPr>
            <a:r>
              <a:rPr sz="950" dirty="0">
                <a:solidFill>
                  <a:srgbClr val="1F4D39"/>
                </a:solidFill>
                <a:latin typeface="Calibri"/>
                <a:cs typeface="Calibri"/>
              </a:rPr>
              <a:t>Wizard · live figures · chart</a:t>
            </a:r>
            <a:endParaRPr sz="950">
              <a:latin typeface="Calibri"/>
              <a:cs typeface="Calibri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4246245" y="2049221"/>
            <a:ext cx="241935" cy="2235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300" b="1" spc="-50" dirty="0">
                <a:solidFill>
                  <a:srgbClr val="C8A83E"/>
                </a:solidFill>
                <a:latin typeface="Calibri"/>
                <a:cs typeface="Calibri"/>
              </a:rPr>
              <a:t>↔</a:t>
            </a:r>
            <a:endParaRPr sz="1300">
              <a:latin typeface="Calibri"/>
              <a:cs typeface="Calibri"/>
            </a:endParaRPr>
          </a:p>
        </p:txBody>
      </p:sp>
      <p:grpSp>
        <p:nvGrpSpPr>
          <p:cNvPr id="16" name="object 16"/>
          <p:cNvGrpSpPr/>
          <p:nvPr/>
        </p:nvGrpSpPr>
        <p:grpSpPr>
          <a:xfrm>
            <a:off x="4520184" y="1731264"/>
            <a:ext cx="1704339" cy="881380"/>
            <a:chOff x="4520184" y="1731264"/>
            <a:chExt cx="1704339" cy="881380"/>
          </a:xfrm>
        </p:grpSpPr>
        <p:sp>
          <p:nvSpPr>
            <p:cNvPr id="17" name="object 17"/>
            <p:cNvSpPr/>
            <p:nvPr/>
          </p:nvSpPr>
          <p:spPr>
            <a:xfrm>
              <a:off x="4526280" y="1737360"/>
              <a:ext cx="1691639" cy="868680"/>
            </a:xfrm>
            <a:custGeom>
              <a:avLst/>
              <a:gdLst/>
              <a:ahLst/>
              <a:cxnLst/>
              <a:rect l="l" t="t" r="r" b="b"/>
              <a:pathLst>
                <a:path w="1691639" h="868680">
                  <a:moveTo>
                    <a:pt x="1618488" y="0"/>
                  </a:moveTo>
                  <a:lnTo>
                    <a:pt x="73152" y="0"/>
                  </a:lnTo>
                  <a:lnTo>
                    <a:pt x="44684" y="5750"/>
                  </a:lnTo>
                  <a:lnTo>
                    <a:pt x="21431" y="21431"/>
                  </a:lnTo>
                  <a:lnTo>
                    <a:pt x="5750" y="44684"/>
                  </a:lnTo>
                  <a:lnTo>
                    <a:pt x="0" y="73151"/>
                  </a:lnTo>
                  <a:lnTo>
                    <a:pt x="0" y="795527"/>
                  </a:lnTo>
                  <a:lnTo>
                    <a:pt x="5750" y="823995"/>
                  </a:lnTo>
                  <a:lnTo>
                    <a:pt x="21431" y="847248"/>
                  </a:lnTo>
                  <a:lnTo>
                    <a:pt x="44684" y="862929"/>
                  </a:lnTo>
                  <a:lnTo>
                    <a:pt x="73152" y="868679"/>
                  </a:lnTo>
                  <a:lnTo>
                    <a:pt x="1618488" y="868679"/>
                  </a:lnTo>
                  <a:lnTo>
                    <a:pt x="1646955" y="862929"/>
                  </a:lnTo>
                  <a:lnTo>
                    <a:pt x="1670208" y="847248"/>
                  </a:lnTo>
                  <a:lnTo>
                    <a:pt x="1685889" y="823995"/>
                  </a:lnTo>
                  <a:lnTo>
                    <a:pt x="1691640" y="795527"/>
                  </a:lnTo>
                  <a:lnTo>
                    <a:pt x="1691640" y="73151"/>
                  </a:lnTo>
                  <a:lnTo>
                    <a:pt x="1685889" y="44684"/>
                  </a:lnTo>
                  <a:lnTo>
                    <a:pt x="1670208" y="21431"/>
                  </a:lnTo>
                  <a:lnTo>
                    <a:pt x="1646955" y="5750"/>
                  </a:lnTo>
                  <a:lnTo>
                    <a:pt x="1618488" y="0"/>
                  </a:lnTo>
                  <a:close/>
                </a:path>
              </a:pathLst>
            </a:custGeom>
            <a:solidFill>
              <a:srgbClr val="1F4D3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4526280" y="1737360"/>
              <a:ext cx="1691639" cy="868680"/>
            </a:xfrm>
            <a:custGeom>
              <a:avLst/>
              <a:gdLst/>
              <a:ahLst/>
              <a:cxnLst/>
              <a:rect l="l" t="t" r="r" b="b"/>
              <a:pathLst>
                <a:path w="1691639" h="868680">
                  <a:moveTo>
                    <a:pt x="0" y="73151"/>
                  </a:moveTo>
                  <a:lnTo>
                    <a:pt x="5750" y="44684"/>
                  </a:lnTo>
                  <a:lnTo>
                    <a:pt x="21431" y="21431"/>
                  </a:lnTo>
                  <a:lnTo>
                    <a:pt x="44684" y="5750"/>
                  </a:lnTo>
                  <a:lnTo>
                    <a:pt x="73152" y="0"/>
                  </a:lnTo>
                  <a:lnTo>
                    <a:pt x="1618488" y="0"/>
                  </a:lnTo>
                  <a:lnTo>
                    <a:pt x="1646955" y="5750"/>
                  </a:lnTo>
                  <a:lnTo>
                    <a:pt x="1670208" y="21431"/>
                  </a:lnTo>
                  <a:lnTo>
                    <a:pt x="1685889" y="44684"/>
                  </a:lnTo>
                  <a:lnTo>
                    <a:pt x="1691640" y="73151"/>
                  </a:lnTo>
                  <a:lnTo>
                    <a:pt x="1691640" y="795527"/>
                  </a:lnTo>
                  <a:lnTo>
                    <a:pt x="1685889" y="823995"/>
                  </a:lnTo>
                  <a:lnTo>
                    <a:pt x="1670208" y="847248"/>
                  </a:lnTo>
                  <a:lnTo>
                    <a:pt x="1646955" y="862929"/>
                  </a:lnTo>
                  <a:lnTo>
                    <a:pt x="1618488" y="868679"/>
                  </a:lnTo>
                  <a:lnTo>
                    <a:pt x="73152" y="868679"/>
                  </a:lnTo>
                  <a:lnTo>
                    <a:pt x="44684" y="862929"/>
                  </a:lnTo>
                  <a:lnTo>
                    <a:pt x="21431" y="847248"/>
                  </a:lnTo>
                  <a:lnTo>
                    <a:pt x="5750" y="823995"/>
                  </a:lnTo>
                  <a:lnTo>
                    <a:pt x="0" y="795527"/>
                  </a:lnTo>
                  <a:lnTo>
                    <a:pt x="0" y="73151"/>
                  </a:lnTo>
                  <a:close/>
                </a:path>
              </a:pathLst>
            </a:custGeom>
            <a:ln w="12192">
              <a:solidFill>
                <a:srgbClr val="1F4D3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9" name="object 19"/>
          <p:cNvSpPr txBox="1"/>
          <p:nvPr/>
        </p:nvSpPr>
        <p:spPr>
          <a:xfrm>
            <a:off x="4577334" y="1989785"/>
            <a:ext cx="1588135" cy="34734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" algn="ctr">
              <a:lnSpc>
                <a:spcPct val="100000"/>
              </a:lnSpc>
              <a:spcBef>
                <a:spcPts val="105"/>
              </a:spcBef>
            </a:pPr>
            <a:r>
              <a:rPr sz="1150" b="1" dirty="0">
                <a:solidFill>
                  <a:srgbClr val="FFFFFF"/>
                </a:solidFill>
                <a:latin typeface="Calibri"/>
                <a:cs typeface="Calibri"/>
              </a:rPr>
              <a:t>Express API</a:t>
            </a:r>
            <a:endParaRPr sz="1150">
              <a:latin typeface="Calibri"/>
              <a:cs typeface="Calibri"/>
            </a:endParaRPr>
          </a:p>
          <a:p>
            <a:pPr algn="ctr">
              <a:lnSpc>
                <a:spcPct val="100000"/>
              </a:lnSpc>
              <a:spcBef>
                <a:spcPts val="10"/>
              </a:spcBef>
            </a:pPr>
            <a:r>
              <a:rPr sz="950" dirty="0">
                <a:solidFill>
                  <a:srgbClr val="FFFFFF"/>
                </a:solidFill>
                <a:latin typeface="Calibri"/>
                <a:cs typeface="Calibri"/>
              </a:rPr>
              <a:t>JWT · roles · Zod · Prisma</a:t>
            </a:r>
            <a:endParaRPr sz="950">
              <a:latin typeface="Calibri"/>
              <a:cs typeface="Calibri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6258305" y="2049221"/>
            <a:ext cx="241935" cy="2235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300" b="1" spc="-50" dirty="0">
                <a:solidFill>
                  <a:srgbClr val="C8A83E"/>
                </a:solidFill>
                <a:latin typeface="Calibri"/>
                <a:cs typeface="Calibri"/>
              </a:rPr>
              <a:t>↔</a:t>
            </a:r>
            <a:endParaRPr sz="1300">
              <a:latin typeface="Calibri"/>
              <a:cs typeface="Calibri"/>
            </a:endParaRPr>
          </a:p>
        </p:txBody>
      </p:sp>
      <p:grpSp>
        <p:nvGrpSpPr>
          <p:cNvPr id="21" name="object 21"/>
          <p:cNvGrpSpPr/>
          <p:nvPr/>
        </p:nvGrpSpPr>
        <p:grpSpPr>
          <a:xfrm>
            <a:off x="6531864" y="1731264"/>
            <a:ext cx="1704339" cy="881380"/>
            <a:chOff x="6531864" y="1731264"/>
            <a:chExt cx="1704339" cy="881380"/>
          </a:xfrm>
        </p:grpSpPr>
        <p:sp>
          <p:nvSpPr>
            <p:cNvPr id="22" name="object 22"/>
            <p:cNvSpPr/>
            <p:nvPr/>
          </p:nvSpPr>
          <p:spPr>
            <a:xfrm>
              <a:off x="6537960" y="1737360"/>
              <a:ext cx="1691639" cy="868680"/>
            </a:xfrm>
            <a:custGeom>
              <a:avLst/>
              <a:gdLst/>
              <a:ahLst/>
              <a:cxnLst/>
              <a:rect l="l" t="t" r="r" b="b"/>
              <a:pathLst>
                <a:path w="1691640" h="868680">
                  <a:moveTo>
                    <a:pt x="1618488" y="0"/>
                  </a:moveTo>
                  <a:lnTo>
                    <a:pt x="73151" y="0"/>
                  </a:lnTo>
                  <a:lnTo>
                    <a:pt x="44684" y="5750"/>
                  </a:lnTo>
                  <a:lnTo>
                    <a:pt x="21431" y="21431"/>
                  </a:lnTo>
                  <a:lnTo>
                    <a:pt x="5750" y="44684"/>
                  </a:lnTo>
                  <a:lnTo>
                    <a:pt x="0" y="73151"/>
                  </a:lnTo>
                  <a:lnTo>
                    <a:pt x="0" y="795527"/>
                  </a:lnTo>
                  <a:lnTo>
                    <a:pt x="5750" y="823995"/>
                  </a:lnTo>
                  <a:lnTo>
                    <a:pt x="21431" y="847248"/>
                  </a:lnTo>
                  <a:lnTo>
                    <a:pt x="44684" y="862929"/>
                  </a:lnTo>
                  <a:lnTo>
                    <a:pt x="73151" y="868679"/>
                  </a:lnTo>
                  <a:lnTo>
                    <a:pt x="1618488" y="868679"/>
                  </a:lnTo>
                  <a:lnTo>
                    <a:pt x="1646955" y="862929"/>
                  </a:lnTo>
                  <a:lnTo>
                    <a:pt x="1670208" y="847248"/>
                  </a:lnTo>
                  <a:lnTo>
                    <a:pt x="1685889" y="823995"/>
                  </a:lnTo>
                  <a:lnTo>
                    <a:pt x="1691640" y="795527"/>
                  </a:lnTo>
                  <a:lnTo>
                    <a:pt x="1691640" y="73151"/>
                  </a:lnTo>
                  <a:lnTo>
                    <a:pt x="1685889" y="44684"/>
                  </a:lnTo>
                  <a:lnTo>
                    <a:pt x="1670208" y="21431"/>
                  </a:lnTo>
                  <a:lnTo>
                    <a:pt x="1646955" y="5750"/>
                  </a:lnTo>
                  <a:lnTo>
                    <a:pt x="1618488" y="0"/>
                  </a:lnTo>
                  <a:close/>
                </a:path>
              </a:pathLst>
            </a:custGeom>
            <a:solidFill>
              <a:srgbClr val="E6F3E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6537960" y="1737360"/>
              <a:ext cx="1691639" cy="868680"/>
            </a:xfrm>
            <a:custGeom>
              <a:avLst/>
              <a:gdLst/>
              <a:ahLst/>
              <a:cxnLst/>
              <a:rect l="l" t="t" r="r" b="b"/>
              <a:pathLst>
                <a:path w="1691640" h="868680">
                  <a:moveTo>
                    <a:pt x="0" y="73151"/>
                  </a:moveTo>
                  <a:lnTo>
                    <a:pt x="5750" y="44684"/>
                  </a:lnTo>
                  <a:lnTo>
                    <a:pt x="21431" y="21431"/>
                  </a:lnTo>
                  <a:lnTo>
                    <a:pt x="44684" y="5750"/>
                  </a:lnTo>
                  <a:lnTo>
                    <a:pt x="73151" y="0"/>
                  </a:lnTo>
                  <a:lnTo>
                    <a:pt x="1618488" y="0"/>
                  </a:lnTo>
                  <a:lnTo>
                    <a:pt x="1646955" y="5750"/>
                  </a:lnTo>
                  <a:lnTo>
                    <a:pt x="1670208" y="21431"/>
                  </a:lnTo>
                  <a:lnTo>
                    <a:pt x="1685889" y="44684"/>
                  </a:lnTo>
                  <a:lnTo>
                    <a:pt x="1691640" y="73151"/>
                  </a:lnTo>
                  <a:lnTo>
                    <a:pt x="1691640" y="795527"/>
                  </a:lnTo>
                  <a:lnTo>
                    <a:pt x="1685889" y="823995"/>
                  </a:lnTo>
                  <a:lnTo>
                    <a:pt x="1670208" y="847248"/>
                  </a:lnTo>
                  <a:lnTo>
                    <a:pt x="1646955" y="862929"/>
                  </a:lnTo>
                  <a:lnTo>
                    <a:pt x="1618488" y="868679"/>
                  </a:lnTo>
                  <a:lnTo>
                    <a:pt x="73151" y="868679"/>
                  </a:lnTo>
                  <a:lnTo>
                    <a:pt x="44684" y="862929"/>
                  </a:lnTo>
                  <a:lnTo>
                    <a:pt x="21431" y="847248"/>
                  </a:lnTo>
                  <a:lnTo>
                    <a:pt x="5750" y="823995"/>
                  </a:lnTo>
                  <a:lnTo>
                    <a:pt x="0" y="795527"/>
                  </a:lnTo>
                  <a:lnTo>
                    <a:pt x="0" y="73151"/>
                  </a:lnTo>
                  <a:close/>
                </a:path>
              </a:pathLst>
            </a:custGeom>
            <a:ln w="12192">
              <a:solidFill>
                <a:srgbClr val="1F4D3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4" name="object 24"/>
          <p:cNvSpPr txBox="1"/>
          <p:nvPr/>
        </p:nvSpPr>
        <p:spPr>
          <a:xfrm>
            <a:off x="6621018" y="1989785"/>
            <a:ext cx="1525270" cy="34734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540" algn="ctr">
              <a:lnSpc>
                <a:spcPct val="100000"/>
              </a:lnSpc>
              <a:spcBef>
                <a:spcPts val="105"/>
              </a:spcBef>
            </a:pPr>
            <a:r>
              <a:rPr sz="1150" b="1" dirty="0">
                <a:solidFill>
                  <a:srgbClr val="1F4D39"/>
                </a:solidFill>
                <a:latin typeface="Calibri"/>
                <a:cs typeface="Calibri"/>
              </a:rPr>
              <a:t>MySQL 8.0</a:t>
            </a:r>
            <a:endParaRPr sz="1150">
              <a:latin typeface="Calibri"/>
              <a:cs typeface="Calibri"/>
            </a:endParaRPr>
          </a:p>
          <a:p>
            <a:pPr algn="ctr">
              <a:lnSpc>
                <a:spcPct val="100000"/>
              </a:lnSpc>
              <a:spcBef>
                <a:spcPts val="10"/>
              </a:spcBef>
            </a:pPr>
            <a:r>
              <a:rPr sz="950" dirty="0">
                <a:solidFill>
                  <a:srgbClr val="1F4D39"/>
                </a:solidFill>
                <a:latin typeface="Calibri"/>
                <a:cs typeface="Calibri"/>
              </a:rPr>
              <a:t>Six tables incl. audit log</a:t>
            </a:r>
            <a:endParaRPr sz="950">
              <a:latin typeface="Calibri"/>
              <a:cs typeface="Calibri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4353305" y="2627502"/>
            <a:ext cx="162560" cy="23939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400" b="1" spc="-50" dirty="0">
                <a:solidFill>
                  <a:srgbClr val="C8A83E"/>
                </a:solidFill>
                <a:latin typeface="Calibri"/>
                <a:cs typeface="Calibri"/>
              </a:rPr>
              <a:t>↕</a:t>
            </a:r>
            <a:endParaRPr sz="1400">
              <a:latin typeface="Calibri"/>
              <a:cs typeface="Calibri"/>
            </a:endParaRPr>
          </a:p>
        </p:txBody>
      </p:sp>
      <p:grpSp>
        <p:nvGrpSpPr>
          <p:cNvPr id="26" name="object 26"/>
          <p:cNvGrpSpPr/>
          <p:nvPr/>
        </p:nvGrpSpPr>
        <p:grpSpPr>
          <a:xfrm>
            <a:off x="725423" y="3057144"/>
            <a:ext cx="3213100" cy="881380"/>
            <a:chOff x="725423" y="3057144"/>
            <a:chExt cx="3213100" cy="881380"/>
          </a:xfrm>
        </p:grpSpPr>
        <p:sp>
          <p:nvSpPr>
            <p:cNvPr id="27" name="object 27"/>
            <p:cNvSpPr/>
            <p:nvPr/>
          </p:nvSpPr>
          <p:spPr>
            <a:xfrm>
              <a:off x="731519" y="3063240"/>
              <a:ext cx="3200400" cy="868680"/>
            </a:xfrm>
            <a:custGeom>
              <a:avLst/>
              <a:gdLst/>
              <a:ahLst/>
              <a:cxnLst/>
              <a:rect l="l" t="t" r="r" b="b"/>
              <a:pathLst>
                <a:path w="3200400" h="868679">
                  <a:moveTo>
                    <a:pt x="3127247" y="0"/>
                  </a:moveTo>
                  <a:lnTo>
                    <a:pt x="73151" y="0"/>
                  </a:lnTo>
                  <a:lnTo>
                    <a:pt x="44678" y="5750"/>
                  </a:lnTo>
                  <a:lnTo>
                    <a:pt x="21426" y="21431"/>
                  </a:lnTo>
                  <a:lnTo>
                    <a:pt x="5748" y="44684"/>
                  </a:lnTo>
                  <a:lnTo>
                    <a:pt x="0" y="73151"/>
                  </a:lnTo>
                  <a:lnTo>
                    <a:pt x="0" y="795528"/>
                  </a:lnTo>
                  <a:lnTo>
                    <a:pt x="5748" y="823995"/>
                  </a:lnTo>
                  <a:lnTo>
                    <a:pt x="21426" y="847248"/>
                  </a:lnTo>
                  <a:lnTo>
                    <a:pt x="44678" y="862929"/>
                  </a:lnTo>
                  <a:lnTo>
                    <a:pt x="73151" y="868680"/>
                  </a:lnTo>
                  <a:lnTo>
                    <a:pt x="3127247" y="868680"/>
                  </a:lnTo>
                  <a:lnTo>
                    <a:pt x="3155715" y="862929"/>
                  </a:lnTo>
                  <a:lnTo>
                    <a:pt x="3178968" y="847248"/>
                  </a:lnTo>
                  <a:lnTo>
                    <a:pt x="3194649" y="823995"/>
                  </a:lnTo>
                  <a:lnTo>
                    <a:pt x="3200400" y="795528"/>
                  </a:lnTo>
                  <a:lnTo>
                    <a:pt x="3200400" y="73151"/>
                  </a:lnTo>
                  <a:lnTo>
                    <a:pt x="3194649" y="44684"/>
                  </a:lnTo>
                  <a:lnTo>
                    <a:pt x="3178968" y="21431"/>
                  </a:lnTo>
                  <a:lnTo>
                    <a:pt x="3155715" y="5750"/>
                  </a:lnTo>
                  <a:lnTo>
                    <a:pt x="3127247" y="0"/>
                  </a:lnTo>
                  <a:close/>
                </a:path>
              </a:pathLst>
            </a:custGeom>
            <a:solidFill>
              <a:srgbClr val="FFF7D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" name="object 28"/>
            <p:cNvSpPr/>
            <p:nvPr/>
          </p:nvSpPr>
          <p:spPr>
            <a:xfrm>
              <a:off x="731519" y="3063240"/>
              <a:ext cx="3200400" cy="868680"/>
            </a:xfrm>
            <a:custGeom>
              <a:avLst/>
              <a:gdLst/>
              <a:ahLst/>
              <a:cxnLst/>
              <a:rect l="l" t="t" r="r" b="b"/>
              <a:pathLst>
                <a:path w="3200400" h="868679">
                  <a:moveTo>
                    <a:pt x="0" y="73151"/>
                  </a:moveTo>
                  <a:lnTo>
                    <a:pt x="5748" y="44684"/>
                  </a:lnTo>
                  <a:lnTo>
                    <a:pt x="21426" y="21431"/>
                  </a:lnTo>
                  <a:lnTo>
                    <a:pt x="44678" y="5750"/>
                  </a:lnTo>
                  <a:lnTo>
                    <a:pt x="73151" y="0"/>
                  </a:lnTo>
                  <a:lnTo>
                    <a:pt x="3127247" y="0"/>
                  </a:lnTo>
                  <a:lnTo>
                    <a:pt x="3155715" y="5750"/>
                  </a:lnTo>
                  <a:lnTo>
                    <a:pt x="3178968" y="21431"/>
                  </a:lnTo>
                  <a:lnTo>
                    <a:pt x="3194649" y="44684"/>
                  </a:lnTo>
                  <a:lnTo>
                    <a:pt x="3200400" y="73151"/>
                  </a:lnTo>
                  <a:lnTo>
                    <a:pt x="3200400" y="795528"/>
                  </a:lnTo>
                  <a:lnTo>
                    <a:pt x="3194649" y="823995"/>
                  </a:lnTo>
                  <a:lnTo>
                    <a:pt x="3178968" y="847248"/>
                  </a:lnTo>
                  <a:lnTo>
                    <a:pt x="3155715" y="862929"/>
                  </a:lnTo>
                  <a:lnTo>
                    <a:pt x="3127247" y="868680"/>
                  </a:lnTo>
                  <a:lnTo>
                    <a:pt x="73151" y="868680"/>
                  </a:lnTo>
                  <a:lnTo>
                    <a:pt x="44678" y="862929"/>
                  </a:lnTo>
                  <a:lnTo>
                    <a:pt x="21426" y="847248"/>
                  </a:lnTo>
                  <a:lnTo>
                    <a:pt x="5748" y="823995"/>
                  </a:lnTo>
                  <a:lnTo>
                    <a:pt x="0" y="795528"/>
                  </a:lnTo>
                  <a:lnTo>
                    <a:pt x="0" y="73151"/>
                  </a:lnTo>
                  <a:close/>
                </a:path>
              </a:pathLst>
            </a:custGeom>
            <a:ln w="12192">
              <a:solidFill>
                <a:srgbClr val="C8A83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9" name="object 29"/>
          <p:cNvSpPr txBox="1"/>
          <p:nvPr/>
        </p:nvSpPr>
        <p:spPr>
          <a:xfrm>
            <a:off x="1535938" y="3312667"/>
            <a:ext cx="1591945" cy="35433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150" b="1" dirty="0">
                <a:solidFill>
                  <a:srgbClr val="896C0F"/>
                </a:solidFill>
                <a:latin typeface="Calibri"/>
                <a:cs typeface="Calibri"/>
              </a:rPr>
              <a:t>FastAPI Model Service</a:t>
            </a:r>
            <a:endParaRPr sz="1150">
              <a:latin typeface="Calibri"/>
              <a:cs typeface="Calibri"/>
            </a:endParaRPr>
          </a:p>
          <a:p>
            <a:pPr algn="ctr">
              <a:lnSpc>
                <a:spcPct val="100000"/>
              </a:lnSpc>
              <a:spcBef>
                <a:spcPts val="5"/>
              </a:spcBef>
            </a:pPr>
            <a:r>
              <a:rPr sz="1000" spc="-10" dirty="0">
                <a:solidFill>
                  <a:srgbClr val="896C0F"/>
                </a:solidFill>
                <a:latin typeface="Calibri"/>
                <a:cs typeface="Calibri"/>
              </a:rPr>
              <a:t>Features · scoring · rules</a:t>
            </a:r>
            <a:endParaRPr sz="1000">
              <a:latin typeface="Calibri"/>
              <a:cs typeface="Calibri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4474464" y="3057144"/>
            <a:ext cx="3213100" cy="881380"/>
            <a:chOff x="4474464" y="3057144"/>
            <a:chExt cx="3213100" cy="881380"/>
          </a:xfrm>
        </p:grpSpPr>
        <p:sp>
          <p:nvSpPr>
            <p:cNvPr id="31" name="object 31"/>
            <p:cNvSpPr/>
            <p:nvPr/>
          </p:nvSpPr>
          <p:spPr>
            <a:xfrm>
              <a:off x="4480560" y="3063240"/>
              <a:ext cx="3200400" cy="868680"/>
            </a:xfrm>
            <a:custGeom>
              <a:avLst/>
              <a:gdLst/>
              <a:ahLst/>
              <a:cxnLst/>
              <a:rect l="l" t="t" r="r" b="b"/>
              <a:pathLst>
                <a:path w="3200400" h="868679">
                  <a:moveTo>
                    <a:pt x="3127247" y="0"/>
                  </a:moveTo>
                  <a:lnTo>
                    <a:pt x="73151" y="0"/>
                  </a:lnTo>
                  <a:lnTo>
                    <a:pt x="44684" y="5750"/>
                  </a:lnTo>
                  <a:lnTo>
                    <a:pt x="21431" y="21431"/>
                  </a:lnTo>
                  <a:lnTo>
                    <a:pt x="5750" y="44684"/>
                  </a:lnTo>
                  <a:lnTo>
                    <a:pt x="0" y="73151"/>
                  </a:lnTo>
                  <a:lnTo>
                    <a:pt x="0" y="795528"/>
                  </a:lnTo>
                  <a:lnTo>
                    <a:pt x="5750" y="823995"/>
                  </a:lnTo>
                  <a:lnTo>
                    <a:pt x="21431" y="847248"/>
                  </a:lnTo>
                  <a:lnTo>
                    <a:pt x="44684" y="862929"/>
                  </a:lnTo>
                  <a:lnTo>
                    <a:pt x="73151" y="868680"/>
                  </a:lnTo>
                  <a:lnTo>
                    <a:pt x="3127247" y="868680"/>
                  </a:lnTo>
                  <a:lnTo>
                    <a:pt x="3155715" y="862929"/>
                  </a:lnTo>
                  <a:lnTo>
                    <a:pt x="3178968" y="847248"/>
                  </a:lnTo>
                  <a:lnTo>
                    <a:pt x="3194649" y="823995"/>
                  </a:lnTo>
                  <a:lnTo>
                    <a:pt x="3200399" y="795528"/>
                  </a:lnTo>
                  <a:lnTo>
                    <a:pt x="3200399" y="73151"/>
                  </a:lnTo>
                  <a:lnTo>
                    <a:pt x="3194649" y="44684"/>
                  </a:lnTo>
                  <a:lnTo>
                    <a:pt x="3178968" y="21431"/>
                  </a:lnTo>
                  <a:lnTo>
                    <a:pt x="3155715" y="5750"/>
                  </a:lnTo>
                  <a:lnTo>
                    <a:pt x="3127247" y="0"/>
                  </a:lnTo>
                  <a:close/>
                </a:path>
              </a:pathLst>
            </a:custGeom>
            <a:solidFill>
              <a:srgbClr val="FFF7D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4480560" y="3063240"/>
              <a:ext cx="3200400" cy="868680"/>
            </a:xfrm>
            <a:custGeom>
              <a:avLst/>
              <a:gdLst/>
              <a:ahLst/>
              <a:cxnLst/>
              <a:rect l="l" t="t" r="r" b="b"/>
              <a:pathLst>
                <a:path w="3200400" h="868679">
                  <a:moveTo>
                    <a:pt x="0" y="73151"/>
                  </a:moveTo>
                  <a:lnTo>
                    <a:pt x="5750" y="44684"/>
                  </a:lnTo>
                  <a:lnTo>
                    <a:pt x="21431" y="21431"/>
                  </a:lnTo>
                  <a:lnTo>
                    <a:pt x="44684" y="5750"/>
                  </a:lnTo>
                  <a:lnTo>
                    <a:pt x="73151" y="0"/>
                  </a:lnTo>
                  <a:lnTo>
                    <a:pt x="3127247" y="0"/>
                  </a:lnTo>
                  <a:lnTo>
                    <a:pt x="3155715" y="5750"/>
                  </a:lnTo>
                  <a:lnTo>
                    <a:pt x="3178968" y="21431"/>
                  </a:lnTo>
                  <a:lnTo>
                    <a:pt x="3194649" y="44684"/>
                  </a:lnTo>
                  <a:lnTo>
                    <a:pt x="3200399" y="73151"/>
                  </a:lnTo>
                  <a:lnTo>
                    <a:pt x="3200399" y="795528"/>
                  </a:lnTo>
                  <a:lnTo>
                    <a:pt x="3194649" y="823995"/>
                  </a:lnTo>
                  <a:lnTo>
                    <a:pt x="3178968" y="847248"/>
                  </a:lnTo>
                  <a:lnTo>
                    <a:pt x="3155715" y="862929"/>
                  </a:lnTo>
                  <a:lnTo>
                    <a:pt x="3127247" y="868680"/>
                  </a:lnTo>
                  <a:lnTo>
                    <a:pt x="73151" y="868680"/>
                  </a:lnTo>
                  <a:lnTo>
                    <a:pt x="44684" y="862929"/>
                  </a:lnTo>
                  <a:lnTo>
                    <a:pt x="21431" y="847248"/>
                  </a:lnTo>
                  <a:lnTo>
                    <a:pt x="5750" y="823995"/>
                  </a:lnTo>
                  <a:lnTo>
                    <a:pt x="0" y="795528"/>
                  </a:lnTo>
                  <a:lnTo>
                    <a:pt x="0" y="73151"/>
                  </a:lnTo>
                  <a:close/>
                </a:path>
              </a:pathLst>
            </a:custGeom>
            <a:ln w="12192">
              <a:solidFill>
                <a:srgbClr val="C8A83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3" name="object 33"/>
          <p:cNvSpPr txBox="1"/>
          <p:nvPr/>
        </p:nvSpPr>
        <p:spPr>
          <a:xfrm>
            <a:off x="5132959" y="3312667"/>
            <a:ext cx="1896110" cy="35433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150" b="1" dirty="0">
                <a:solidFill>
                  <a:srgbClr val="896C0F"/>
                </a:solidFill>
                <a:latin typeface="Calibri"/>
                <a:cs typeface="Calibri"/>
              </a:rPr>
              <a:t>EBM (InterpretML)</a:t>
            </a:r>
            <a:endParaRPr sz="1150">
              <a:latin typeface="Calibri"/>
              <a:cs typeface="Calibri"/>
            </a:endParaRPr>
          </a:p>
          <a:p>
            <a:pPr algn="ctr">
              <a:lnSpc>
                <a:spcPct val="100000"/>
              </a:lnSpc>
              <a:spcBef>
                <a:spcPts val="5"/>
              </a:spcBef>
            </a:pPr>
            <a:r>
              <a:rPr sz="1000" dirty="0">
                <a:solidFill>
                  <a:srgbClr val="896C0F"/>
                </a:solidFill>
                <a:latin typeface="Calibri"/>
                <a:cs typeface="Calibri"/>
              </a:rPr>
              <a:t>18 features · 28 terms</a:t>
            </a:r>
            <a:endParaRPr sz="1000">
              <a:latin typeface="Calibri"/>
              <a:cs typeface="Calibri"/>
            </a:endParaRPr>
          </a:p>
        </p:txBody>
      </p:sp>
      <p:sp>
        <p:nvSpPr>
          <p:cNvPr id="34" name="object 34"/>
          <p:cNvSpPr txBox="1"/>
          <p:nvPr/>
        </p:nvSpPr>
        <p:spPr>
          <a:xfrm>
            <a:off x="490219" y="4003928"/>
            <a:ext cx="5343525" cy="1701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950" i="1" dirty="0">
                <a:solidFill>
                  <a:srgbClr val="6B6B6B"/>
                </a:solidFill>
                <a:latin typeface="Calibri"/>
                <a:cs typeface="Calibri"/>
              </a:rPr>
              <a:t>Gold = decision components run inside the model service. All components shown are implemented.</a:t>
            </a:r>
            <a:endParaRPr sz="950">
              <a:latin typeface="Calibri"/>
              <a:cs typeface="Calibri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8682228" y="1787651"/>
            <a:ext cx="3008630" cy="2752725"/>
            <a:chOff x="8682228" y="1787651"/>
            <a:chExt cx="3008630" cy="2752725"/>
          </a:xfrm>
        </p:grpSpPr>
        <p:sp>
          <p:nvSpPr>
            <p:cNvPr id="37" name="object 37"/>
            <p:cNvSpPr/>
            <p:nvPr/>
          </p:nvSpPr>
          <p:spPr>
            <a:xfrm>
              <a:off x="8686800" y="1792223"/>
              <a:ext cx="2999740" cy="2743200"/>
            </a:xfrm>
            <a:custGeom>
              <a:avLst/>
              <a:gdLst/>
              <a:ahLst/>
              <a:cxnLst/>
              <a:rect l="l" t="t" r="r" b="b"/>
              <a:pathLst>
                <a:path w="2999740" h="2743200">
                  <a:moveTo>
                    <a:pt x="2926079" y="0"/>
                  </a:moveTo>
                  <a:lnTo>
                    <a:pt x="73151" y="0"/>
                  </a:lnTo>
                  <a:lnTo>
                    <a:pt x="44684" y="5750"/>
                  </a:lnTo>
                  <a:lnTo>
                    <a:pt x="21431" y="21431"/>
                  </a:lnTo>
                  <a:lnTo>
                    <a:pt x="5750" y="44684"/>
                  </a:lnTo>
                  <a:lnTo>
                    <a:pt x="0" y="73151"/>
                  </a:lnTo>
                  <a:lnTo>
                    <a:pt x="0" y="2670048"/>
                  </a:lnTo>
                  <a:lnTo>
                    <a:pt x="5750" y="2698515"/>
                  </a:lnTo>
                  <a:lnTo>
                    <a:pt x="21431" y="2721768"/>
                  </a:lnTo>
                  <a:lnTo>
                    <a:pt x="44684" y="2737449"/>
                  </a:lnTo>
                  <a:lnTo>
                    <a:pt x="73151" y="2743200"/>
                  </a:lnTo>
                  <a:lnTo>
                    <a:pt x="2926079" y="2743200"/>
                  </a:lnTo>
                  <a:lnTo>
                    <a:pt x="2954547" y="2737449"/>
                  </a:lnTo>
                  <a:lnTo>
                    <a:pt x="2977800" y="2721768"/>
                  </a:lnTo>
                  <a:lnTo>
                    <a:pt x="2993481" y="2698515"/>
                  </a:lnTo>
                  <a:lnTo>
                    <a:pt x="2999231" y="2670048"/>
                  </a:lnTo>
                  <a:lnTo>
                    <a:pt x="2999231" y="73151"/>
                  </a:lnTo>
                  <a:lnTo>
                    <a:pt x="2993481" y="44684"/>
                  </a:lnTo>
                  <a:lnTo>
                    <a:pt x="2977800" y="21431"/>
                  </a:lnTo>
                  <a:lnTo>
                    <a:pt x="2954547" y="5750"/>
                  </a:lnTo>
                  <a:lnTo>
                    <a:pt x="2926079" y="0"/>
                  </a:lnTo>
                  <a:close/>
                </a:path>
              </a:pathLst>
            </a:custGeom>
            <a:solidFill>
              <a:srgbClr val="F3F8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8686800" y="1792223"/>
              <a:ext cx="2999740" cy="2743200"/>
            </a:xfrm>
            <a:custGeom>
              <a:avLst/>
              <a:gdLst/>
              <a:ahLst/>
              <a:cxnLst/>
              <a:rect l="l" t="t" r="r" b="b"/>
              <a:pathLst>
                <a:path w="2999740" h="2743200">
                  <a:moveTo>
                    <a:pt x="0" y="73151"/>
                  </a:moveTo>
                  <a:lnTo>
                    <a:pt x="5750" y="44684"/>
                  </a:lnTo>
                  <a:lnTo>
                    <a:pt x="21431" y="21431"/>
                  </a:lnTo>
                  <a:lnTo>
                    <a:pt x="44684" y="5750"/>
                  </a:lnTo>
                  <a:lnTo>
                    <a:pt x="73151" y="0"/>
                  </a:lnTo>
                  <a:lnTo>
                    <a:pt x="2926079" y="0"/>
                  </a:lnTo>
                  <a:lnTo>
                    <a:pt x="2954547" y="5750"/>
                  </a:lnTo>
                  <a:lnTo>
                    <a:pt x="2977800" y="21431"/>
                  </a:lnTo>
                  <a:lnTo>
                    <a:pt x="2993481" y="44684"/>
                  </a:lnTo>
                  <a:lnTo>
                    <a:pt x="2999231" y="73151"/>
                  </a:lnTo>
                  <a:lnTo>
                    <a:pt x="2999231" y="2670048"/>
                  </a:lnTo>
                  <a:lnTo>
                    <a:pt x="2993481" y="2698515"/>
                  </a:lnTo>
                  <a:lnTo>
                    <a:pt x="2977800" y="2721768"/>
                  </a:lnTo>
                  <a:lnTo>
                    <a:pt x="2954547" y="2737449"/>
                  </a:lnTo>
                  <a:lnTo>
                    <a:pt x="2926079" y="2743200"/>
                  </a:lnTo>
                  <a:lnTo>
                    <a:pt x="73151" y="2743200"/>
                  </a:lnTo>
                  <a:lnTo>
                    <a:pt x="44684" y="2737449"/>
                  </a:lnTo>
                  <a:lnTo>
                    <a:pt x="21431" y="2721768"/>
                  </a:lnTo>
                  <a:lnTo>
                    <a:pt x="5750" y="2698515"/>
                  </a:lnTo>
                  <a:lnTo>
                    <a:pt x="0" y="2670048"/>
                  </a:lnTo>
                  <a:lnTo>
                    <a:pt x="0" y="73151"/>
                  </a:lnTo>
                  <a:close/>
                </a:path>
              </a:pathLst>
            </a:custGeom>
            <a:ln w="9144">
              <a:solidFill>
                <a:srgbClr val="BED7C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9" name="object 39"/>
          <p:cNvSpPr txBox="1"/>
          <p:nvPr/>
        </p:nvSpPr>
        <p:spPr>
          <a:xfrm>
            <a:off x="8858250" y="1898650"/>
            <a:ext cx="2677795" cy="114744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1A1A1A"/>
                </a:solidFill>
                <a:latin typeface="Calibri"/>
              </a:rPr>
              <a:t>Client: </a:t>
            </a:r>
            <a:r>
              <a:rPr sz="1100" b="0">
                <a:solidFill>
                  <a:srgbClr val="1A1A1A"/>
                </a:solidFill>
                <a:latin typeface="Calibri"/>
              </a:rPr>
              <a:t>wizard, live camera reticle, waterfall chart.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1A1A1A"/>
                </a:solidFill>
                <a:latin typeface="Calibri"/>
              </a:rPr>
              <a:t>Security: </a:t>
            </a:r>
            <a:r>
              <a:rPr sz="1100" b="0">
                <a:solidFill>
                  <a:srgbClr val="1A1A1A"/>
                </a:solidFill>
                <a:latin typeface="Calibri"/>
              </a:rPr>
              <a:t>DigiLocker API, OpenCV face match, OCR parser.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1A1A1A"/>
                </a:solidFill>
                <a:latin typeface="Calibri"/>
              </a:rPr>
              <a:t>Model service: </a:t>
            </a:r>
            <a:r>
              <a:rPr sz="1100" b="0">
                <a:solidFill>
                  <a:srgbClr val="1A1A1A"/>
                </a:solidFill>
                <a:latin typeface="Calibri"/>
              </a:rPr>
              <a:t>features, EBM glass-box, Random Forest.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1A1A1A"/>
                </a:solidFill>
                <a:latin typeface="Calibri"/>
              </a:rPr>
              <a:t>Database: </a:t>
            </a:r>
            <a:r>
              <a:rPr sz="1100" b="0">
                <a:solidFill>
                  <a:srgbClr val="1A1A1A"/>
                </a:solidFill>
                <a:latin typeface="Calibri"/>
              </a:rPr>
              <a:t>users, applications, predictions, audit log.</a:t>
            </a:r>
          </a:p>
        </p:txBody>
      </p:sp>
      <p:grpSp>
        <p:nvGrpSpPr>
          <p:cNvPr id="40" name="object 40"/>
          <p:cNvGrpSpPr/>
          <p:nvPr/>
        </p:nvGrpSpPr>
        <p:grpSpPr>
          <a:xfrm>
            <a:off x="496823" y="4657344"/>
            <a:ext cx="11195685" cy="652780"/>
            <a:chOff x="496823" y="4657344"/>
            <a:chExt cx="11195685" cy="652780"/>
          </a:xfrm>
        </p:grpSpPr>
        <p:sp>
          <p:nvSpPr>
            <p:cNvPr id="41" name="object 41"/>
            <p:cNvSpPr/>
            <p:nvPr/>
          </p:nvSpPr>
          <p:spPr>
            <a:xfrm>
              <a:off x="502919" y="4663440"/>
              <a:ext cx="11183620" cy="640080"/>
            </a:xfrm>
            <a:custGeom>
              <a:avLst/>
              <a:gdLst/>
              <a:ahLst/>
              <a:cxnLst/>
              <a:rect l="l" t="t" r="r" b="b"/>
              <a:pathLst>
                <a:path w="11183620" h="640079">
                  <a:moveTo>
                    <a:pt x="11128248" y="0"/>
                  </a:moveTo>
                  <a:lnTo>
                    <a:pt x="54864" y="0"/>
                  </a:lnTo>
                  <a:lnTo>
                    <a:pt x="33507" y="4304"/>
                  </a:lnTo>
                  <a:lnTo>
                    <a:pt x="16068" y="16049"/>
                  </a:lnTo>
                  <a:lnTo>
                    <a:pt x="4311" y="33486"/>
                  </a:lnTo>
                  <a:lnTo>
                    <a:pt x="0" y="54864"/>
                  </a:lnTo>
                  <a:lnTo>
                    <a:pt x="0" y="585216"/>
                  </a:lnTo>
                  <a:lnTo>
                    <a:pt x="4311" y="606593"/>
                  </a:lnTo>
                  <a:lnTo>
                    <a:pt x="16068" y="624030"/>
                  </a:lnTo>
                  <a:lnTo>
                    <a:pt x="33507" y="635775"/>
                  </a:lnTo>
                  <a:lnTo>
                    <a:pt x="54864" y="640080"/>
                  </a:lnTo>
                  <a:lnTo>
                    <a:pt x="11128248" y="640080"/>
                  </a:lnTo>
                  <a:lnTo>
                    <a:pt x="11149625" y="635775"/>
                  </a:lnTo>
                  <a:lnTo>
                    <a:pt x="11167062" y="624030"/>
                  </a:lnTo>
                  <a:lnTo>
                    <a:pt x="11178807" y="606593"/>
                  </a:lnTo>
                  <a:lnTo>
                    <a:pt x="11183112" y="585216"/>
                  </a:lnTo>
                  <a:lnTo>
                    <a:pt x="11183112" y="54864"/>
                  </a:lnTo>
                  <a:lnTo>
                    <a:pt x="11178807" y="33486"/>
                  </a:lnTo>
                  <a:lnTo>
                    <a:pt x="11167062" y="16049"/>
                  </a:lnTo>
                  <a:lnTo>
                    <a:pt x="11149625" y="4304"/>
                  </a:lnTo>
                  <a:lnTo>
                    <a:pt x="11128248" y="0"/>
                  </a:lnTo>
                  <a:close/>
                </a:path>
              </a:pathLst>
            </a:custGeom>
            <a:solidFill>
              <a:srgbClr val="FFF7D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2" name="object 42"/>
            <p:cNvSpPr/>
            <p:nvPr/>
          </p:nvSpPr>
          <p:spPr>
            <a:xfrm>
              <a:off x="502919" y="4663440"/>
              <a:ext cx="11183620" cy="640080"/>
            </a:xfrm>
            <a:custGeom>
              <a:avLst/>
              <a:gdLst/>
              <a:ahLst/>
              <a:cxnLst/>
              <a:rect l="l" t="t" r="r" b="b"/>
              <a:pathLst>
                <a:path w="11183620" h="640079">
                  <a:moveTo>
                    <a:pt x="0" y="54864"/>
                  </a:moveTo>
                  <a:lnTo>
                    <a:pt x="4311" y="33486"/>
                  </a:lnTo>
                  <a:lnTo>
                    <a:pt x="16068" y="16049"/>
                  </a:lnTo>
                  <a:lnTo>
                    <a:pt x="33507" y="4304"/>
                  </a:lnTo>
                  <a:lnTo>
                    <a:pt x="54864" y="0"/>
                  </a:lnTo>
                  <a:lnTo>
                    <a:pt x="11128248" y="0"/>
                  </a:lnTo>
                  <a:lnTo>
                    <a:pt x="11149625" y="4304"/>
                  </a:lnTo>
                  <a:lnTo>
                    <a:pt x="11167062" y="16049"/>
                  </a:lnTo>
                  <a:lnTo>
                    <a:pt x="11178807" y="33486"/>
                  </a:lnTo>
                  <a:lnTo>
                    <a:pt x="11183112" y="54864"/>
                  </a:lnTo>
                  <a:lnTo>
                    <a:pt x="11183112" y="585216"/>
                  </a:lnTo>
                  <a:lnTo>
                    <a:pt x="11178807" y="606593"/>
                  </a:lnTo>
                  <a:lnTo>
                    <a:pt x="11167062" y="624030"/>
                  </a:lnTo>
                  <a:lnTo>
                    <a:pt x="11149625" y="635775"/>
                  </a:lnTo>
                  <a:lnTo>
                    <a:pt x="11128248" y="640080"/>
                  </a:lnTo>
                  <a:lnTo>
                    <a:pt x="54864" y="640080"/>
                  </a:lnTo>
                  <a:lnTo>
                    <a:pt x="33507" y="635775"/>
                  </a:lnTo>
                  <a:lnTo>
                    <a:pt x="16068" y="624030"/>
                  </a:lnTo>
                  <a:lnTo>
                    <a:pt x="4311" y="606593"/>
                  </a:lnTo>
                  <a:lnTo>
                    <a:pt x="0" y="585216"/>
                  </a:lnTo>
                  <a:lnTo>
                    <a:pt x="0" y="54864"/>
                  </a:lnTo>
                  <a:close/>
                </a:path>
              </a:pathLst>
            </a:custGeom>
            <a:ln w="12192">
              <a:solidFill>
                <a:srgbClr val="C8A83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3" name="object 43"/>
          <p:cNvSpPr txBox="1"/>
          <p:nvPr/>
        </p:nvSpPr>
        <p:spPr>
          <a:xfrm>
            <a:off x="502919" y="4663440"/>
            <a:ext cx="11183620" cy="640080"/>
          </a:xfrm>
          <a:prstGeom prst="rect">
            <a:avLst/>
          </a:prstGeom>
        </p:spPr>
        <p:txBody>
          <a:bodyPr vert="horz" wrap="square" lIns="0" tIns="136525" rIns="0" bIns="0" rtlCol="0">
            <a:spAutoFit/>
          </a:bodyPr>
          <a:lstStyle/>
          <a:p>
            <a:r>
              <a:rPr b="1" sz="1050"/>
              <a:t>Design note: </a:t>
            </a:r>
            <a:r>
              <a:rPr b="0" sz="1050"/>
              <a:t>explanations come from the EBM's own terms, not a separate approximation, so reasons and prediction cannot disagree.</a:t>
            </a:r>
          </a:p>
        </p:txBody>
      </p:sp>
      <p:grpSp>
        <p:nvGrpSpPr>
          <p:cNvPr id="44" name="object 44"/>
          <p:cNvGrpSpPr/>
          <p:nvPr/>
        </p:nvGrpSpPr>
        <p:grpSpPr>
          <a:xfrm>
            <a:off x="496823" y="5480303"/>
            <a:ext cx="11195685" cy="579120"/>
            <a:chOff x="496823" y="5480303"/>
            <a:chExt cx="11195685" cy="579120"/>
          </a:xfrm>
        </p:grpSpPr>
        <p:sp>
          <p:nvSpPr>
            <p:cNvPr id="45" name="object 45"/>
            <p:cNvSpPr/>
            <p:nvPr/>
          </p:nvSpPr>
          <p:spPr>
            <a:xfrm>
              <a:off x="502919" y="5486399"/>
              <a:ext cx="11183620" cy="567055"/>
            </a:xfrm>
            <a:custGeom>
              <a:avLst/>
              <a:gdLst/>
              <a:ahLst/>
              <a:cxnLst/>
              <a:rect l="l" t="t" r="r" b="b"/>
              <a:pathLst>
                <a:path w="11183620" h="567054">
                  <a:moveTo>
                    <a:pt x="11128248" y="0"/>
                  </a:moveTo>
                  <a:lnTo>
                    <a:pt x="54864" y="0"/>
                  </a:lnTo>
                  <a:lnTo>
                    <a:pt x="33507" y="4304"/>
                  </a:lnTo>
                  <a:lnTo>
                    <a:pt x="16068" y="16049"/>
                  </a:lnTo>
                  <a:lnTo>
                    <a:pt x="4311" y="33486"/>
                  </a:lnTo>
                  <a:lnTo>
                    <a:pt x="0" y="54863"/>
                  </a:lnTo>
                  <a:lnTo>
                    <a:pt x="0" y="512063"/>
                  </a:lnTo>
                  <a:lnTo>
                    <a:pt x="4311" y="533420"/>
                  </a:lnTo>
                  <a:lnTo>
                    <a:pt x="16068" y="550859"/>
                  </a:lnTo>
                  <a:lnTo>
                    <a:pt x="33507" y="562616"/>
                  </a:lnTo>
                  <a:lnTo>
                    <a:pt x="54864" y="566928"/>
                  </a:lnTo>
                  <a:lnTo>
                    <a:pt x="11128248" y="566928"/>
                  </a:lnTo>
                  <a:lnTo>
                    <a:pt x="11149625" y="562616"/>
                  </a:lnTo>
                  <a:lnTo>
                    <a:pt x="11167062" y="550859"/>
                  </a:lnTo>
                  <a:lnTo>
                    <a:pt x="11178807" y="533420"/>
                  </a:lnTo>
                  <a:lnTo>
                    <a:pt x="11183112" y="512063"/>
                  </a:lnTo>
                  <a:lnTo>
                    <a:pt x="11183112" y="54863"/>
                  </a:lnTo>
                  <a:lnTo>
                    <a:pt x="11178807" y="33486"/>
                  </a:lnTo>
                  <a:lnTo>
                    <a:pt x="11167062" y="16049"/>
                  </a:lnTo>
                  <a:lnTo>
                    <a:pt x="11149625" y="4304"/>
                  </a:lnTo>
                  <a:lnTo>
                    <a:pt x="11128248" y="0"/>
                  </a:lnTo>
                  <a:close/>
                </a:path>
              </a:pathLst>
            </a:custGeom>
            <a:solidFill>
              <a:srgbClr val="1F4D3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6" name="object 46"/>
            <p:cNvSpPr/>
            <p:nvPr/>
          </p:nvSpPr>
          <p:spPr>
            <a:xfrm>
              <a:off x="502919" y="5486399"/>
              <a:ext cx="11183620" cy="567055"/>
            </a:xfrm>
            <a:custGeom>
              <a:avLst/>
              <a:gdLst/>
              <a:ahLst/>
              <a:cxnLst/>
              <a:rect l="l" t="t" r="r" b="b"/>
              <a:pathLst>
                <a:path w="11183620" h="567054">
                  <a:moveTo>
                    <a:pt x="0" y="54863"/>
                  </a:moveTo>
                  <a:lnTo>
                    <a:pt x="4311" y="33486"/>
                  </a:lnTo>
                  <a:lnTo>
                    <a:pt x="16068" y="16049"/>
                  </a:lnTo>
                  <a:lnTo>
                    <a:pt x="33507" y="4304"/>
                  </a:lnTo>
                  <a:lnTo>
                    <a:pt x="54864" y="0"/>
                  </a:lnTo>
                  <a:lnTo>
                    <a:pt x="11128248" y="0"/>
                  </a:lnTo>
                  <a:lnTo>
                    <a:pt x="11149625" y="4304"/>
                  </a:lnTo>
                  <a:lnTo>
                    <a:pt x="11167062" y="16049"/>
                  </a:lnTo>
                  <a:lnTo>
                    <a:pt x="11178807" y="33486"/>
                  </a:lnTo>
                  <a:lnTo>
                    <a:pt x="11183112" y="54863"/>
                  </a:lnTo>
                  <a:lnTo>
                    <a:pt x="11183112" y="512063"/>
                  </a:lnTo>
                  <a:lnTo>
                    <a:pt x="11178807" y="533420"/>
                  </a:lnTo>
                  <a:lnTo>
                    <a:pt x="11167062" y="550859"/>
                  </a:lnTo>
                  <a:lnTo>
                    <a:pt x="11149625" y="562616"/>
                  </a:lnTo>
                  <a:lnTo>
                    <a:pt x="11128248" y="566928"/>
                  </a:lnTo>
                  <a:lnTo>
                    <a:pt x="54864" y="566928"/>
                  </a:lnTo>
                  <a:lnTo>
                    <a:pt x="33507" y="562616"/>
                  </a:lnTo>
                  <a:lnTo>
                    <a:pt x="16068" y="550859"/>
                  </a:lnTo>
                  <a:lnTo>
                    <a:pt x="4311" y="533420"/>
                  </a:lnTo>
                  <a:lnTo>
                    <a:pt x="0" y="512063"/>
                  </a:lnTo>
                  <a:lnTo>
                    <a:pt x="0" y="54863"/>
                  </a:lnTo>
                  <a:close/>
                </a:path>
              </a:pathLst>
            </a:custGeom>
            <a:ln w="12192">
              <a:solidFill>
                <a:srgbClr val="1F4D3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7" name="object 47"/>
          <p:cNvSpPr txBox="1"/>
          <p:nvPr/>
        </p:nvSpPr>
        <p:spPr>
          <a:xfrm>
            <a:off x="502919" y="5486400"/>
            <a:ext cx="11183620" cy="567055"/>
          </a:xfrm>
          <a:prstGeom prst="rect">
            <a:avLst/>
          </a:prstGeom>
        </p:spPr>
        <p:txBody>
          <a:bodyPr vert="horz" wrap="square" lIns="0" tIns="57785" rIns="0" bIns="0" rtlCol="0">
            <a:spAutoFit/>
          </a:bodyPr>
          <a:lstStyle/>
          <a:p>
            <a:r>
              <a:rPr b="1" sz="950">
                <a:solidFill>
                  <a:srgbClr val="1F4D39"/>
                </a:solidFill>
              </a:rPr>
              <a:t>DATA FLOW
</a:t>
            </a:r>
            <a:r>
              <a:rPr sz="1000"/>
              <a:t>Client → API → Security Tier (DigiLocker + Biometrics + OCR) → Model Service (EBM + Rules) → Audit DB → Client</a:t>
            </a:r>
          </a:p>
        </p:txBody>
      </p:sp>
      <p:sp>
        <p:nvSpPr>
          <p:cNvPr id="49" name="object 49"/>
          <p:cNvSpPr txBox="1">
            <a:spLocks noGrp="1"/>
          </p:cNvSpPr>
          <p:nvPr>
            <p:ph type="dt" sz="half" idx="6"/>
          </p:nvPr>
        </p:nvSpPr>
        <p:spPr>
          <a:xfrm>
            <a:off x="490219" y="6531584"/>
            <a:ext cx="610235" cy="11541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910"/>
              </a:lnSpc>
            </a:pPr>
            <a:r>
              <a:rPr spc="-10" dirty="0"/>
              <a:t>[3</a:t>
            </a:r>
            <a:r>
              <a:rPr lang="en-US" spc="-10" dirty="0"/>
              <a:t>1</a:t>
            </a:r>
            <a:r>
              <a:rPr spc="-10" dirty="0"/>
              <a:t>/10/2026]</a:t>
            </a:r>
          </a:p>
        </p:txBody>
      </p:sp>
      <p:sp>
        <p:nvSpPr>
          <p:cNvPr id="50" name="object 50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910"/>
              </a:lnSpc>
            </a:pPr>
            <a:r>
              <a:rPr spc="-10" dirty="0"/>
              <a:t>Smart Digital Lending System with AI-Based Risk Analysis</a:t>
            </a:r>
          </a:p>
        </p:txBody>
      </p:sp>
      <p:sp>
        <p:nvSpPr>
          <p:cNvPr id="48" name="object 4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955"/>
              </a:lnSpc>
            </a:pPr>
            <a:fld id="{81D60167-4931-47E6-BA6A-407CBD079E47}" type="slidenum">
              <a:rPr spc="-25" dirty="0"/>
              <a:t>7</a:t>
            </a:fld>
            <a:endParaRPr spc="-25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defRPr sz="2200" b="1">
                <a:solidFill>
                  <a:srgbClr val="1F4D39"/>
                </a:solidFill>
                <a:latin typeface="Calibri"/>
              </a:defRPr>
            </a:pPr>
            <a:r>
              <a:t>MODEL 1 &amp; 2: DIGILOCKER &amp; BIOMETRICS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90219" y="965962"/>
            <a:ext cx="5497195" cy="19367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defRPr sz="1100" b="0">
                <a:solidFill>
                  <a:srgbClr val="6B6B6B"/>
                </a:solidFill>
                <a:latin typeface="Calibri"/>
              </a:defRPr>
            </a:pPr>
            <a:r>
              <a:t>Eliminating fake certificates and stolen OTP identity theft</a:t>
            </a:r>
          </a:p>
        </p:txBody>
      </p:sp>
      <p:sp>
        <p:nvSpPr>
          <p:cNvPr id="4" name="object 4"/>
          <p:cNvSpPr/>
          <p:nvPr/>
        </p:nvSpPr>
        <p:spPr>
          <a:xfrm>
            <a:off x="502919" y="1298447"/>
            <a:ext cx="11183620" cy="0"/>
          </a:xfrm>
          <a:custGeom>
            <a:avLst/>
            <a:gdLst/>
            <a:ahLst/>
            <a:cxnLst/>
            <a:rect l="l" t="t" r="r" b="b"/>
            <a:pathLst>
              <a:path w="11183620">
                <a:moveTo>
                  <a:pt x="0" y="0"/>
                </a:moveTo>
                <a:lnTo>
                  <a:pt x="11183112" y="0"/>
                </a:lnTo>
              </a:path>
            </a:pathLst>
          </a:custGeom>
          <a:ln w="12192">
            <a:solidFill>
              <a:srgbClr val="C8A83E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502919" y="1508760"/>
            <a:ext cx="6766559" cy="329565"/>
          </a:xfrm>
          <a:custGeom>
            <a:avLst/>
            <a:gdLst/>
            <a:ahLst/>
            <a:cxnLst/>
            <a:rect l="l" t="t" r="r" b="b"/>
            <a:pathLst>
              <a:path w="6766559" h="329564">
                <a:moveTo>
                  <a:pt x="0" y="329184"/>
                </a:moveTo>
                <a:lnTo>
                  <a:pt x="6766559" y="329184"/>
                </a:lnTo>
                <a:lnTo>
                  <a:pt x="6766559" y="0"/>
                </a:lnTo>
                <a:lnTo>
                  <a:pt x="0" y="0"/>
                </a:lnTo>
                <a:lnTo>
                  <a:pt x="0" y="329184"/>
                </a:lnTo>
                <a:close/>
              </a:path>
            </a:pathLst>
          </a:custGeom>
          <a:ln w="12192">
            <a:solidFill>
              <a:srgbClr val="1F4D3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496823" y="1502663"/>
            <a:ext cx="6779259" cy="341630"/>
          </a:xfrm>
          <a:prstGeom prst="rect">
            <a:avLst/>
          </a:prstGeom>
          <a:solidFill>
            <a:srgbClr val="1F4D39"/>
          </a:solidFill>
        </p:spPr>
        <p:txBody>
          <a:bodyPr vert="horz" wrap="square" lIns="0" tIns="86360" rIns="0" bIns="0" rtlCol="0">
            <a:spAutoFit/>
          </a:bodyPr>
          <a:lstStyle/>
          <a:p>
            <a:pPr>
              <a:defRPr sz="1000" b="1">
                <a:solidFill>
                  <a:srgbClr val="FFFFFF"/>
                </a:solidFill>
                <a:latin typeface="Calibri"/>
              </a:defRPr>
            </a:pPr>
            <a:r>
              <a:t>MODEL 1: DIGILOCKER VERIFICATION</a:t>
            </a:r>
          </a:p>
        </p:txBody>
      </p:sp>
      <p:sp>
        <p:nvSpPr>
          <p:cNvPr id="11" name="object 11"/>
          <p:cNvSpPr/>
          <p:nvPr/>
        </p:nvSpPr>
        <p:spPr>
          <a:xfrm>
            <a:off x="7498080" y="1508760"/>
            <a:ext cx="4188460" cy="329565"/>
          </a:xfrm>
          <a:custGeom>
            <a:avLst/>
            <a:gdLst/>
            <a:ahLst/>
            <a:cxnLst/>
            <a:rect l="l" t="t" r="r" b="b"/>
            <a:pathLst>
              <a:path w="4188459" h="329564">
                <a:moveTo>
                  <a:pt x="0" y="329184"/>
                </a:moveTo>
                <a:lnTo>
                  <a:pt x="4187952" y="329184"/>
                </a:lnTo>
                <a:lnTo>
                  <a:pt x="4187952" y="0"/>
                </a:lnTo>
                <a:lnTo>
                  <a:pt x="0" y="0"/>
                </a:lnTo>
                <a:lnTo>
                  <a:pt x="0" y="329184"/>
                </a:lnTo>
                <a:close/>
              </a:path>
            </a:pathLst>
          </a:custGeom>
          <a:ln w="12192">
            <a:solidFill>
              <a:srgbClr val="1F4D3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/>
          <p:nvPr/>
        </p:nvSpPr>
        <p:spPr>
          <a:xfrm>
            <a:off x="7491983" y="1502663"/>
            <a:ext cx="4200525" cy="341630"/>
          </a:xfrm>
          <a:prstGeom prst="rect">
            <a:avLst/>
          </a:prstGeom>
          <a:solidFill>
            <a:srgbClr val="1F4D39"/>
          </a:solidFill>
        </p:spPr>
        <p:txBody>
          <a:bodyPr vert="horz" wrap="square" lIns="0" tIns="86360" rIns="0" bIns="0" rtlCol="0">
            <a:spAutoFit/>
          </a:bodyPr>
          <a:lstStyle/>
          <a:p>
            <a:pPr>
              <a:defRPr sz="1000" b="1">
                <a:solidFill>
                  <a:srgbClr val="FFFFFF"/>
                </a:solidFill>
                <a:latin typeface="Calibri"/>
              </a:defRPr>
            </a:pPr>
            <a:r>
              <a:t>MODEL 2: TRI-BIOMETRIC VERIFICATION</a:t>
            </a:r>
          </a:p>
        </p:txBody>
      </p:sp>
      <p:grpSp>
        <p:nvGrpSpPr>
          <p:cNvPr id="7" name="object 7"/>
          <p:cNvGrpSpPr/>
          <p:nvPr/>
        </p:nvGrpSpPr>
        <p:grpSpPr>
          <a:xfrm>
            <a:off x="498348" y="1833372"/>
            <a:ext cx="6776084" cy="3392804"/>
            <a:chOff x="498348" y="1833372"/>
            <a:chExt cx="6776084" cy="3392804"/>
          </a:xfrm>
        </p:grpSpPr>
        <p:sp>
          <p:nvSpPr>
            <p:cNvPr id="8" name="object 8"/>
            <p:cNvSpPr/>
            <p:nvPr/>
          </p:nvSpPr>
          <p:spPr>
            <a:xfrm>
              <a:off x="502920" y="1837944"/>
              <a:ext cx="6766559" cy="3383279"/>
            </a:xfrm>
            <a:custGeom>
              <a:avLst/>
              <a:gdLst/>
              <a:ahLst/>
              <a:cxnLst/>
              <a:rect l="l" t="t" r="r" b="b"/>
              <a:pathLst>
                <a:path w="6766559" h="3383279">
                  <a:moveTo>
                    <a:pt x="6693408" y="0"/>
                  </a:moveTo>
                  <a:lnTo>
                    <a:pt x="73151" y="0"/>
                  </a:lnTo>
                  <a:lnTo>
                    <a:pt x="44678" y="5750"/>
                  </a:lnTo>
                  <a:lnTo>
                    <a:pt x="21426" y="21431"/>
                  </a:lnTo>
                  <a:lnTo>
                    <a:pt x="5748" y="44684"/>
                  </a:lnTo>
                  <a:lnTo>
                    <a:pt x="0" y="73151"/>
                  </a:lnTo>
                  <a:lnTo>
                    <a:pt x="0" y="3310128"/>
                  </a:lnTo>
                  <a:lnTo>
                    <a:pt x="5748" y="3338595"/>
                  </a:lnTo>
                  <a:lnTo>
                    <a:pt x="21426" y="3361848"/>
                  </a:lnTo>
                  <a:lnTo>
                    <a:pt x="44678" y="3377529"/>
                  </a:lnTo>
                  <a:lnTo>
                    <a:pt x="73151" y="3383279"/>
                  </a:lnTo>
                  <a:lnTo>
                    <a:pt x="6693408" y="3383279"/>
                  </a:lnTo>
                  <a:lnTo>
                    <a:pt x="6721875" y="3377529"/>
                  </a:lnTo>
                  <a:lnTo>
                    <a:pt x="6745128" y="3361848"/>
                  </a:lnTo>
                  <a:lnTo>
                    <a:pt x="6760809" y="3338595"/>
                  </a:lnTo>
                  <a:lnTo>
                    <a:pt x="6766559" y="3310128"/>
                  </a:lnTo>
                  <a:lnTo>
                    <a:pt x="6766559" y="73151"/>
                  </a:lnTo>
                  <a:lnTo>
                    <a:pt x="6760809" y="44684"/>
                  </a:lnTo>
                  <a:lnTo>
                    <a:pt x="6745128" y="21431"/>
                  </a:lnTo>
                  <a:lnTo>
                    <a:pt x="6721875" y="5750"/>
                  </a:lnTo>
                  <a:lnTo>
                    <a:pt x="6693408" y="0"/>
                  </a:lnTo>
                  <a:close/>
                </a:path>
              </a:pathLst>
            </a:custGeom>
            <a:solidFill>
              <a:srgbClr val="F3F8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502920" y="1837944"/>
              <a:ext cx="6766559" cy="3383279"/>
            </a:xfrm>
            <a:custGeom>
              <a:avLst/>
              <a:gdLst/>
              <a:ahLst/>
              <a:cxnLst/>
              <a:rect l="l" t="t" r="r" b="b"/>
              <a:pathLst>
                <a:path w="6766559" h="3383279">
                  <a:moveTo>
                    <a:pt x="0" y="73151"/>
                  </a:moveTo>
                  <a:lnTo>
                    <a:pt x="5748" y="44684"/>
                  </a:lnTo>
                  <a:lnTo>
                    <a:pt x="21426" y="21431"/>
                  </a:lnTo>
                  <a:lnTo>
                    <a:pt x="44678" y="5750"/>
                  </a:lnTo>
                  <a:lnTo>
                    <a:pt x="73151" y="0"/>
                  </a:lnTo>
                  <a:lnTo>
                    <a:pt x="6693408" y="0"/>
                  </a:lnTo>
                  <a:lnTo>
                    <a:pt x="6721875" y="5750"/>
                  </a:lnTo>
                  <a:lnTo>
                    <a:pt x="6745128" y="21431"/>
                  </a:lnTo>
                  <a:lnTo>
                    <a:pt x="6760809" y="44684"/>
                  </a:lnTo>
                  <a:lnTo>
                    <a:pt x="6766559" y="73151"/>
                  </a:lnTo>
                  <a:lnTo>
                    <a:pt x="6766559" y="3310128"/>
                  </a:lnTo>
                  <a:lnTo>
                    <a:pt x="6760809" y="3338595"/>
                  </a:lnTo>
                  <a:lnTo>
                    <a:pt x="6745128" y="3361848"/>
                  </a:lnTo>
                  <a:lnTo>
                    <a:pt x="6721875" y="3377529"/>
                  </a:lnTo>
                  <a:lnTo>
                    <a:pt x="6693408" y="3383279"/>
                  </a:lnTo>
                  <a:lnTo>
                    <a:pt x="73151" y="3383279"/>
                  </a:lnTo>
                  <a:lnTo>
                    <a:pt x="44678" y="3377529"/>
                  </a:lnTo>
                  <a:lnTo>
                    <a:pt x="21426" y="3361848"/>
                  </a:lnTo>
                  <a:lnTo>
                    <a:pt x="5748" y="3338595"/>
                  </a:lnTo>
                  <a:lnTo>
                    <a:pt x="0" y="3310128"/>
                  </a:lnTo>
                  <a:lnTo>
                    <a:pt x="0" y="73151"/>
                  </a:lnTo>
                  <a:close/>
                </a:path>
              </a:pathLst>
            </a:custGeom>
            <a:ln w="9144">
              <a:solidFill>
                <a:srgbClr val="BED7C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718819" y="1913112"/>
            <a:ext cx="6334125" cy="1764030"/>
          </a:xfrm>
          <a:prstGeom prst="rect">
            <a:avLst/>
          </a:prstGeom>
        </p:spPr>
        <p:txBody>
          <a:bodyPr vert="horz" wrap="square" lIns="0" tIns="89535" rIns="0" bIns="0" rtlCol="0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150" b="1">
                <a:solidFill>
                  <a:srgbClr val="1A1A1A"/>
                </a:solidFill>
                <a:latin typeface="Calibri"/>
              </a:rPr>
              <a:t>Problem solved: </a:t>
            </a:r>
            <a:r>
              <a:rPr sz="1150" b="0">
                <a:solidFill>
                  <a:srgbClr val="1A1A1A"/>
                </a:solidFill>
                <a:latin typeface="Calibri"/>
              </a:rPr>
              <a:t>delays (Problem 1) and fake certificates (Problem 2).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150" b="1">
                <a:solidFill>
                  <a:srgbClr val="1A1A1A"/>
                </a:solidFill>
                <a:latin typeface="Calibri"/>
              </a:rPr>
              <a:t>Direct connection: </a:t>
            </a:r>
            <a:r>
              <a:rPr sz="1150" b="0">
                <a:solidFill>
                  <a:srgbClr val="1A1A1A"/>
                </a:solidFill>
                <a:latin typeface="Calibri"/>
              </a:rPr>
              <a:t>fetches verified e-Aadhaar and PAN from UIDAI and Income Tax department.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150" b="1">
                <a:solidFill>
                  <a:srgbClr val="1A1A1A"/>
                </a:solidFill>
                <a:latin typeface="Calibri"/>
              </a:rPr>
              <a:t>Mathematical check: </a:t>
            </a:r>
            <a:r>
              <a:rPr sz="1150" b="0">
                <a:solidFill>
                  <a:srgbClr val="1A1A1A"/>
                </a:solidFill>
                <a:latin typeface="Calibri"/>
              </a:rPr>
              <a:t>verifies 12-digit Aadhaar checksum using Verhoeff algorithm.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150" b="1">
                <a:solidFill>
                  <a:srgbClr val="1A1A1A"/>
                </a:solidFill>
                <a:latin typeface="Calibri"/>
              </a:rPr>
              <a:t>Impact: </a:t>
            </a:r>
            <a:r>
              <a:rPr sz="1150" b="0">
                <a:solidFill>
                  <a:srgbClr val="1A1A1A"/>
                </a:solidFill>
                <a:latin typeface="Calibri"/>
              </a:rPr>
              <a:t>eliminates 100% of fake certificate fraud and cuts verification time to seconds.</a:t>
            </a:r>
          </a:p>
        </p:txBody>
      </p:sp>
      <p:grpSp>
        <p:nvGrpSpPr>
          <p:cNvPr id="13" name="object 13"/>
          <p:cNvGrpSpPr/>
          <p:nvPr/>
        </p:nvGrpSpPr>
        <p:grpSpPr>
          <a:xfrm>
            <a:off x="7493507" y="1833372"/>
            <a:ext cx="4197350" cy="1381125"/>
            <a:chOff x="7493507" y="1833372"/>
            <a:chExt cx="4197350" cy="1381125"/>
          </a:xfrm>
        </p:grpSpPr>
        <p:sp>
          <p:nvSpPr>
            <p:cNvPr id="14" name="object 14"/>
            <p:cNvSpPr/>
            <p:nvPr/>
          </p:nvSpPr>
          <p:spPr>
            <a:xfrm>
              <a:off x="7498079" y="1837944"/>
              <a:ext cx="4188460" cy="1371600"/>
            </a:xfrm>
            <a:custGeom>
              <a:avLst/>
              <a:gdLst/>
              <a:ahLst/>
              <a:cxnLst/>
              <a:rect l="l" t="t" r="r" b="b"/>
              <a:pathLst>
                <a:path w="4188459" h="1371600">
                  <a:moveTo>
                    <a:pt x="4114800" y="0"/>
                  </a:moveTo>
                  <a:lnTo>
                    <a:pt x="73151" y="0"/>
                  </a:lnTo>
                  <a:lnTo>
                    <a:pt x="44684" y="5750"/>
                  </a:lnTo>
                  <a:lnTo>
                    <a:pt x="21431" y="21431"/>
                  </a:lnTo>
                  <a:lnTo>
                    <a:pt x="5750" y="44684"/>
                  </a:lnTo>
                  <a:lnTo>
                    <a:pt x="0" y="73151"/>
                  </a:lnTo>
                  <a:lnTo>
                    <a:pt x="0" y="1298447"/>
                  </a:lnTo>
                  <a:lnTo>
                    <a:pt x="5750" y="1326915"/>
                  </a:lnTo>
                  <a:lnTo>
                    <a:pt x="21431" y="1350168"/>
                  </a:lnTo>
                  <a:lnTo>
                    <a:pt x="44684" y="1365849"/>
                  </a:lnTo>
                  <a:lnTo>
                    <a:pt x="73151" y="1371600"/>
                  </a:lnTo>
                  <a:lnTo>
                    <a:pt x="4114800" y="1371600"/>
                  </a:lnTo>
                  <a:lnTo>
                    <a:pt x="4143267" y="1365849"/>
                  </a:lnTo>
                  <a:lnTo>
                    <a:pt x="4166520" y="1350168"/>
                  </a:lnTo>
                  <a:lnTo>
                    <a:pt x="4182201" y="1326915"/>
                  </a:lnTo>
                  <a:lnTo>
                    <a:pt x="4187952" y="1298447"/>
                  </a:lnTo>
                  <a:lnTo>
                    <a:pt x="4187952" y="73151"/>
                  </a:lnTo>
                  <a:lnTo>
                    <a:pt x="4182201" y="44684"/>
                  </a:lnTo>
                  <a:lnTo>
                    <a:pt x="4166520" y="21431"/>
                  </a:lnTo>
                  <a:lnTo>
                    <a:pt x="4143267" y="5750"/>
                  </a:lnTo>
                  <a:lnTo>
                    <a:pt x="4114800" y="0"/>
                  </a:lnTo>
                  <a:close/>
                </a:path>
              </a:pathLst>
            </a:custGeom>
            <a:solidFill>
              <a:srgbClr val="F3F8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7498079" y="1837944"/>
              <a:ext cx="4188460" cy="1371600"/>
            </a:xfrm>
            <a:custGeom>
              <a:avLst/>
              <a:gdLst/>
              <a:ahLst/>
              <a:cxnLst/>
              <a:rect l="l" t="t" r="r" b="b"/>
              <a:pathLst>
                <a:path w="4188459" h="1371600">
                  <a:moveTo>
                    <a:pt x="0" y="73151"/>
                  </a:moveTo>
                  <a:lnTo>
                    <a:pt x="5750" y="44684"/>
                  </a:lnTo>
                  <a:lnTo>
                    <a:pt x="21431" y="21431"/>
                  </a:lnTo>
                  <a:lnTo>
                    <a:pt x="44684" y="5750"/>
                  </a:lnTo>
                  <a:lnTo>
                    <a:pt x="73151" y="0"/>
                  </a:lnTo>
                  <a:lnTo>
                    <a:pt x="4114800" y="0"/>
                  </a:lnTo>
                  <a:lnTo>
                    <a:pt x="4143267" y="5750"/>
                  </a:lnTo>
                  <a:lnTo>
                    <a:pt x="4166520" y="21431"/>
                  </a:lnTo>
                  <a:lnTo>
                    <a:pt x="4182201" y="44684"/>
                  </a:lnTo>
                  <a:lnTo>
                    <a:pt x="4187952" y="73151"/>
                  </a:lnTo>
                  <a:lnTo>
                    <a:pt x="4187952" y="1298447"/>
                  </a:lnTo>
                  <a:lnTo>
                    <a:pt x="4182201" y="1326915"/>
                  </a:lnTo>
                  <a:lnTo>
                    <a:pt x="4166520" y="1350168"/>
                  </a:lnTo>
                  <a:lnTo>
                    <a:pt x="4143267" y="1365849"/>
                  </a:lnTo>
                  <a:lnTo>
                    <a:pt x="4114800" y="1371600"/>
                  </a:lnTo>
                  <a:lnTo>
                    <a:pt x="73151" y="1371600"/>
                  </a:lnTo>
                  <a:lnTo>
                    <a:pt x="44684" y="1365849"/>
                  </a:lnTo>
                  <a:lnTo>
                    <a:pt x="21431" y="1350168"/>
                  </a:lnTo>
                  <a:lnTo>
                    <a:pt x="5750" y="1326915"/>
                  </a:lnTo>
                  <a:lnTo>
                    <a:pt x="0" y="1298447"/>
                  </a:lnTo>
                  <a:lnTo>
                    <a:pt x="0" y="73151"/>
                  </a:lnTo>
                  <a:close/>
                </a:path>
              </a:pathLst>
            </a:custGeom>
            <a:ln w="9144">
              <a:solidFill>
                <a:srgbClr val="BED7C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7714868" y="1989785"/>
            <a:ext cx="3701415" cy="2165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50" dirty="0">
                <a:solidFill>
                  <a:srgbClr val="1A1A1A"/>
                </a:solidFill>
                <a:latin typeface="Calibri"/>
                <a:cs typeface="Calibri"/>
              </a:rPr>
              <a:t>Accuracy 82.93%, AUC 0.729.</a:t>
            </a:r>
            <a:endParaRPr sz="1250">
              <a:latin typeface="Calibri"/>
              <a:cs typeface="Calibri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7491983" y="3377184"/>
            <a:ext cx="4200525" cy="341630"/>
          </a:xfrm>
          <a:prstGeom prst="rect">
            <a:avLst/>
          </a:prstGeom>
          <a:solidFill>
            <a:srgbClr val="1F4D39"/>
          </a:solidFill>
          <a:ln w="3175">
            <a:solidFill>
              <a:srgbClr val="1F4D39"/>
            </a:solidFill>
          </a:ln>
        </p:spPr>
        <p:txBody>
          <a:bodyPr vert="horz" wrap="square" lIns="0" tIns="86995" rIns="0" bIns="0" rtlCol="0">
            <a:spAutoFit/>
          </a:bodyPr>
          <a:lstStyle/>
          <a:p>
            <a:pPr marL="144145">
              <a:lnSpc>
                <a:spcPct val="100000"/>
              </a:lnSpc>
              <a:spcBef>
                <a:spcPts val="685"/>
              </a:spcBef>
            </a:pPr>
            <a:r>
              <a:rPr sz="1000" b="1" spc="60" dirty="0">
                <a:solidFill>
                  <a:srgbClr val="FFFFFF"/>
                </a:solidFill>
                <a:latin typeface="Calibri"/>
                <a:cs typeface="Calibri"/>
              </a:rPr>
              <a:t>WITH DERIVED RATIOS (FULL EBM)</a:t>
            </a:r>
            <a:endParaRPr sz="1000">
              <a:latin typeface="Calibri"/>
              <a:cs typeface="Calibri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7493507" y="3707891"/>
            <a:ext cx="4197350" cy="1518285"/>
            <a:chOff x="7493507" y="3707891"/>
            <a:chExt cx="4197350" cy="1518285"/>
          </a:xfrm>
        </p:grpSpPr>
        <p:sp>
          <p:nvSpPr>
            <p:cNvPr id="19" name="object 19"/>
            <p:cNvSpPr/>
            <p:nvPr/>
          </p:nvSpPr>
          <p:spPr>
            <a:xfrm>
              <a:off x="7498079" y="3712463"/>
              <a:ext cx="4188460" cy="1508760"/>
            </a:xfrm>
            <a:custGeom>
              <a:avLst/>
              <a:gdLst/>
              <a:ahLst/>
              <a:cxnLst/>
              <a:rect l="l" t="t" r="r" b="b"/>
              <a:pathLst>
                <a:path w="4188459" h="1508760">
                  <a:moveTo>
                    <a:pt x="4114800" y="0"/>
                  </a:moveTo>
                  <a:lnTo>
                    <a:pt x="73151" y="0"/>
                  </a:lnTo>
                  <a:lnTo>
                    <a:pt x="44684" y="5750"/>
                  </a:lnTo>
                  <a:lnTo>
                    <a:pt x="21431" y="21431"/>
                  </a:lnTo>
                  <a:lnTo>
                    <a:pt x="5750" y="44684"/>
                  </a:lnTo>
                  <a:lnTo>
                    <a:pt x="0" y="73152"/>
                  </a:lnTo>
                  <a:lnTo>
                    <a:pt x="0" y="1435608"/>
                  </a:lnTo>
                  <a:lnTo>
                    <a:pt x="5750" y="1464075"/>
                  </a:lnTo>
                  <a:lnTo>
                    <a:pt x="21431" y="1487328"/>
                  </a:lnTo>
                  <a:lnTo>
                    <a:pt x="44684" y="1503009"/>
                  </a:lnTo>
                  <a:lnTo>
                    <a:pt x="73151" y="1508760"/>
                  </a:lnTo>
                  <a:lnTo>
                    <a:pt x="4114800" y="1508760"/>
                  </a:lnTo>
                  <a:lnTo>
                    <a:pt x="4143267" y="1503009"/>
                  </a:lnTo>
                  <a:lnTo>
                    <a:pt x="4166520" y="1487328"/>
                  </a:lnTo>
                  <a:lnTo>
                    <a:pt x="4182201" y="1464075"/>
                  </a:lnTo>
                  <a:lnTo>
                    <a:pt x="4187952" y="1435608"/>
                  </a:lnTo>
                  <a:lnTo>
                    <a:pt x="4187952" y="73152"/>
                  </a:lnTo>
                  <a:lnTo>
                    <a:pt x="4182201" y="44684"/>
                  </a:lnTo>
                  <a:lnTo>
                    <a:pt x="4166520" y="21431"/>
                  </a:lnTo>
                  <a:lnTo>
                    <a:pt x="4143267" y="5750"/>
                  </a:lnTo>
                  <a:lnTo>
                    <a:pt x="4114800" y="0"/>
                  </a:lnTo>
                  <a:close/>
                </a:path>
              </a:pathLst>
            </a:custGeom>
            <a:solidFill>
              <a:srgbClr val="F3F8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7498079" y="3712463"/>
              <a:ext cx="4188460" cy="1508760"/>
            </a:xfrm>
            <a:custGeom>
              <a:avLst/>
              <a:gdLst/>
              <a:ahLst/>
              <a:cxnLst/>
              <a:rect l="l" t="t" r="r" b="b"/>
              <a:pathLst>
                <a:path w="4188459" h="1508760">
                  <a:moveTo>
                    <a:pt x="0" y="73152"/>
                  </a:moveTo>
                  <a:lnTo>
                    <a:pt x="5750" y="44684"/>
                  </a:lnTo>
                  <a:lnTo>
                    <a:pt x="21431" y="21431"/>
                  </a:lnTo>
                  <a:lnTo>
                    <a:pt x="44684" y="5750"/>
                  </a:lnTo>
                  <a:lnTo>
                    <a:pt x="73151" y="0"/>
                  </a:lnTo>
                  <a:lnTo>
                    <a:pt x="4114800" y="0"/>
                  </a:lnTo>
                  <a:lnTo>
                    <a:pt x="4143267" y="5750"/>
                  </a:lnTo>
                  <a:lnTo>
                    <a:pt x="4166520" y="21431"/>
                  </a:lnTo>
                  <a:lnTo>
                    <a:pt x="4182201" y="44684"/>
                  </a:lnTo>
                  <a:lnTo>
                    <a:pt x="4187952" y="73152"/>
                  </a:lnTo>
                  <a:lnTo>
                    <a:pt x="4187952" y="1435608"/>
                  </a:lnTo>
                  <a:lnTo>
                    <a:pt x="4182201" y="1464075"/>
                  </a:lnTo>
                  <a:lnTo>
                    <a:pt x="4166520" y="1487328"/>
                  </a:lnTo>
                  <a:lnTo>
                    <a:pt x="4143267" y="1503009"/>
                  </a:lnTo>
                  <a:lnTo>
                    <a:pt x="4114800" y="1508760"/>
                  </a:lnTo>
                  <a:lnTo>
                    <a:pt x="73151" y="1508760"/>
                  </a:lnTo>
                  <a:lnTo>
                    <a:pt x="44684" y="1503009"/>
                  </a:lnTo>
                  <a:lnTo>
                    <a:pt x="21431" y="1487328"/>
                  </a:lnTo>
                  <a:lnTo>
                    <a:pt x="5750" y="1464075"/>
                  </a:lnTo>
                  <a:lnTo>
                    <a:pt x="0" y="1435608"/>
                  </a:lnTo>
                  <a:lnTo>
                    <a:pt x="0" y="73152"/>
                  </a:lnTo>
                  <a:close/>
                </a:path>
              </a:pathLst>
            </a:custGeom>
            <a:ln w="9144">
              <a:solidFill>
                <a:srgbClr val="BED7C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1" name="object 21"/>
          <p:cNvSpPr txBox="1"/>
          <p:nvPr/>
        </p:nvSpPr>
        <p:spPr>
          <a:xfrm>
            <a:off x="7714868" y="3865245"/>
            <a:ext cx="3685540" cy="4064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150" b="1">
                <a:solidFill>
                  <a:srgbClr val="1A1A1A"/>
                </a:solidFill>
                <a:latin typeface="Calibri"/>
              </a:rPr>
              <a:t>Problem solved: </a:t>
            </a:r>
            <a:r>
              <a:rPr sz="1150" b="0">
                <a:solidFill>
                  <a:srgbClr val="1A1A1A"/>
                </a:solidFill>
                <a:latin typeface="Calibri"/>
              </a:rPr>
              <a:t>identity theft via stolen OTPs (Problem 3).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150" b="1">
                <a:solidFill>
                  <a:srgbClr val="1A1A1A"/>
                </a:solidFill>
                <a:latin typeface="Calibri"/>
              </a:rPr>
              <a:t>Live presence check: </a:t>
            </a:r>
            <a:r>
              <a:rPr sz="1150" b="0">
                <a:solidFill>
                  <a:srgbClr val="1A1A1A"/>
                </a:solidFill>
                <a:latin typeface="Calibri"/>
              </a:rPr>
              <a:t>scammers steal OTPs, but cannot steal the applicant's physical face.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150" b="1">
                <a:solidFill>
                  <a:srgbClr val="1A1A1A"/>
                </a:solidFill>
                <a:latin typeface="Calibri"/>
              </a:rPr>
              <a:t>3-Way Matching: </a:t>
            </a:r>
            <a:r>
              <a:rPr sz="1150" b="0">
                <a:solidFill>
                  <a:srgbClr val="1A1A1A"/>
                </a:solidFill>
                <a:latin typeface="Calibri"/>
              </a:rPr>
              <a:t>Live Webcam Face ↔ Aadhaar Photo ↔ PAN Photo.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150" b="1">
                <a:solidFill>
                  <a:srgbClr val="1A1A1A"/>
                </a:solidFill>
                <a:latin typeface="Calibri"/>
              </a:rPr>
              <a:t>Threshold: </a:t>
            </a:r>
            <a:r>
              <a:rPr sz="1150" b="0">
                <a:solidFill>
                  <a:srgbClr val="1A1A1A"/>
                </a:solidFill>
                <a:latin typeface="Calibri"/>
              </a:rPr>
              <a:t>requires ≥ 75.0% facial similarity across all three images.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150" b="1">
                <a:solidFill>
                  <a:srgbClr val="1A1A1A"/>
                </a:solidFill>
                <a:latin typeface="Calibri"/>
              </a:rPr>
              <a:t>Impact: </a:t>
            </a:r>
            <a:r>
              <a:rPr sz="1150" b="0">
                <a:solidFill>
                  <a:srgbClr val="1A1A1A"/>
                </a:solidFill>
                <a:latin typeface="Calibri"/>
              </a:rPr>
              <a:t>blocks any impostor even if they possess the valid OTP.</a:t>
            </a:r>
          </a:p>
        </p:txBody>
      </p:sp>
      <p:grpSp>
        <p:nvGrpSpPr>
          <p:cNvPr id="22" name="object 22"/>
          <p:cNvGrpSpPr/>
          <p:nvPr/>
        </p:nvGrpSpPr>
        <p:grpSpPr>
          <a:xfrm>
            <a:off x="496823" y="5434584"/>
            <a:ext cx="11195685" cy="515620"/>
            <a:chOff x="496823" y="5434584"/>
            <a:chExt cx="11195685" cy="515620"/>
          </a:xfrm>
        </p:grpSpPr>
        <p:sp>
          <p:nvSpPr>
            <p:cNvPr id="23" name="object 23"/>
            <p:cNvSpPr/>
            <p:nvPr/>
          </p:nvSpPr>
          <p:spPr>
            <a:xfrm>
              <a:off x="502919" y="5440680"/>
              <a:ext cx="11183620" cy="502920"/>
            </a:xfrm>
            <a:custGeom>
              <a:avLst/>
              <a:gdLst/>
              <a:ahLst/>
              <a:cxnLst/>
              <a:rect l="l" t="t" r="r" b="b"/>
              <a:pathLst>
                <a:path w="11183620" h="502920">
                  <a:moveTo>
                    <a:pt x="11128248" y="0"/>
                  </a:moveTo>
                  <a:lnTo>
                    <a:pt x="54864" y="0"/>
                  </a:lnTo>
                  <a:lnTo>
                    <a:pt x="33507" y="4304"/>
                  </a:lnTo>
                  <a:lnTo>
                    <a:pt x="16068" y="16049"/>
                  </a:lnTo>
                  <a:lnTo>
                    <a:pt x="4311" y="33486"/>
                  </a:lnTo>
                  <a:lnTo>
                    <a:pt x="0" y="54864"/>
                  </a:lnTo>
                  <a:lnTo>
                    <a:pt x="0" y="448056"/>
                  </a:lnTo>
                  <a:lnTo>
                    <a:pt x="4311" y="469412"/>
                  </a:lnTo>
                  <a:lnTo>
                    <a:pt x="16068" y="486851"/>
                  </a:lnTo>
                  <a:lnTo>
                    <a:pt x="33507" y="498608"/>
                  </a:lnTo>
                  <a:lnTo>
                    <a:pt x="54864" y="502920"/>
                  </a:lnTo>
                  <a:lnTo>
                    <a:pt x="11128248" y="502920"/>
                  </a:lnTo>
                  <a:lnTo>
                    <a:pt x="11149625" y="498608"/>
                  </a:lnTo>
                  <a:lnTo>
                    <a:pt x="11167062" y="486851"/>
                  </a:lnTo>
                  <a:lnTo>
                    <a:pt x="11178807" y="469412"/>
                  </a:lnTo>
                  <a:lnTo>
                    <a:pt x="11183112" y="448056"/>
                  </a:lnTo>
                  <a:lnTo>
                    <a:pt x="11183112" y="54864"/>
                  </a:lnTo>
                  <a:lnTo>
                    <a:pt x="11178807" y="33486"/>
                  </a:lnTo>
                  <a:lnTo>
                    <a:pt x="11167062" y="16049"/>
                  </a:lnTo>
                  <a:lnTo>
                    <a:pt x="11149625" y="4304"/>
                  </a:lnTo>
                  <a:lnTo>
                    <a:pt x="11128248" y="0"/>
                  </a:lnTo>
                  <a:close/>
                </a:path>
              </a:pathLst>
            </a:custGeom>
            <a:solidFill>
              <a:srgbClr val="FFF7D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502919" y="5440680"/>
              <a:ext cx="11183620" cy="502920"/>
            </a:xfrm>
            <a:custGeom>
              <a:avLst/>
              <a:gdLst/>
              <a:ahLst/>
              <a:cxnLst/>
              <a:rect l="l" t="t" r="r" b="b"/>
              <a:pathLst>
                <a:path w="11183620" h="502920">
                  <a:moveTo>
                    <a:pt x="0" y="54864"/>
                  </a:moveTo>
                  <a:lnTo>
                    <a:pt x="4311" y="33486"/>
                  </a:lnTo>
                  <a:lnTo>
                    <a:pt x="16068" y="16049"/>
                  </a:lnTo>
                  <a:lnTo>
                    <a:pt x="33507" y="4304"/>
                  </a:lnTo>
                  <a:lnTo>
                    <a:pt x="54864" y="0"/>
                  </a:lnTo>
                  <a:lnTo>
                    <a:pt x="11128248" y="0"/>
                  </a:lnTo>
                  <a:lnTo>
                    <a:pt x="11149625" y="4304"/>
                  </a:lnTo>
                  <a:lnTo>
                    <a:pt x="11167062" y="16049"/>
                  </a:lnTo>
                  <a:lnTo>
                    <a:pt x="11178807" y="33486"/>
                  </a:lnTo>
                  <a:lnTo>
                    <a:pt x="11183112" y="54864"/>
                  </a:lnTo>
                  <a:lnTo>
                    <a:pt x="11183112" y="448056"/>
                  </a:lnTo>
                  <a:lnTo>
                    <a:pt x="11178807" y="469412"/>
                  </a:lnTo>
                  <a:lnTo>
                    <a:pt x="11167062" y="486851"/>
                  </a:lnTo>
                  <a:lnTo>
                    <a:pt x="11149625" y="498608"/>
                  </a:lnTo>
                  <a:lnTo>
                    <a:pt x="11128248" y="502920"/>
                  </a:lnTo>
                  <a:lnTo>
                    <a:pt x="54864" y="502920"/>
                  </a:lnTo>
                  <a:lnTo>
                    <a:pt x="33507" y="498608"/>
                  </a:lnTo>
                  <a:lnTo>
                    <a:pt x="16068" y="486851"/>
                  </a:lnTo>
                  <a:lnTo>
                    <a:pt x="4311" y="469412"/>
                  </a:lnTo>
                  <a:lnTo>
                    <a:pt x="0" y="448056"/>
                  </a:lnTo>
                  <a:lnTo>
                    <a:pt x="0" y="54864"/>
                  </a:lnTo>
                  <a:close/>
                </a:path>
              </a:pathLst>
            </a:custGeom>
            <a:ln w="12191">
              <a:solidFill>
                <a:srgbClr val="C8A83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5" name="object 25"/>
          <p:cNvSpPr txBox="1"/>
          <p:nvPr/>
        </p:nvSpPr>
        <p:spPr>
          <a:xfrm>
            <a:off x="502919" y="5440679"/>
            <a:ext cx="11183620" cy="502920"/>
          </a:xfrm>
          <a:prstGeom prst="rect">
            <a:avLst/>
          </a:prstGeom>
        </p:spPr>
        <p:txBody>
          <a:bodyPr vert="horz" wrap="square" lIns="0" tIns="155575" rIns="0" bIns="0" rtlCol="0">
            <a:spAutoFit/>
          </a:bodyPr>
          <a:lstStyle/>
          <a:p>
            <a:r>
              <a:rPr b="1" sz="1050"/>
              <a:t>Security guarantee: </a:t>
            </a:r>
            <a:r>
              <a:rPr sz="1050"/>
              <a:t>identity is confirmed by both government databases AND live physical biometric presence.</a:t>
            </a:r>
          </a:p>
        </p:txBody>
      </p:sp>
      <p:sp>
        <p:nvSpPr>
          <p:cNvPr id="27" name="object 27"/>
          <p:cNvSpPr txBox="1">
            <a:spLocks noGrp="1"/>
          </p:cNvSpPr>
          <p:nvPr>
            <p:ph type="dt" sz="half" idx="6"/>
          </p:nvPr>
        </p:nvSpPr>
        <p:spPr>
          <a:xfrm>
            <a:off x="490219" y="6531584"/>
            <a:ext cx="610235" cy="11541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910"/>
              </a:lnSpc>
            </a:pPr>
            <a:r>
              <a:rPr spc="-10" dirty="0"/>
              <a:t>[3</a:t>
            </a:r>
            <a:r>
              <a:rPr lang="en-US" spc="-10" dirty="0"/>
              <a:t>1</a:t>
            </a:r>
            <a:r>
              <a:rPr spc="-10" dirty="0"/>
              <a:t>/10/2026]</a:t>
            </a:r>
          </a:p>
        </p:txBody>
      </p:sp>
      <p:sp>
        <p:nvSpPr>
          <p:cNvPr id="28" name="object 2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910"/>
              </a:lnSpc>
            </a:pPr>
            <a:r>
              <a:rPr spc="-10" dirty="0"/>
              <a:t>Smart Digital Lending System with AI-Based Risk Analysis</a:t>
            </a:r>
          </a:p>
        </p:txBody>
      </p:sp>
      <p:sp>
        <p:nvSpPr>
          <p:cNvPr id="26" name="object 2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955"/>
              </a:lnSpc>
            </a:pPr>
            <a:fld id="{81D60167-4931-47E6-BA6A-407CBD079E47}" type="slidenum">
              <a:rPr spc="-25" dirty="0"/>
              <a:t>8</a:t>
            </a:fld>
            <a:endParaRPr spc="-25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490219" y="435610"/>
            <a:ext cx="9703613" cy="44307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defRPr sz="2200" b="1">
                <a:solidFill>
                  <a:srgbClr val="1F4D39"/>
                </a:solidFill>
                <a:latin typeface="Calibri"/>
              </a:defRPr>
            </a:pPr>
            <a:r>
              <a:t>MODEL 3 &amp; 4: OCR EXTRACTION &amp; EXPLAINABLE EBM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90219" y="965962"/>
            <a:ext cx="4850213" cy="18274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defRPr sz="1100" b="0">
                <a:solidFill>
                  <a:srgbClr val="6B6B6B"/>
                </a:solidFill>
                <a:latin typeface="Calibri"/>
              </a:defRPr>
            </a:pPr>
            <a:r>
              <a:t>Cross-checking details and explaining loan decisions plainly</a:t>
            </a:r>
          </a:p>
        </p:txBody>
      </p:sp>
      <p:sp>
        <p:nvSpPr>
          <p:cNvPr id="4" name="object 4"/>
          <p:cNvSpPr/>
          <p:nvPr/>
        </p:nvSpPr>
        <p:spPr>
          <a:xfrm>
            <a:off x="502919" y="1298447"/>
            <a:ext cx="11183620" cy="0"/>
          </a:xfrm>
          <a:custGeom>
            <a:avLst/>
            <a:gdLst/>
            <a:ahLst/>
            <a:cxnLst/>
            <a:rect l="l" t="t" r="r" b="b"/>
            <a:pathLst>
              <a:path w="11183620">
                <a:moveTo>
                  <a:pt x="0" y="0"/>
                </a:moveTo>
                <a:lnTo>
                  <a:pt x="11183112" y="0"/>
                </a:lnTo>
              </a:path>
            </a:pathLst>
          </a:custGeom>
          <a:ln w="12192">
            <a:solidFill>
              <a:srgbClr val="C8A83E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502919" y="1508760"/>
            <a:ext cx="5486400" cy="329565"/>
          </a:xfrm>
          <a:custGeom>
            <a:avLst/>
            <a:gdLst/>
            <a:ahLst/>
            <a:cxnLst/>
            <a:rect l="l" t="t" r="r" b="b"/>
            <a:pathLst>
              <a:path w="5486400" h="329564">
                <a:moveTo>
                  <a:pt x="0" y="329184"/>
                </a:moveTo>
                <a:lnTo>
                  <a:pt x="5486400" y="329184"/>
                </a:lnTo>
                <a:lnTo>
                  <a:pt x="5486400" y="0"/>
                </a:lnTo>
                <a:lnTo>
                  <a:pt x="0" y="0"/>
                </a:lnTo>
                <a:lnTo>
                  <a:pt x="0" y="329184"/>
                </a:lnTo>
                <a:close/>
              </a:path>
            </a:pathLst>
          </a:custGeom>
          <a:ln w="12192">
            <a:solidFill>
              <a:srgbClr val="1F4D3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496823" y="1502663"/>
            <a:ext cx="5499100" cy="341630"/>
          </a:xfrm>
          <a:prstGeom prst="rect">
            <a:avLst/>
          </a:prstGeom>
          <a:solidFill>
            <a:srgbClr val="1F4D39"/>
          </a:solidFill>
        </p:spPr>
        <p:txBody>
          <a:bodyPr vert="horz" wrap="square" lIns="0" tIns="86360" rIns="0" bIns="0" rtlCol="0">
            <a:spAutoFit/>
          </a:bodyPr>
          <a:lstStyle/>
          <a:p>
            <a:pPr>
              <a:defRPr sz="1000" b="1">
                <a:solidFill>
                  <a:srgbClr val="FFFFFF"/>
                </a:solidFill>
                <a:latin typeface="Calibri"/>
              </a:defRPr>
            </a:pPr>
            <a:r>
              <a:t>MODEL 3: OCR CROSS-CHECK</a:t>
            </a:r>
          </a:p>
        </p:txBody>
      </p:sp>
      <p:sp>
        <p:nvSpPr>
          <p:cNvPr id="12" name="object 12"/>
          <p:cNvSpPr/>
          <p:nvPr/>
        </p:nvSpPr>
        <p:spPr>
          <a:xfrm>
            <a:off x="6199632" y="1508760"/>
            <a:ext cx="5486400" cy="329565"/>
          </a:xfrm>
          <a:custGeom>
            <a:avLst/>
            <a:gdLst/>
            <a:ahLst/>
            <a:cxnLst/>
            <a:rect l="l" t="t" r="r" b="b"/>
            <a:pathLst>
              <a:path w="5486400" h="329564">
                <a:moveTo>
                  <a:pt x="0" y="329184"/>
                </a:moveTo>
                <a:lnTo>
                  <a:pt x="5486400" y="329184"/>
                </a:lnTo>
                <a:lnTo>
                  <a:pt x="5486400" y="0"/>
                </a:lnTo>
                <a:lnTo>
                  <a:pt x="0" y="0"/>
                </a:lnTo>
                <a:lnTo>
                  <a:pt x="0" y="329184"/>
                </a:lnTo>
                <a:close/>
              </a:path>
            </a:pathLst>
          </a:custGeom>
          <a:ln w="12192">
            <a:solidFill>
              <a:srgbClr val="1F4D3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 txBox="1"/>
          <p:nvPr/>
        </p:nvSpPr>
        <p:spPr>
          <a:xfrm>
            <a:off x="6193535" y="1502663"/>
            <a:ext cx="5499100" cy="341630"/>
          </a:xfrm>
          <a:prstGeom prst="rect">
            <a:avLst/>
          </a:prstGeom>
          <a:solidFill>
            <a:srgbClr val="1F4D39"/>
          </a:solidFill>
        </p:spPr>
        <p:txBody>
          <a:bodyPr vert="horz" wrap="square" lIns="0" tIns="86360" rIns="0" bIns="0" rtlCol="0">
            <a:spAutoFit/>
          </a:bodyPr>
          <a:lstStyle/>
          <a:p>
            <a:pPr>
              <a:defRPr sz="1000" b="1">
                <a:solidFill>
                  <a:srgbClr val="FFFFFF"/>
                </a:solidFill>
                <a:latin typeface="Calibri"/>
              </a:defRPr>
            </a:pPr>
            <a:r>
              <a:t>MODEL 4: EXPLAINABLE EBM (GLASS-BOX)</a:t>
            </a:r>
          </a:p>
        </p:txBody>
      </p:sp>
      <p:grpSp>
        <p:nvGrpSpPr>
          <p:cNvPr id="7" name="object 7"/>
          <p:cNvGrpSpPr/>
          <p:nvPr/>
        </p:nvGrpSpPr>
        <p:grpSpPr>
          <a:xfrm>
            <a:off x="498348" y="1833372"/>
            <a:ext cx="5495925" cy="3758565"/>
            <a:chOff x="498348" y="1833372"/>
            <a:chExt cx="5495925" cy="3758565"/>
          </a:xfrm>
        </p:grpSpPr>
        <p:sp>
          <p:nvSpPr>
            <p:cNvPr id="8" name="object 8"/>
            <p:cNvSpPr/>
            <p:nvPr/>
          </p:nvSpPr>
          <p:spPr>
            <a:xfrm>
              <a:off x="502920" y="1837944"/>
              <a:ext cx="5486400" cy="3749040"/>
            </a:xfrm>
            <a:custGeom>
              <a:avLst/>
              <a:gdLst/>
              <a:ahLst/>
              <a:cxnLst/>
              <a:rect l="l" t="t" r="r" b="b"/>
              <a:pathLst>
                <a:path w="5486400" h="3749040">
                  <a:moveTo>
                    <a:pt x="5413247" y="0"/>
                  </a:moveTo>
                  <a:lnTo>
                    <a:pt x="73151" y="0"/>
                  </a:lnTo>
                  <a:lnTo>
                    <a:pt x="44678" y="5750"/>
                  </a:lnTo>
                  <a:lnTo>
                    <a:pt x="21426" y="21431"/>
                  </a:lnTo>
                  <a:lnTo>
                    <a:pt x="5748" y="44684"/>
                  </a:lnTo>
                  <a:lnTo>
                    <a:pt x="0" y="73151"/>
                  </a:lnTo>
                  <a:lnTo>
                    <a:pt x="0" y="3675887"/>
                  </a:lnTo>
                  <a:lnTo>
                    <a:pt x="5748" y="3704355"/>
                  </a:lnTo>
                  <a:lnTo>
                    <a:pt x="21426" y="3727608"/>
                  </a:lnTo>
                  <a:lnTo>
                    <a:pt x="44678" y="3743289"/>
                  </a:lnTo>
                  <a:lnTo>
                    <a:pt x="73151" y="3749040"/>
                  </a:lnTo>
                  <a:lnTo>
                    <a:pt x="5413247" y="3749040"/>
                  </a:lnTo>
                  <a:lnTo>
                    <a:pt x="5441715" y="3743289"/>
                  </a:lnTo>
                  <a:lnTo>
                    <a:pt x="5464968" y="3727608"/>
                  </a:lnTo>
                  <a:lnTo>
                    <a:pt x="5480649" y="3704355"/>
                  </a:lnTo>
                  <a:lnTo>
                    <a:pt x="5486400" y="3675887"/>
                  </a:lnTo>
                  <a:lnTo>
                    <a:pt x="5486400" y="73151"/>
                  </a:lnTo>
                  <a:lnTo>
                    <a:pt x="5480649" y="44684"/>
                  </a:lnTo>
                  <a:lnTo>
                    <a:pt x="5464968" y="21431"/>
                  </a:lnTo>
                  <a:lnTo>
                    <a:pt x="5441715" y="5750"/>
                  </a:lnTo>
                  <a:lnTo>
                    <a:pt x="5413247" y="0"/>
                  </a:lnTo>
                  <a:close/>
                </a:path>
              </a:pathLst>
            </a:custGeom>
            <a:solidFill>
              <a:srgbClr val="F3F8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502920" y="1837944"/>
              <a:ext cx="5486400" cy="3749040"/>
            </a:xfrm>
            <a:custGeom>
              <a:avLst/>
              <a:gdLst/>
              <a:ahLst/>
              <a:cxnLst/>
              <a:rect l="l" t="t" r="r" b="b"/>
              <a:pathLst>
                <a:path w="5486400" h="3749040">
                  <a:moveTo>
                    <a:pt x="0" y="73151"/>
                  </a:moveTo>
                  <a:lnTo>
                    <a:pt x="5748" y="44684"/>
                  </a:lnTo>
                  <a:lnTo>
                    <a:pt x="21426" y="21431"/>
                  </a:lnTo>
                  <a:lnTo>
                    <a:pt x="44678" y="5750"/>
                  </a:lnTo>
                  <a:lnTo>
                    <a:pt x="73151" y="0"/>
                  </a:lnTo>
                  <a:lnTo>
                    <a:pt x="5413247" y="0"/>
                  </a:lnTo>
                  <a:lnTo>
                    <a:pt x="5441715" y="5750"/>
                  </a:lnTo>
                  <a:lnTo>
                    <a:pt x="5464968" y="21431"/>
                  </a:lnTo>
                  <a:lnTo>
                    <a:pt x="5480649" y="44684"/>
                  </a:lnTo>
                  <a:lnTo>
                    <a:pt x="5486400" y="73151"/>
                  </a:lnTo>
                  <a:lnTo>
                    <a:pt x="5486400" y="3675887"/>
                  </a:lnTo>
                  <a:lnTo>
                    <a:pt x="5480649" y="3704355"/>
                  </a:lnTo>
                  <a:lnTo>
                    <a:pt x="5464968" y="3727608"/>
                  </a:lnTo>
                  <a:lnTo>
                    <a:pt x="5441715" y="3743289"/>
                  </a:lnTo>
                  <a:lnTo>
                    <a:pt x="5413247" y="3749040"/>
                  </a:lnTo>
                  <a:lnTo>
                    <a:pt x="73151" y="3749040"/>
                  </a:lnTo>
                  <a:lnTo>
                    <a:pt x="44678" y="3743289"/>
                  </a:lnTo>
                  <a:lnTo>
                    <a:pt x="21426" y="3727608"/>
                  </a:lnTo>
                  <a:lnTo>
                    <a:pt x="5748" y="3704355"/>
                  </a:lnTo>
                  <a:lnTo>
                    <a:pt x="0" y="3675887"/>
                  </a:lnTo>
                  <a:lnTo>
                    <a:pt x="0" y="73151"/>
                  </a:lnTo>
                  <a:close/>
                </a:path>
              </a:pathLst>
            </a:custGeom>
            <a:ln w="9144">
              <a:solidFill>
                <a:srgbClr val="BED7C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718819" y="1983689"/>
            <a:ext cx="2176780" cy="3314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200" b="1" dirty="0">
                <a:solidFill>
                  <a:srgbClr val="1F4D39"/>
                </a:solidFill>
                <a:latin typeface="Cambria"/>
                <a:cs typeface="Cambria"/>
              </a:rPr>
              <a:t>EMI = P·r·(1+r)ⁿ / ((1+r)ⁿ − 1)</a:t>
            </a:r>
            <a:endParaRPr sz="2000">
              <a:latin typeface="Cambria"/>
              <a:cs typeface="Cambria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718819" y="2600071"/>
            <a:ext cx="4935855" cy="1245235"/>
          </a:xfrm>
          <a:prstGeom prst="rect">
            <a:avLst/>
          </a:prstGeom>
        </p:spPr>
        <p:txBody>
          <a:bodyPr vert="horz" wrap="square" lIns="0" tIns="88900" rIns="0" bIns="0" rtlCol="0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150" b="1">
                <a:solidFill>
                  <a:srgbClr val="1A1A1A"/>
                </a:solidFill>
                <a:latin typeface="Calibri"/>
              </a:rPr>
              <a:t>Problem solved: </a:t>
            </a:r>
            <a:r>
              <a:rPr sz="1150" b="0">
                <a:solidFill>
                  <a:srgbClr val="1A1A1A"/>
                </a:solidFill>
                <a:latin typeface="Calibri"/>
              </a:rPr>
              <a:t>mismatched, forged, or mixed identities.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150" b="1">
                <a:solidFill>
                  <a:srgbClr val="1A1A1A"/>
                </a:solidFill>
                <a:latin typeface="Calibri"/>
              </a:rPr>
              <a:t>Text extraction: </a:t>
            </a:r>
            <a:r>
              <a:rPr sz="1150" b="0">
                <a:solidFill>
                  <a:srgbClr val="1A1A1A"/>
                </a:solidFill>
                <a:latin typeface="Calibri"/>
              </a:rPr>
              <a:t>OCR scans names, DOB, and ID numbers from documents.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150" b="1">
                <a:solidFill>
                  <a:srgbClr val="1A1A1A"/>
                </a:solidFill>
                <a:latin typeface="Calibri"/>
              </a:rPr>
              <a:t>Fuzzy matching: </a:t>
            </a:r>
            <a:r>
              <a:rPr sz="1150" b="0">
                <a:solidFill>
                  <a:srgbClr val="1A1A1A"/>
                </a:solidFill>
                <a:latin typeface="Calibri"/>
              </a:rPr>
              <a:t>handles Indian name variations (e.g. "Jeeva Bharathi M" vs "M Jeeva Bharathi").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150" b="1">
                <a:solidFill>
                  <a:srgbClr val="1A1A1A"/>
                </a:solidFill>
                <a:latin typeface="Calibri"/>
              </a:rPr>
              <a:t>Impact: </a:t>
            </a:r>
            <a:r>
              <a:rPr sz="1150" b="0">
                <a:solidFill>
                  <a:srgbClr val="1A1A1A"/>
                </a:solidFill>
                <a:latin typeface="Calibri"/>
              </a:rPr>
              <a:t>ensures documents belong to the same person without human review.</a:t>
            </a:r>
          </a:p>
        </p:txBody>
      </p:sp>
      <p:grpSp>
        <p:nvGrpSpPr>
          <p:cNvPr id="14" name="object 14"/>
          <p:cNvGrpSpPr/>
          <p:nvPr/>
        </p:nvGrpSpPr>
        <p:grpSpPr>
          <a:xfrm>
            <a:off x="6195059" y="1833372"/>
            <a:ext cx="5495925" cy="3758565"/>
            <a:chOff x="6195059" y="1833372"/>
            <a:chExt cx="5495925" cy="3758565"/>
          </a:xfrm>
        </p:grpSpPr>
        <p:sp>
          <p:nvSpPr>
            <p:cNvPr id="15" name="object 15"/>
            <p:cNvSpPr/>
            <p:nvPr/>
          </p:nvSpPr>
          <p:spPr>
            <a:xfrm>
              <a:off x="6199631" y="1837944"/>
              <a:ext cx="5486400" cy="3749040"/>
            </a:xfrm>
            <a:custGeom>
              <a:avLst/>
              <a:gdLst/>
              <a:ahLst/>
              <a:cxnLst/>
              <a:rect l="l" t="t" r="r" b="b"/>
              <a:pathLst>
                <a:path w="5486400" h="3749040">
                  <a:moveTo>
                    <a:pt x="5413247" y="0"/>
                  </a:moveTo>
                  <a:lnTo>
                    <a:pt x="73151" y="0"/>
                  </a:lnTo>
                  <a:lnTo>
                    <a:pt x="44684" y="5750"/>
                  </a:lnTo>
                  <a:lnTo>
                    <a:pt x="21431" y="21431"/>
                  </a:lnTo>
                  <a:lnTo>
                    <a:pt x="5750" y="44684"/>
                  </a:lnTo>
                  <a:lnTo>
                    <a:pt x="0" y="73151"/>
                  </a:lnTo>
                  <a:lnTo>
                    <a:pt x="0" y="3675887"/>
                  </a:lnTo>
                  <a:lnTo>
                    <a:pt x="5750" y="3704355"/>
                  </a:lnTo>
                  <a:lnTo>
                    <a:pt x="21431" y="3727608"/>
                  </a:lnTo>
                  <a:lnTo>
                    <a:pt x="44684" y="3743289"/>
                  </a:lnTo>
                  <a:lnTo>
                    <a:pt x="73151" y="3749040"/>
                  </a:lnTo>
                  <a:lnTo>
                    <a:pt x="5413247" y="3749040"/>
                  </a:lnTo>
                  <a:lnTo>
                    <a:pt x="5441715" y="3743289"/>
                  </a:lnTo>
                  <a:lnTo>
                    <a:pt x="5464968" y="3727608"/>
                  </a:lnTo>
                  <a:lnTo>
                    <a:pt x="5480649" y="3704355"/>
                  </a:lnTo>
                  <a:lnTo>
                    <a:pt x="5486399" y="3675887"/>
                  </a:lnTo>
                  <a:lnTo>
                    <a:pt x="5486399" y="73151"/>
                  </a:lnTo>
                  <a:lnTo>
                    <a:pt x="5480649" y="44684"/>
                  </a:lnTo>
                  <a:lnTo>
                    <a:pt x="5464968" y="21431"/>
                  </a:lnTo>
                  <a:lnTo>
                    <a:pt x="5441715" y="5750"/>
                  </a:lnTo>
                  <a:lnTo>
                    <a:pt x="5413247" y="0"/>
                  </a:lnTo>
                  <a:close/>
                </a:path>
              </a:pathLst>
            </a:custGeom>
            <a:solidFill>
              <a:srgbClr val="F3F8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6199631" y="1837944"/>
              <a:ext cx="5486400" cy="3749040"/>
            </a:xfrm>
            <a:custGeom>
              <a:avLst/>
              <a:gdLst/>
              <a:ahLst/>
              <a:cxnLst/>
              <a:rect l="l" t="t" r="r" b="b"/>
              <a:pathLst>
                <a:path w="5486400" h="3749040">
                  <a:moveTo>
                    <a:pt x="0" y="73151"/>
                  </a:moveTo>
                  <a:lnTo>
                    <a:pt x="5750" y="44684"/>
                  </a:lnTo>
                  <a:lnTo>
                    <a:pt x="21431" y="21431"/>
                  </a:lnTo>
                  <a:lnTo>
                    <a:pt x="44684" y="5750"/>
                  </a:lnTo>
                  <a:lnTo>
                    <a:pt x="73151" y="0"/>
                  </a:lnTo>
                  <a:lnTo>
                    <a:pt x="5413247" y="0"/>
                  </a:lnTo>
                  <a:lnTo>
                    <a:pt x="5441715" y="5750"/>
                  </a:lnTo>
                  <a:lnTo>
                    <a:pt x="5464968" y="21431"/>
                  </a:lnTo>
                  <a:lnTo>
                    <a:pt x="5480649" y="44684"/>
                  </a:lnTo>
                  <a:lnTo>
                    <a:pt x="5486399" y="73151"/>
                  </a:lnTo>
                  <a:lnTo>
                    <a:pt x="5486399" y="3675887"/>
                  </a:lnTo>
                  <a:lnTo>
                    <a:pt x="5480649" y="3704355"/>
                  </a:lnTo>
                  <a:lnTo>
                    <a:pt x="5464968" y="3727608"/>
                  </a:lnTo>
                  <a:lnTo>
                    <a:pt x="5441715" y="3743289"/>
                  </a:lnTo>
                  <a:lnTo>
                    <a:pt x="5413247" y="3749040"/>
                  </a:lnTo>
                  <a:lnTo>
                    <a:pt x="73151" y="3749040"/>
                  </a:lnTo>
                  <a:lnTo>
                    <a:pt x="44684" y="3743289"/>
                  </a:lnTo>
                  <a:lnTo>
                    <a:pt x="21431" y="3727608"/>
                  </a:lnTo>
                  <a:lnTo>
                    <a:pt x="5750" y="3704355"/>
                  </a:lnTo>
                  <a:lnTo>
                    <a:pt x="0" y="3675887"/>
                  </a:lnTo>
                  <a:lnTo>
                    <a:pt x="0" y="73151"/>
                  </a:lnTo>
                  <a:close/>
                </a:path>
              </a:pathLst>
            </a:custGeom>
            <a:ln w="9144">
              <a:solidFill>
                <a:srgbClr val="BED7C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7" name="object 17"/>
          <p:cNvSpPr txBox="1"/>
          <p:nvPr/>
        </p:nvSpPr>
        <p:spPr>
          <a:xfrm>
            <a:off x="6416421" y="1913112"/>
            <a:ext cx="3627120" cy="1581150"/>
          </a:xfrm>
          <a:prstGeom prst="rect">
            <a:avLst/>
          </a:prstGeom>
        </p:spPr>
        <p:txBody>
          <a:bodyPr vert="horz" wrap="square" lIns="0" tIns="89535" rIns="0" bIns="0" rtlCol="0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150" b="1">
                <a:solidFill>
                  <a:srgbClr val="1A1A1A"/>
                </a:solidFill>
                <a:latin typeface="Calibri"/>
              </a:rPr>
              <a:t>Problem solved: </a:t>
            </a:r>
            <a:r>
              <a:rPr sz="1150" b="0">
                <a:solidFill>
                  <a:srgbClr val="1A1A1A"/>
                </a:solidFill>
                <a:latin typeface="Calibri"/>
              </a:rPr>
              <a:t>unexplained, black-box loan rejections (Problem 4).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150" b="1">
                <a:solidFill>
                  <a:srgbClr val="1A1A1A"/>
                </a:solidFill>
                <a:latin typeface="Calibri"/>
              </a:rPr>
              <a:t>Glass-box formula: </a:t>
            </a:r>
            <a:r>
              <a:rPr sz="1150" b="0">
                <a:solidFill>
                  <a:srgbClr val="1A1A1A"/>
                </a:solidFill>
                <a:latin typeface="Calibri"/>
              </a:rPr>
              <a:t>Score = Base Intercept + Σ f(Features) + Σ f(Pairs).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150" b="1">
                <a:solidFill>
                  <a:srgbClr val="1A1A1A"/>
                </a:solidFill>
                <a:latin typeface="Calibri"/>
              </a:rPr>
              <a:t>Exact attribution: </a:t>
            </a:r>
            <a:r>
              <a:rPr sz="1150" b="0">
                <a:solidFill>
                  <a:srgbClr val="1A1A1A"/>
                </a:solidFill>
                <a:latin typeface="Calibri"/>
              </a:rPr>
              <a:t>calculates the exact positive bonus or penalty of every factor.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150" b="1">
                <a:solidFill>
                  <a:srgbClr val="1A1A1A"/>
                </a:solidFill>
                <a:latin typeface="Calibri"/>
              </a:rPr>
              <a:t>Plain-English notice: </a:t>
            </a:r>
            <a:r>
              <a:rPr sz="1150" b="0">
                <a:solidFill>
                  <a:srgbClr val="1A1A1A"/>
                </a:solidFill>
                <a:latin typeface="Calibri"/>
              </a:rPr>
              <a:t>tells rejected applicants exactly why (e.g., "Debts take 56% of income").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150" b="1">
                <a:solidFill>
                  <a:srgbClr val="1A1A1A"/>
                </a:solidFill>
                <a:latin typeface="Calibri"/>
              </a:rPr>
              <a:t>Impact: </a:t>
            </a:r>
            <a:r>
              <a:rPr sz="1150" b="0">
                <a:solidFill>
                  <a:srgbClr val="1A1A1A"/>
                </a:solidFill>
                <a:latin typeface="Calibri"/>
              </a:rPr>
              <a:t>100% transparent decisions compliant with RBI fair lending rules.</a:t>
            </a:r>
          </a:p>
        </p:txBody>
      </p:sp>
      <p:sp>
        <p:nvSpPr>
          <p:cNvPr id="19" name="object 19"/>
          <p:cNvSpPr txBox="1">
            <a:spLocks noGrp="1"/>
          </p:cNvSpPr>
          <p:nvPr>
            <p:ph type="dt" sz="half" idx="6"/>
          </p:nvPr>
        </p:nvSpPr>
        <p:spPr>
          <a:xfrm>
            <a:off x="490219" y="6531584"/>
            <a:ext cx="610235" cy="11541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910"/>
              </a:lnSpc>
            </a:pPr>
            <a:r>
              <a:rPr spc="-10" dirty="0"/>
              <a:t>[3</a:t>
            </a:r>
            <a:r>
              <a:rPr lang="en-US" spc="-10" dirty="0"/>
              <a:t>1</a:t>
            </a:r>
            <a:r>
              <a:rPr spc="-10" dirty="0"/>
              <a:t>/10/2026]</a:t>
            </a:r>
          </a:p>
        </p:txBody>
      </p:sp>
      <p:sp>
        <p:nvSpPr>
          <p:cNvPr id="20" name="object 20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910"/>
              </a:lnSpc>
            </a:pPr>
            <a:r>
              <a:rPr spc="-10" dirty="0"/>
              <a:t>Smart Digital Lending System with AI-Based Risk Analysis</a:t>
            </a:r>
          </a:p>
        </p:txBody>
      </p:sp>
      <p:sp>
        <p:nvSpPr>
          <p:cNvPr id="18" name="object 1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955"/>
              </a:lnSpc>
            </a:pPr>
            <a:fld id="{81D60167-4931-47E6-BA6A-407CBD079E47}" type="slidenum">
              <a:rPr spc="-25" dirty="0"/>
              <a:t>9</a:t>
            </a:fld>
            <a:endParaRPr spc="-25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defRPr sz="2200" b="1">
                <a:solidFill>
                  <a:srgbClr val="1F4D39"/>
                </a:solidFill>
                <a:latin typeface="Calibri"/>
              </a:defRPr>
            </a:pPr>
            <a:r>
              <a:t>MODEL 5: RANDOM FOREST BENCHMARK VS EBM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90219" y="965962"/>
            <a:ext cx="4518660" cy="19367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defRPr sz="1100" b="0">
                <a:solidFill>
                  <a:srgbClr val="6B6B6B"/>
                </a:solidFill>
                <a:latin typeface="Calibri"/>
              </a:defRPr>
            </a:pPr>
            <a:r>
              <a:t>Validating prediction accuracy by comparing EBM against Random Forest</a:t>
            </a:r>
          </a:p>
        </p:txBody>
      </p:sp>
      <p:sp>
        <p:nvSpPr>
          <p:cNvPr id="4" name="object 4"/>
          <p:cNvSpPr/>
          <p:nvPr/>
        </p:nvSpPr>
        <p:spPr>
          <a:xfrm>
            <a:off x="502919" y="1298447"/>
            <a:ext cx="11183620" cy="0"/>
          </a:xfrm>
          <a:custGeom>
            <a:avLst/>
            <a:gdLst/>
            <a:ahLst/>
            <a:cxnLst/>
            <a:rect l="l" t="t" r="r" b="b"/>
            <a:pathLst>
              <a:path w="11183620">
                <a:moveTo>
                  <a:pt x="0" y="0"/>
                </a:moveTo>
                <a:lnTo>
                  <a:pt x="11183112" y="0"/>
                </a:lnTo>
              </a:path>
            </a:pathLst>
          </a:custGeom>
          <a:ln w="12192">
            <a:solidFill>
              <a:srgbClr val="C8A83E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aphicFrame>
        <p:nvGraphicFramePr>
          <p:cNvPr id="5" name="object 5"/>
          <p:cNvGraphicFramePr>
            <a:graphicFrameLocks noGrp="1"/>
          </p:cNvGraphicFramePr>
          <p:nvPr/>
        </p:nvGraphicFramePr>
        <p:xfrm>
          <a:off x="499744" y="1551305"/>
          <a:ext cx="11182984" cy="3015612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04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330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EVALUATION CRITERIA</a:t>
                      </a:r>
                    </a:p>
                  </a:txBody>
                  <a:tcPr marL="0" marR="0" marT="151130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  <a:solidFill>
                      <a:srgbClr val="1F4D3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RANDOM FOREST (MODEL 5)</a:t>
                      </a:r>
                    </a:p>
                  </a:txBody>
                  <a:tcPr marL="0" marR="0" marT="151130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  <a:solidFill>
                      <a:srgbClr val="1F4D3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EXPLAINABLE BOOSTING MACHINE (MODEL 4)</a:t>
                      </a:r>
                    </a:p>
                  </a:txBody>
                  <a:tcPr marL="0" marR="0" marT="151130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  <a:solidFill>
                      <a:srgbClr val="1F4D3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100" b="1">
                          <a:solidFill>
                            <a:srgbClr val="1A1A1A"/>
                          </a:solidFill>
                          <a:latin typeface="Calibri"/>
                        </a:rPr>
                        <a:t>Model Architecture</a:t>
                      </a:r>
                    </a:p>
                  </a:txBody>
                  <a:tcPr marL="0" marR="0" marT="151130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Ensemble of 100+ Decision Trees</a:t>
                      </a:r>
                    </a:p>
                  </a:txBody>
                  <a:tcPr marL="0" marR="0" marT="151130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Generalized Additive Model with Pairs (GA²M)</a:t>
                      </a:r>
                    </a:p>
                  </a:txBody>
                  <a:tcPr marL="0" marR="0" marT="151130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284"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100" b="1">
                          <a:solidFill>
                            <a:srgbClr val="1A1A1A"/>
                          </a:solidFill>
                          <a:latin typeface="Calibri"/>
                        </a:rPr>
                        <a:t>Test Accuracy</a:t>
                      </a:r>
                    </a:p>
                  </a:txBody>
                  <a:tcPr marL="0" marR="0" marT="151130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  <a:solidFill>
                      <a:srgbClr val="F3F8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85.37% (Industry benchmark)</a:t>
                      </a:r>
                    </a:p>
                  </a:txBody>
                  <a:tcPr marL="0" marR="0" marT="151130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  <a:solidFill>
                      <a:srgbClr val="F3F8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85.37% (Ties Random Forest exactly)</a:t>
                      </a:r>
                    </a:p>
                  </a:txBody>
                  <a:tcPr marL="0" marR="0" marT="151130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  <a:solidFill>
                      <a:srgbClr val="F3F8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100" b="1">
                          <a:solidFill>
                            <a:srgbClr val="1A1A1A"/>
                          </a:solidFill>
                          <a:latin typeface="Calibri"/>
                        </a:rPr>
                        <a:t>AUC-ROC Score</a:t>
                      </a:r>
                    </a:p>
                  </a:txBody>
                  <a:tcPr marL="0" marR="0" marT="151130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0.729</a:t>
                      </a:r>
                    </a:p>
                  </a:txBody>
                  <a:tcPr marL="0" marR="0" marT="151130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0.752 (EBM leads by +0.023 in discrimination)</a:t>
                      </a:r>
                    </a:p>
                  </a:txBody>
                  <a:tcPr marL="0" marR="0" marT="151130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284"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100" b="1">
                          <a:solidFill>
                            <a:srgbClr val="1A1A1A"/>
                          </a:solidFill>
                          <a:latin typeface="Calibri"/>
                        </a:rPr>
                        <a:t>Interpretability</a:t>
                      </a:r>
                    </a:p>
                  </a:txBody>
                  <a:tcPr marL="0" marR="0" marT="151765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  <a:solidFill>
                      <a:srgbClr val="F3F8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Black Box — cannot explain reasons</a:t>
                      </a:r>
                    </a:p>
                  </a:txBody>
                  <a:tcPr marL="0" marR="0" marT="151765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  <a:solidFill>
                      <a:srgbClr val="F3F8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Glass Box — 100% exact mathematical reasons</a:t>
                      </a:r>
                    </a:p>
                  </a:txBody>
                  <a:tcPr marL="0" marR="0" marT="151765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  <a:solidFill>
                      <a:srgbClr val="F3F8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284"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100" b="1">
                          <a:solidFill>
                            <a:srgbClr val="1A1A1A"/>
                          </a:solidFill>
                          <a:latin typeface="Calibri"/>
                        </a:rPr>
                        <a:t>Adverse Action Notice</a:t>
                      </a:r>
                    </a:p>
                  </a:txBody>
                  <a:tcPr marL="0" marR="0" marT="151765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Requires unstable post-hoc SHAP</a:t>
                      </a:r>
                    </a:p>
                  </a:txBody>
                  <a:tcPr marL="0" marR="0" marT="151765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Built-in, instant plain-English explanations</a:t>
                      </a:r>
                    </a:p>
                  </a:txBody>
                  <a:tcPr marL="0" marR="0" marT="151765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pSp>
        <p:nvGrpSpPr>
          <p:cNvPr id="6" name="object 6"/>
          <p:cNvGrpSpPr/>
          <p:nvPr/>
        </p:nvGrpSpPr>
        <p:grpSpPr>
          <a:xfrm>
            <a:off x="496823" y="4931664"/>
            <a:ext cx="11195685" cy="744220"/>
            <a:chOff x="496823" y="4931664"/>
            <a:chExt cx="11195685" cy="744220"/>
          </a:xfrm>
        </p:grpSpPr>
        <p:sp>
          <p:nvSpPr>
            <p:cNvPr id="7" name="object 7"/>
            <p:cNvSpPr/>
            <p:nvPr/>
          </p:nvSpPr>
          <p:spPr>
            <a:xfrm>
              <a:off x="502919" y="4937760"/>
              <a:ext cx="11183620" cy="731520"/>
            </a:xfrm>
            <a:custGeom>
              <a:avLst/>
              <a:gdLst/>
              <a:ahLst/>
              <a:cxnLst/>
              <a:rect l="l" t="t" r="r" b="b"/>
              <a:pathLst>
                <a:path w="11183620" h="731520">
                  <a:moveTo>
                    <a:pt x="11128248" y="0"/>
                  </a:moveTo>
                  <a:lnTo>
                    <a:pt x="54864" y="0"/>
                  </a:lnTo>
                  <a:lnTo>
                    <a:pt x="33507" y="4304"/>
                  </a:lnTo>
                  <a:lnTo>
                    <a:pt x="16068" y="16049"/>
                  </a:lnTo>
                  <a:lnTo>
                    <a:pt x="4311" y="33486"/>
                  </a:lnTo>
                  <a:lnTo>
                    <a:pt x="0" y="54863"/>
                  </a:lnTo>
                  <a:lnTo>
                    <a:pt x="0" y="676655"/>
                  </a:lnTo>
                  <a:lnTo>
                    <a:pt x="4311" y="698012"/>
                  </a:lnTo>
                  <a:lnTo>
                    <a:pt x="16068" y="715451"/>
                  </a:lnTo>
                  <a:lnTo>
                    <a:pt x="33507" y="727208"/>
                  </a:lnTo>
                  <a:lnTo>
                    <a:pt x="54864" y="731519"/>
                  </a:lnTo>
                  <a:lnTo>
                    <a:pt x="11128248" y="731519"/>
                  </a:lnTo>
                  <a:lnTo>
                    <a:pt x="11149625" y="727208"/>
                  </a:lnTo>
                  <a:lnTo>
                    <a:pt x="11167062" y="715451"/>
                  </a:lnTo>
                  <a:lnTo>
                    <a:pt x="11178807" y="698012"/>
                  </a:lnTo>
                  <a:lnTo>
                    <a:pt x="11183112" y="676655"/>
                  </a:lnTo>
                  <a:lnTo>
                    <a:pt x="11183112" y="54863"/>
                  </a:lnTo>
                  <a:lnTo>
                    <a:pt x="11178807" y="33486"/>
                  </a:lnTo>
                  <a:lnTo>
                    <a:pt x="11167062" y="16049"/>
                  </a:lnTo>
                  <a:lnTo>
                    <a:pt x="11149625" y="4304"/>
                  </a:lnTo>
                  <a:lnTo>
                    <a:pt x="11128248" y="0"/>
                  </a:lnTo>
                  <a:close/>
                </a:path>
              </a:pathLst>
            </a:custGeom>
            <a:solidFill>
              <a:srgbClr val="FFF7D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502919" y="4937760"/>
              <a:ext cx="11183620" cy="731520"/>
            </a:xfrm>
            <a:custGeom>
              <a:avLst/>
              <a:gdLst/>
              <a:ahLst/>
              <a:cxnLst/>
              <a:rect l="l" t="t" r="r" b="b"/>
              <a:pathLst>
                <a:path w="11183620" h="731520">
                  <a:moveTo>
                    <a:pt x="0" y="54863"/>
                  </a:moveTo>
                  <a:lnTo>
                    <a:pt x="4311" y="33486"/>
                  </a:lnTo>
                  <a:lnTo>
                    <a:pt x="16068" y="16049"/>
                  </a:lnTo>
                  <a:lnTo>
                    <a:pt x="33507" y="4304"/>
                  </a:lnTo>
                  <a:lnTo>
                    <a:pt x="54864" y="0"/>
                  </a:lnTo>
                  <a:lnTo>
                    <a:pt x="11128248" y="0"/>
                  </a:lnTo>
                  <a:lnTo>
                    <a:pt x="11149625" y="4304"/>
                  </a:lnTo>
                  <a:lnTo>
                    <a:pt x="11167062" y="16049"/>
                  </a:lnTo>
                  <a:lnTo>
                    <a:pt x="11178807" y="33486"/>
                  </a:lnTo>
                  <a:lnTo>
                    <a:pt x="11183112" y="54863"/>
                  </a:lnTo>
                  <a:lnTo>
                    <a:pt x="11183112" y="676655"/>
                  </a:lnTo>
                  <a:lnTo>
                    <a:pt x="11178807" y="698012"/>
                  </a:lnTo>
                  <a:lnTo>
                    <a:pt x="11167062" y="715451"/>
                  </a:lnTo>
                  <a:lnTo>
                    <a:pt x="11149625" y="727208"/>
                  </a:lnTo>
                  <a:lnTo>
                    <a:pt x="11128248" y="731519"/>
                  </a:lnTo>
                  <a:lnTo>
                    <a:pt x="54864" y="731519"/>
                  </a:lnTo>
                  <a:lnTo>
                    <a:pt x="33507" y="727208"/>
                  </a:lnTo>
                  <a:lnTo>
                    <a:pt x="16068" y="715451"/>
                  </a:lnTo>
                  <a:lnTo>
                    <a:pt x="4311" y="698012"/>
                  </a:lnTo>
                  <a:lnTo>
                    <a:pt x="0" y="676655"/>
                  </a:lnTo>
                  <a:lnTo>
                    <a:pt x="0" y="54863"/>
                  </a:lnTo>
                  <a:close/>
                </a:path>
              </a:pathLst>
            </a:custGeom>
            <a:ln w="12192">
              <a:solidFill>
                <a:srgbClr val="C8A83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502919" y="4937759"/>
            <a:ext cx="11183620" cy="731520"/>
          </a:xfrm>
          <a:prstGeom prst="rect">
            <a:avLst/>
          </a:prstGeom>
        </p:spPr>
        <p:txBody>
          <a:bodyPr vert="horz" wrap="square" lIns="0" tIns="102235" rIns="0" bIns="0" rtlCol="0">
            <a:spAutoFit/>
          </a:bodyPr>
          <a:lstStyle/>
          <a:p>
            <a:r>
              <a:rPr b="1" sz="1050"/>
              <a:t>Key takeaway: </a:t>
            </a:r>
            <a:r>
              <a:rPr sz="1050"/>
              <a:t>Random Forest was trained as our high-accuracy benchmark. EBM matches Random Forest in accuracy (85.37%) and beats it in AUC (0.752), while providing 100% transparent explanations.</a:t>
            </a:r>
          </a:p>
        </p:txBody>
      </p:sp>
      <p:sp>
        <p:nvSpPr>
          <p:cNvPr id="11" name="object 11"/>
          <p:cNvSpPr txBox="1">
            <a:spLocks noGrp="1"/>
          </p:cNvSpPr>
          <p:nvPr>
            <p:ph type="dt" sz="half" idx="6"/>
          </p:nvPr>
        </p:nvSpPr>
        <p:spPr>
          <a:xfrm>
            <a:off x="490219" y="6531584"/>
            <a:ext cx="610235" cy="11541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910"/>
              </a:lnSpc>
            </a:pPr>
            <a:r>
              <a:rPr spc="-10" dirty="0"/>
              <a:t>[3</a:t>
            </a:r>
            <a:r>
              <a:rPr lang="en-US" spc="-10" dirty="0"/>
              <a:t>1</a:t>
            </a:r>
            <a:r>
              <a:rPr spc="-10" dirty="0"/>
              <a:t>/10/2026]</a:t>
            </a:r>
          </a:p>
        </p:txBody>
      </p:sp>
      <p:sp>
        <p:nvSpPr>
          <p:cNvPr id="12" name="object 12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910"/>
              </a:lnSpc>
            </a:pPr>
            <a:r>
              <a:rPr spc="-10" dirty="0"/>
              <a:t>Smart Digital Lending System with AI-Based Risk Analysis</a:t>
            </a: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955"/>
              </a:lnSpc>
            </a:pPr>
            <a:fld id="{81D60167-4931-47E6-BA6A-407CBD079E47}" type="slidenum">
              <a:rPr spc="-25" dirty="0"/>
              <a:t>10</a:t>
            </a:fld>
            <a:endParaRPr spc="-25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55" dirty="0"/>
              <a:t>IMPLEMENTATION</a:t>
            </a:r>
            <a:r>
              <a:rPr spc="-100" dirty="0"/>
              <a:t> </a:t>
            </a:r>
            <a:r>
              <a:rPr spc="-105" dirty="0"/>
              <a:t>STATUS</a:t>
            </a:r>
            <a:r>
              <a:rPr spc="-50" dirty="0"/>
              <a:t> </a:t>
            </a:r>
            <a:r>
              <a:rPr dirty="0"/>
              <a:t>(PHASE</a:t>
            </a:r>
            <a:r>
              <a:rPr spc="-85" dirty="0"/>
              <a:t> </a:t>
            </a:r>
            <a:r>
              <a:rPr spc="-25" dirty="0"/>
              <a:t>I)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90219" y="965962"/>
            <a:ext cx="2433955" cy="19367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defRPr sz="1100" b="0">
                <a:solidFill>
                  <a:srgbClr val="6B6B6B"/>
                </a:solidFill>
                <a:latin typeface="Calibri"/>
              </a:defRPr>
            </a:pPr>
            <a:r>
              <a:t>Major modules and implementation status</a:t>
            </a:r>
          </a:p>
        </p:txBody>
      </p:sp>
      <p:sp>
        <p:nvSpPr>
          <p:cNvPr id="4" name="object 4"/>
          <p:cNvSpPr/>
          <p:nvPr/>
        </p:nvSpPr>
        <p:spPr>
          <a:xfrm>
            <a:off x="502919" y="1298447"/>
            <a:ext cx="11183620" cy="0"/>
          </a:xfrm>
          <a:custGeom>
            <a:avLst/>
            <a:gdLst/>
            <a:ahLst/>
            <a:cxnLst/>
            <a:rect l="l" t="t" r="r" b="b"/>
            <a:pathLst>
              <a:path w="11183620">
                <a:moveTo>
                  <a:pt x="0" y="0"/>
                </a:moveTo>
                <a:lnTo>
                  <a:pt x="11183112" y="0"/>
                </a:lnTo>
              </a:path>
            </a:pathLst>
          </a:custGeom>
          <a:ln w="12192">
            <a:solidFill>
              <a:srgbClr val="C8A83E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aphicFrame>
        <p:nvGraphicFramePr>
          <p:cNvPr id="5" name="object 5"/>
          <p:cNvGraphicFramePr>
            <a:graphicFrameLocks noGrp="1"/>
          </p:cNvGraphicFramePr>
          <p:nvPr/>
        </p:nvGraphicFramePr>
        <p:xfrm>
          <a:off x="499744" y="1551305"/>
          <a:ext cx="11182984" cy="4094472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561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11809"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MODULE / MODEL</a:t>
                      </a:r>
                    </a:p>
                  </a:txBody>
                  <a:tcPr marL="0" marR="0" marT="160020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  <a:solidFill>
                      <a:srgbClr val="1F4D3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FUNCTION AND IMPLEMENTED CAPABILITY</a:t>
                      </a:r>
                    </a:p>
                  </a:txBody>
                  <a:tcPr marL="0" marR="0" marT="160020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  <a:solidFill>
                      <a:srgbClr val="1F4D3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marL="0" marR="0" marT="160020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  <a:solidFill>
                      <a:srgbClr val="1F4D3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1809"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100" b="1">
                          <a:solidFill>
                            <a:srgbClr val="1A1A1A"/>
                          </a:solidFill>
                          <a:latin typeface="Calibri"/>
                        </a:rPr>
                        <a:t>Model 1: DigiLocker</a:t>
                      </a:r>
                    </a:p>
                  </a:txBody>
                  <a:tcPr marL="0" marR="0" marT="160020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Direct document fetch with e-Aadhaar &amp; PAN verification</a:t>
                      </a:r>
                    </a:p>
                  </a:txBody>
                  <a:tcPr marL="0" marR="0" marT="160020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✓ Implemented</a:t>
                      </a:r>
                    </a:p>
                  </a:txBody>
                  <a:tcPr marL="0" marR="0" marT="160020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1809"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100" b="1">
                          <a:solidFill>
                            <a:srgbClr val="1A1A1A"/>
                          </a:solidFill>
                          <a:latin typeface="Calibri"/>
                        </a:rPr>
                        <a:t>Model 2: Biometric Gate</a:t>
                      </a:r>
                    </a:p>
                  </a:txBody>
                  <a:tcPr marL="0" marR="0" marT="160020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  <a:solidFill>
                      <a:srgbClr val="F3F8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3-way live camera vs document photo matching (≥ 75%)</a:t>
                      </a:r>
                    </a:p>
                  </a:txBody>
                  <a:tcPr marL="0" marR="0" marT="160020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  <a:solidFill>
                      <a:srgbClr val="F3F8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✓ Implemented</a:t>
                      </a:r>
                    </a:p>
                  </a:txBody>
                  <a:tcPr marL="0" marR="0" marT="160020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  <a:solidFill>
                      <a:srgbClr val="F3F8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1809"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100" b="1">
                          <a:solidFill>
                            <a:srgbClr val="1A1A1A"/>
                          </a:solidFill>
                          <a:latin typeface="Calibri"/>
                        </a:rPr>
                        <a:t>Model 3: OCR Cross-Check</a:t>
                      </a:r>
                    </a:p>
                  </a:txBody>
                  <a:tcPr marL="0" marR="0" marT="160020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Text extraction and fuzzy name string comparison</a:t>
                      </a:r>
                    </a:p>
                  </a:txBody>
                  <a:tcPr marL="0" marR="0" marT="160020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✓ Implemented</a:t>
                      </a:r>
                    </a:p>
                  </a:txBody>
                  <a:tcPr marL="0" marR="0" marT="160020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1809"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100" b="1">
                          <a:solidFill>
                            <a:srgbClr val="1A1A1A"/>
                          </a:solidFill>
                          <a:latin typeface="Calibri"/>
                        </a:rPr>
                        <a:t>Model 4: EBM Underwriting</a:t>
                      </a:r>
                    </a:p>
                  </a:txBody>
                  <a:tcPr marL="0" marR="0" marT="160020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  <a:solidFill>
                      <a:srgbClr val="F3F8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Exact scoring with waterfall charts and plain-English reasons</a:t>
                      </a:r>
                    </a:p>
                  </a:txBody>
                  <a:tcPr marL="0" marR="0" marT="160020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  <a:solidFill>
                      <a:srgbClr val="F3F8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✓ Implemented</a:t>
                      </a:r>
                    </a:p>
                  </a:txBody>
                  <a:tcPr marL="0" marR="0" marT="160020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  <a:solidFill>
                      <a:srgbClr val="F3F8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1809"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100" b="1">
                          <a:solidFill>
                            <a:srgbClr val="1A1A1A"/>
                          </a:solidFill>
                          <a:latin typeface="Calibri"/>
                        </a:rPr>
                        <a:t>Model 5: Random Forest</a:t>
                      </a:r>
                    </a:p>
                  </a:txBody>
                  <a:tcPr marL="0" marR="0" marT="160020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Benchmark ensemble model trained and evaluated</a:t>
                      </a:r>
                    </a:p>
                  </a:txBody>
                  <a:tcPr marL="0" marR="0" marT="160020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✓ Implemented</a:t>
                      </a:r>
                    </a:p>
                  </a:txBody>
                  <a:tcPr marL="0" marR="0" marT="160020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11809"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100" b="1">
                          <a:solidFill>
                            <a:srgbClr val="1A1A1A"/>
                          </a:solidFill>
                          <a:latin typeface="Calibri"/>
                        </a:rPr>
                        <a:t>Web Application</a:t>
                      </a:r>
                    </a:p>
                  </a:txBody>
                  <a:tcPr marL="0" marR="0" marT="160655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  <a:solidFill>
                      <a:srgbClr val="F3F8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6-step underwriting wizard, camera viewfinder &amp; audit cockpit</a:t>
                      </a:r>
                    </a:p>
                  </a:txBody>
                  <a:tcPr marL="0" marR="0" marT="160655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  <a:solidFill>
                      <a:srgbClr val="F3F8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✓ Implemented</a:t>
                      </a:r>
                    </a:p>
                  </a:txBody>
                  <a:tcPr marL="0" marR="0" marT="160655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  <a:solidFill>
                      <a:srgbClr val="F3F8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11809"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100" b="1">
                          <a:solidFill>
                            <a:srgbClr val="1A1A1A"/>
                          </a:solidFill>
                          <a:latin typeface="Calibri"/>
                        </a:rPr>
                        <a:t>Next Phase (Proposed)</a:t>
                      </a:r>
                    </a:p>
                  </a:txBody>
                  <a:tcPr marL="0" marR="0" marT="160020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Production UIDAI FaceRD API, Account Aggregator, regional audio</a:t>
                      </a:r>
                    </a:p>
                  </a:txBody>
                  <a:tcPr marL="0" marR="0" marT="160020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Planned</a:t>
                      </a:r>
                    </a:p>
                  </a:txBody>
                  <a:tcPr marL="0" marR="0" marT="160020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object 7"/>
          <p:cNvSpPr txBox="1">
            <a:spLocks noGrp="1"/>
          </p:cNvSpPr>
          <p:nvPr>
            <p:ph type="dt" sz="half" idx="6"/>
          </p:nvPr>
        </p:nvSpPr>
        <p:spPr>
          <a:xfrm>
            <a:off x="490219" y="6531584"/>
            <a:ext cx="610235" cy="11541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910"/>
              </a:lnSpc>
            </a:pPr>
            <a:r>
              <a:rPr spc="-10" dirty="0"/>
              <a:t>[3</a:t>
            </a:r>
            <a:r>
              <a:rPr lang="en-US" spc="-10" dirty="0"/>
              <a:t>1</a:t>
            </a:r>
            <a:r>
              <a:rPr spc="-10" dirty="0"/>
              <a:t>/10/2026]</a:t>
            </a:r>
          </a:p>
        </p:txBody>
      </p:sp>
      <p:sp>
        <p:nvSpPr>
          <p:cNvPr id="8" name="object 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910"/>
              </a:lnSpc>
            </a:pPr>
            <a:r>
              <a:rPr spc="-10" dirty="0"/>
              <a:t>Smart Digital Lending System with AI-Based Risk Analysis</a:t>
            </a:r>
          </a:p>
        </p:txBody>
      </p:sp>
      <p:sp>
        <p:nvSpPr>
          <p:cNvPr id="6" name="object 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955"/>
              </a:lnSpc>
            </a:pPr>
            <a:fld id="{81D60167-4931-47E6-BA6A-407CBD079E47}" type="slidenum">
              <a:rPr spc="-25" dirty="0"/>
              <a:t>11</a:t>
            </a:fld>
            <a:endParaRPr spc="-25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45" dirty="0"/>
              <a:t>RESULTS: MODEL COMPARISON ON THE TEST SET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90219" y="965962"/>
            <a:ext cx="5140325" cy="19367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defRPr sz="1100" b="0">
                <a:solidFill>
                  <a:srgbClr val="6B6B6B"/>
                </a:solidFill>
                <a:latin typeface="Calibri"/>
              </a:defRPr>
            </a:pPr>
            <a:r>
              <a:t>Same 491 training / 123 test records for all five models; bureau attributes are generated</a:t>
            </a:r>
          </a:p>
        </p:txBody>
      </p:sp>
      <p:sp>
        <p:nvSpPr>
          <p:cNvPr id="4" name="object 4"/>
          <p:cNvSpPr/>
          <p:nvPr/>
        </p:nvSpPr>
        <p:spPr>
          <a:xfrm>
            <a:off x="502919" y="1298447"/>
            <a:ext cx="11183620" cy="0"/>
          </a:xfrm>
          <a:custGeom>
            <a:avLst/>
            <a:gdLst/>
            <a:ahLst/>
            <a:cxnLst/>
            <a:rect l="l" t="t" r="r" b="b"/>
            <a:pathLst>
              <a:path w="11183620">
                <a:moveTo>
                  <a:pt x="0" y="0"/>
                </a:moveTo>
                <a:lnTo>
                  <a:pt x="11183112" y="0"/>
                </a:lnTo>
              </a:path>
            </a:pathLst>
          </a:custGeom>
          <a:ln w="12192">
            <a:solidFill>
              <a:srgbClr val="C8A83E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aphicFrame>
        <p:nvGraphicFramePr>
          <p:cNvPr id="5" name="object 5"/>
          <p:cNvGraphicFramePr>
            <a:graphicFrameLocks noGrp="1"/>
          </p:cNvGraphicFramePr>
          <p:nvPr/>
        </p:nvGraphicFramePr>
        <p:xfrm>
          <a:off x="499744" y="1551305"/>
          <a:ext cx="11182980" cy="4114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3548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56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656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6561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6561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561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marL="0" marR="0" marT="132080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  <a:solidFill>
                      <a:srgbClr val="1F4D3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ACC. %</a:t>
                      </a:r>
                    </a:p>
                  </a:txBody>
                  <a:tcPr marL="0" marR="0" marT="132080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  <a:solidFill>
                      <a:srgbClr val="1F4D3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PREC. %</a:t>
                      </a:r>
                    </a:p>
                  </a:txBody>
                  <a:tcPr marL="0" marR="0" marT="132080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  <a:solidFill>
                      <a:srgbClr val="1F4D3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REC. %</a:t>
                      </a:r>
                    </a:p>
                  </a:txBody>
                  <a:tcPr marL="0" marR="0" marT="132080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  <a:solidFill>
                      <a:srgbClr val="1F4D3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F1 %</a:t>
                      </a:r>
                    </a:p>
                  </a:txBody>
                  <a:tcPr marL="0" marR="0" marT="132080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  <a:solidFill>
                      <a:srgbClr val="1F4D3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AUC</a:t>
                      </a:r>
                    </a:p>
                  </a:txBody>
                  <a:tcPr marL="0" marR="0" marT="132080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  <a:solidFill>
                      <a:srgbClr val="1F4D3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100" b="1">
                          <a:solidFill>
                            <a:srgbClr val="1A1A1A"/>
                          </a:solidFill>
                          <a:latin typeface="Calibri"/>
                        </a:rPr>
                        <a:t>Logistic regression</a:t>
                      </a:r>
                    </a:p>
                  </a:txBody>
                  <a:tcPr marL="0" marR="0" marT="132080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74.80</a:t>
                      </a:r>
                    </a:p>
                  </a:txBody>
                  <a:tcPr marL="0" marR="0" marT="132080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80.68</a:t>
                      </a:r>
                    </a:p>
                  </a:txBody>
                  <a:tcPr marL="0" marR="0" marT="132080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83.53</a:t>
                      </a:r>
                    </a:p>
                  </a:txBody>
                  <a:tcPr marL="0" marR="0" marT="132080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82.08</a:t>
                      </a:r>
                    </a:p>
                  </a:txBody>
                  <a:tcPr marL="0" marR="0" marT="132080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0.728</a:t>
                      </a:r>
                    </a:p>
                  </a:txBody>
                  <a:tcPr marL="0" marR="0" marT="132080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100" b="1">
                          <a:solidFill>
                            <a:srgbClr val="1A1A1A"/>
                          </a:solidFill>
                          <a:latin typeface="Calibri"/>
                        </a:rPr>
                        <a:t>Gradient boosting</a:t>
                      </a:r>
                    </a:p>
                  </a:txBody>
                  <a:tcPr marL="0" marR="0" marT="132080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  <a:solidFill>
                      <a:srgbClr val="F3F8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80.49</a:t>
                      </a:r>
                    </a:p>
                  </a:txBody>
                  <a:tcPr marL="0" marR="0" marT="132080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  <a:solidFill>
                      <a:srgbClr val="F3F8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82.80</a:t>
                      </a:r>
                    </a:p>
                  </a:txBody>
                  <a:tcPr marL="0" marR="0" marT="132080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  <a:solidFill>
                      <a:srgbClr val="F3F8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90.59</a:t>
                      </a:r>
                    </a:p>
                  </a:txBody>
                  <a:tcPr marL="0" marR="0" marT="132080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  <a:solidFill>
                      <a:srgbClr val="F3F8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86.52</a:t>
                      </a:r>
                    </a:p>
                  </a:txBody>
                  <a:tcPr marL="0" marR="0" marT="132080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  <a:solidFill>
                      <a:srgbClr val="F3F8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0.705</a:t>
                      </a:r>
                    </a:p>
                  </a:txBody>
                  <a:tcPr marL="0" marR="0" marT="132080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  <a:solidFill>
                      <a:srgbClr val="F3F8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100" b="1">
                          <a:solidFill>
                            <a:srgbClr val="1A1A1A"/>
                          </a:solidFill>
                          <a:latin typeface="Calibri"/>
                        </a:rPr>
                        <a:t>Hist. grad. boosting</a:t>
                      </a:r>
                    </a:p>
                  </a:txBody>
                  <a:tcPr marL="0" marR="0" marT="132715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82.11</a:t>
                      </a:r>
                    </a:p>
                  </a:txBody>
                  <a:tcPr marL="0" marR="0" marT="132715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82.47</a:t>
                      </a:r>
                    </a:p>
                  </a:txBody>
                  <a:tcPr marL="0" marR="0" marT="132715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94.12</a:t>
                      </a:r>
                    </a:p>
                  </a:txBody>
                  <a:tcPr marL="0" marR="0" marT="132715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87.91</a:t>
                      </a:r>
                    </a:p>
                  </a:txBody>
                  <a:tcPr marL="0" marR="0" marT="132715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0.734</a:t>
                      </a:r>
                    </a:p>
                  </a:txBody>
                  <a:tcPr marL="0" marR="0" marT="132715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100" b="1">
                          <a:solidFill>
                            <a:srgbClr val="1A1A1A"/>
                          </a:solidFill>
                          <a:latin typeface="Calibri"/>
                        </a:rPr>
                        <a:t>Random forest (Model 5)</a:t>
                      </a:r>
                    </a:p>
                  </a:txBody>
                  <a:tcPr marL="0" marR="0" marT="132715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  <a:solidFill>
                      <a:srgbClr val="F3F8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85.37</a:t>
                      </a:r>
                    </a:p>
                  </a:txBody>
                  <a:tcPr marL="0" marR="0" marT="132715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  <a:solidFill>
                      <a:srgbClr val="F3F8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83.17</a:t>
                      </a:r>
                    </a:p>
                  </a:txBody>
                  <a:tcPr marL="0" marR="0" marT="132715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  <a:solidFill>
                      <a:srgbClr val="F3F8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98.82</a:t>
                      </a:r>
                    </a:p>
                  </a:txBody>
                  <a:tcPr marL="0" marR="0" marT="132715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  <a:solidFill>
                      <a:srgbClr val="F3F8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90.32</a:t>
                      </a:r>
                    </a:p>
                  </a:txBody>
                  <a:tcPr marL="0" marR="0" marT="132715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  <a:solidFill>
                      <a:srgbClr val="F3F8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0.729</a:t>
                      </a:r>
                    </a:p>
                  </a:txBody>
                  <a:tcPr marL="0" marR="0" marT="132715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  <a:solidFill>
                      <a:srgbClr val="F3F8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100" b="1">
                          <a:solidFill>
                            <a:srgbClr val="1A1A1A"/>
                          </a:solidFill>
                          <a:latin typeface="Calibri"/>
                        </a:rPr>
                        <a:t>EBM Glass-Box (Model 4)</a:t>
                      </a:r>
                    </a:p>
                  </a:txBody>
                  <a:tcPr marL="0" marR="0" marT="132715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85.37</a:t>
                      </a:r>
                    </a:p>
                  </a:txBody>
                  <a:tcPr marL="0" marR="0" marT="132715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83.17</a:t>
                      </a:r>
                    </a:p>
                  </a:txBody>
                  <a:tcPr marL="0" marR="0" marT="132715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98.82</a:t>
                      </a:r>
                    </a:p>
                  </a:txBody>
                  <a:tcPr marL="0" marR="0" marT="132715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90.32</a:t>
                      </a:r>
                    </a:p>
                  </a:txBody>
                  <a:tcPr marL="0" marR="0" marT="132715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0.752</a:t>
                      </a:r>
                    </a:p>
                  </a:txBody>
                  <a:tcPr marL="0" marR="0" marT="132715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pSp>
        <p:nvGrpSpPr>
          <p:cNvPr id="6" name="object 6"/>
          <p:cNvGrpSpPr/>
          <p:nvPr/>
        </p:nvGrpSpPr>
        <p:grpSpPr>
          <a:xfrm>
            <a:off x="496823" y="5754623"/>
            <a:ext cx="11195685" cy="469900"/>
            <a:chOff x="496823" y="5754623"/>
            <a:chExt cx="11195685" cy="469900"/>
          </a:xfrm>
        </p:grpSpPr>
        <p:sp>
          <p:nvSpPr>
            <p:cNvPr id="7" name="object 7"/>
            <p:cNvSpPr/>
            <p:nvPr/>
          </p:nvSpPr>
          <p:spPr>
            <a:xfrm>
              <a:off x="502919" y="5760719"/>
              <a:ext cx="11183620" cy="457200"/>
            </a:xfrm>
            <a:custGeom>
              <a:avLst/>
              <a:gdLst/>
              <a:ahLst/>
              <a:cxnLst/>
              <a:rect l="l" t="t" r="r" b="b"/>
              <a:pathLst>
                <a:path w="11183620" h="457200">
                  <a:moveTo>
                    <a:pt x="11128248" y="0"/>
                  </a:moveTo>
                  <a:lnTo>
                    <a:pt x="54864" y="0"/>
                  </a:lnTo>
                  <a:lnTo>
                    <a:pt x="33507" y="4311"/>
                  </a:lnTo>
                  <a:lnTo>
                    <a:pt x="16068" y="16068"/>
                  </a:lnTo>
                  <a:lnTo>
                    <a:pt x="4311" y="33507"/>
                  </a:lnTo>
                  <a:lnTo>
                    <a:pt x="0" y="54863"/>
                  </a:lnTo>
                  <a:lnTo>
                    <a:pt x="0" y="402335"/>
                  </a:lnTo>
                  <a:lnTo>
                    <a:pt x="4311" y="423692"/>
                  </a:lnTo>
                  <a:lnTo>
                    <a:pt x="16068" y="441131"/>
                  </a:lnTo>
                  <a:lnTo>
                    <a:pt x="33507" y="452888"/>
                  </a:lnTo>
                  <a:lnTo>
                    <a:pt x="54864" y="457199"/>
                  </a:lnTo>
                  <a:lnTo>
                    <a:pt x="11128248" y="457199"/>
                  </a:lnTo>
                  <a:lnTo>
                    <a:pt x="11149625" y="452888"/>
                  </a:lnTo>
                  <a:lnTo>
                    <a:pt x="11167062" y="441131"/>
                  </a:lnTo>
                  <a:lnTo>
                    <a:pt x="11178807" y="423692"/>
                  </a:lnTo>
                  <a:lnTo>
                    <a:pt x="11183112" y="402335"/>
                  </a:lnTo>
                  <a:lnTo>
                    <a:pt x="11183112" y="54863"/>
                  </a:lnTo>
                  <a:lnTo>
                    <a:pt x="11178807" y="33507"/>
                  </a:lnTo>
                  <a:lnTo>
                    <a:pt x="11167062" y="16068"/>
                  </a:lnTo>
                  <a:lnTo>
                    <a:pt x="11149625" y="4311"/>
                  </a:lnTo>
                  <a:lnTo>
                    <a:pt x="11128248" y="0"/>
                  </a:lnTo>
                  <a:close/>
                </a:path>
              </a:pathLst>
            </a:custGeom>
            <a:solidFill>
              <a:srgbClr val="FFF7D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502919" y="5760719"/>
              <a:ext cx="11183620" cy="457200"/>
            </a:xfrm>
            <a:custGeom>
              <a:avLst/>
              <a:gdLst/>
              <a:ahLst/>
              <a:cxnLst/>
              <a:rect l="l" t="t" r="r" b="b"/>
              <a:pathLst>
                <a:path w="11183620" h="457200">
                  <a:moveTo>
                    <a:pt x="0" y="54863"/>
                  </a:moveTo>
                  <a:lnTo>
                    <a:pt x="4311" y="33507"/>
                  </a:lnTo>
                  <a:lnTo>
                    <a:pt x="16068" y="16068"/>
                  </a:lnTo>
                  <a:lnTo>
                    <a:pt x="33507" y="4311"/>
                  </a:lnTo>
                  <a:lnTo>
                    <a:pt x="54864" y="0"/>
                  </a:lnTo>
                  <a:lnTo>
                    <a:pt x="11128248" y="0"/>
                  </a:lnTo>
                  <a:lnTo>
                    <a:pt x="11149625" y="4311"/>
                  </a:lnTo>
                  <a:lnTo>
                    <a:pt x="11167062" y="16068"/>
                  </a:lnTo>
                  <a:lnTo>
                    <a:pt x="11178807" y="33507"/>
                  </a:lnTo>
                  <a:lnTo>
                    <a:pt x="11183112" y="54863"/>
                  </a:lnTo>
                  <a:lnTo>
                    <a:pt x="11183112" y="402335"/>
                  </a:lnTo>
                  <a:lnTo>
                    <a:pt x="11178807" y="423692"/>
                  </a:lnTo>
                  <a:lnTo>
                    <a:pt x="11167062" y="441131"/>
                  </a:lnTo>
                  <a:lnTo>
                    <a:pt x="11149625" y="452888"/>
                  </a:lnTo>
                  <a:lnTo>
                    <a:pt x="11128248" y="457199"/>
                  </a:lnTo>
                  <a:lnTo>
                    <a:pt x="54864" y="457199"/>
                  </a:lnTo>
                  <a:lnTo>
                    <a:pt x="33507" y="452888"/>
                  </a:lnTo>
                  <a:lnTo>
                    <a:pt x="16068" y="441131"/>
                  </a:lnTo>
                  <a:lnTo>
                    <a:pt x="4311" y="423692"/>
                  </a:lnTo>
                  <a:lnTo>
                    <a:pt x="0" y="402335"/>
                  </a:lnTo>
                  <a:lnTo>
                    <a:pt x="0" y="54863"/>
                  </a:lnTo>
                  <a:close/>
                </a:path>
              </a:pathLst>
            </a:custGeom>
            <a:ln w="12192">
              <a:solidFill>
                <a:srgbClr val="C8A83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502919" y="5760720"/>
            <a:ext cx="11183620" cy="457200"/>
          </a:xfrm>
          <a:prstGeom prst="rect">
            <a:avLst/>
          </a:prstGeom>
        </p:spPr>
        <p:txBody>
          <a:bodyPr vert="horz" wrap="square" lIns="0" tIns="132715" rIns="0" bIns="0" rtlCol="0">
            <a:spAutoFit/>
          </a:bodyPr>
          <a:lstStyle/>
          <a:p>
            <a:r>
              <a:rPr b="1" sz="1100"/>
              <a:t>Outcome: </a:t>
            </a:r>
            <a:r>
              <a:rPr sz="1100"/>
              <a:t>EBM ties random forest and leads in AUC; +10.57 points accuracy over logistic regression. 5-fold CV: 83.25 ± 1.72% accuracy, AUC 0.763.</a:t>
            </a:r>
          </a:p>
        </p:txBody>
      </p:sp>
      <p:sp>
        <p:nvSpPr>
          <p:cNvPr id="11" name="object 11"/>
          <p:cNvSpPr txBox="1">
            <a:spLocks noGrp="1"/>
          </p:cNvSpPr>
          <p:nvPr>
            <p:ph type="dt" sz="half" idx="6"/>
          </p:nvPr>
        </p:nvSpPr>
        <p:spPr>
          <a:xfrm>
            <a:off x="490219" y="6531584"/>
            <a:ext cx="610235" cy="11541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910"/>
              </a:lnSpc>
            </a:pPr>
            <a:r>
              <a:rPr spc="-10" dirty="0"/>
              <a:t>[3</a:t>
            </a:r>
            <a:r>
              <a:rPr lang="en-US" spc="-10" dirty="0"/>
              <a:t>1</a:t>
            </a:r>
            <a:r>
              <a:rPr spc="-10" dirty="0"/>
              <a:t>/10/2026]</a:t>
            </a:r>
          </a:p>
        </p:txBody>
      </p:sp>
      <p:sp>
        <p:nvSpPr>
          <p:cNvPr id="12" name="object 12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910"/>
              </a:lnSpc>
            </a:pPr>
            <a:r>
              <a:rPr spc="-10" dirty="0"/>
              <a:t>Smart Digital Lending System with AI-Based Risk Analysis</a:t>
            </a: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955"/>
              </a:lnSpc>
            </a:pPr>
            <a:fld id="{81D60167-4931-47E6-BA6A-407CBD079E47}" type="slidenum">
              <a:rPr spc="-25" dirty="0"/>
              <a:t>12</a:t>
            </a:fld>
            <a:endParaRPr spc="-25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45" dirty="0"/>
              <a:t>RESULTS: SAMPLE PREDICTIONS AND ABLATION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90219" y="894076"/>
            <a:ext cx="6433089" cy="18274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defRPr sz="1100" b="0">
                <a:solidFill>
                  <a:srgbClr val="6B6B6B"/>
                </a:solidFill>
                <a:latin typeface="Calibri"/>
              </a:defRPr>
            </a:pPr>
            <a:r>
              <a:t>Three end-to-end runs of the prototype and fraud defense results</a:t>
            </a:r>
          </a:p>
        </p:txBody>
      </p:sp>
      <p:sp>
        <p:nvSpPr>
          <p:cNvPr id="4" name="object 4"/>
          <p:cNvSpPr/>
          <p:nvPr/>
        </p:nvSpPr>
        <p:spPr>
          <a:xfrm>
            <a:off x="502919" y="1298447"/>
            <a:ext cx="11183620" cy="0"/>
          </a:xfrm>
          <a:custGeom>
            <a:avLst/>
            <a:gdLst/>
            <a:ahLst/>
            <a:cxnLst/>
            <a:rect l="l" t="t" r="r" b="b"/>
            <a:pathLst>
              <a:path w="11183620">
                <a:moveTo>
                  <a:pt x="0" y="0"/>
                </a:moveTo>
                <a:lnTo>
                  <a:pt x="11183112" y="0"/>
                </a:lnTo>
              </a:path>
            </a:pathLst>
          </a:custGeom>
          <a:ln w="12192">
            <a:solidFill>
              <a:srgbClr val="C8A83E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490219" y="1442974"/>
            <a:ext cx="2840990" cy="1701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950" b="1" spc="70" dirty="0">
                <a:solidFill>
                  <a:srgbClr val="1F4D39"/>
                </a:solidFill>
                <a:latin typeface="Calibri"/>
                <a:cs typeface="Calibri"/>
              </a:rPr>
              <a:t>SAMPLE PREDICTIONS</a:t>
            </a:r>
            <a:endParaRPr sz="950">
              <a:latin typeface="Calibri"/>
              <a:cs typeface="Calibri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6297548" y="1442974"/>
            <a:ext cx="1932305" cy="1701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950" b="1" spc="65" dirty="0">
                <a:solidFill>
                  <a:srgbClr val="1F4D39"/>
                </a:solidFill>
                <a:latin typeface="Calibri"/>
                <a:cs typeface="Calibri"/>
              </a:rPr>
              <a:t>ABLATION STUDY (TEST SPLIT)</a:t>
            </a:r>
            <a:endParaRPr sz="950">
              <a:latin typeface="Calibri"/>
              <a:cs typeface="Calibri"/>
            </a:endParaRPr>
          </a:p>
        </p:txBody>
      </p:sp>
      <p:graphicFrame>
        <p:nvGraphicFramePr>
          <p:cNvPr id="6" name="object 6"/>
          <p:cNvGraphicFramePr>
            <a:graphicFrameLocks noGrp="1"/>
          </p:cNvGraphicFramePr>
          <p:nvPr/>
        </p:nvGraphicFramePr>
        <p:xfrm>
          <a:off x="499744" y="1734185"/>
          <a:ext cx="5486394" cy="1828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264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32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323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6809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7782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8755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PROFILE</a:t>
                      </a:r>
                    </a:p>
                  </a:txBody>
                  <a:tcPr marL="0" marR="0" marT="136525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  <a:solidFill>
                      <a:srgbClr val="1F4D3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SCORE</a:t>
                      </a:r>
                    </a:p>
                  </a:txBody>
                  <a:tcPr marL="0" marR="0" marT="136525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  <a:solidFill>
                      <a:srgbClr val="1F4D3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DTI %</a:t>
                      </a:r>
                    </a:p>
                  </a:txBody>
                  <a:tcPr marL="0" marR="0" marT="136525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  <a:solidFill>
                      <a:srgbClr val="1F4D3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UTIL. %</a:t>
                      </a:r>
                    </a:p>
                  </a:txBody>
                  <a:tcPr marL="0" marR="0" marT="136525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  <a:solidFill>
                      <a:srgbClr val="1F4D3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PROB.</a:t>
                      </a:r>
                    </a:p>
                  </a:txBody>
                  <a:tcPr marL="0" marR="0" marT="136525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  <a:solidFill>
                      <a:srgbClr val="1F4D3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OUTCOME</a:t>
                      </a:r>
                    </a:p>
                  </a:txBody>
                  <a:tcPr marL="0" marR="0" marT="136525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  <a:solidFill>
                      <a:srgbClr val="1F4D3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050" b="1">
                          <a:solidFill>
                            <a:srgbClr val="1A1A1A"/>
                          </a:solidFill>
                          <a:latin typeface="Calibri"/>
                        </a:rPr>
                        <a:t>Prime (Jeeva M)</a:t>
                      </a:r>
                    </a:p>
                  </a:txBody>
                  <a:tcPr marL="0" marR="0" marT="136525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785</a:t>
                      </a:r>
                    </a:p>
                  </a:txBody>
                  <a:tcPr marL="0" marR="0" marT="136525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28.0</a:t>
                      </a:r>
                    </a:p>
                  </a:txBody>
                  <a:tcPr marL="0" marR="0" marT="136525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marL="0" marR="0" marT="136525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88.3%</a:t>
                      </a:r>
                    </a:p>
                  </a:txBody>
                  <a:tcPr marL="0" marR="0" marT="136525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Approved</a:t>
                      </a:r>
                    </a:p>
                  </a:txBody>
                  <a:tcPr marL="0" marR="0" marT="136525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050" b="1">
                          <a:solidFill>
                            <a:srgbClr val="1A1A1A"/>
                          </a:solidFill>
                          <a:latin typeface="Calibri"/>
                        </a:rPr>
                        <a:t>Stolen OTP Fraud</a:t>
                      </a:r>
                    </a:p>
                  </a:txBody>
                  <a:tcPr marL="0" marR="0" marT="136525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  <a:solidFill>
                      <a:srgbClr val="F3F8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0" marR="0" marT="136525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  <a:solidFill>
                      <a:srgbClr val="F3F8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0" marR="0" marT="136525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  <a:solidFill>
                      <a:srgbClr val="F3F8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0" marR="0" marT="136525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  <a:solidFill>
                      <a:srgbClr val="F3F8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 marL="0" marR="0" marT="136525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  <a:solidFill>
                      <a:srgbClr val="F3F8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BLOCKED</a:t>
                      </a:r>
                    </a:p>
                  </a:txBody>
                  <a:tcPr marL="0" marR="0" marT="136525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  <a:solidFill>
                      <a:srgbClr val="F3F8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050" b="1">
                          <a:solidFill>
                            <a:srgbClr val="1A1A1A"/>
                          </a:solidFill>
                          <a:latin typeface="Calibri"/>
                        </a:rPr>
                        <a:t>Adverse (Karthik R)</a:t>
                      </a:r>
                    </a:p>
                  </a:txBody>
                  <a:tcPr marL="0" marR="0" marT="136525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560</a:t>
                      </a:r>
                    </a:p>
                  </a:txBody>
                  <a:tcPr marL="0" marR="0" marT="136525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55.9</a:t>
                      </a:r>
                    </a:p>
                  </a:txBody>
                  <a:tcPr marL="0" marR="0" marT="136525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78</a:t>
                      </a:r>
                    </a:p>
                  </a:txBody>
                  <a:tcPr marL="0" marR="0" marT="136525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14.2%</a:t>
                      </a:r>
                    </a:p>
                  </a:txBody>
                  <a:tcPr marL="0" marR="0" marT="136525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Declined</a:t>
                      </a:r>
                    </a:p>
                  </a:txBody>
                  <a:tcPr marL="0" marR="0" marT="136525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8" name="object 8"/>
          <p:cNvGraphicFramePr>
            <a:graphicFrameLocks noGrp="1"/>
          </p:cNvGraphicFramePr>
          <p:nvPr/>
        </p:nvGraphicFramePr>
        <p:xfrm>
          <a:off x="6306184" y="1734185"/>
          <a:ext cx="5376545" cy="2286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44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VARIANT</a:t>
                      </a:r>
                    </a:p>
                  </a:txBody>
                  <a:tcPr marL="0" marR="0" marT="136525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  <a:solidFill>
                      <a:srgbClr val="1F4D3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ACC. %</a:t>
                      </a:r>
                    </a:p>
                  </a:txBody>
                  <a:tcPr marL="0" marR="0" marT="136525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  <a:solidFill>
                      <a:srgbClr val="1F4D3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AUC</a:t>
                      </a:r>
                    </a:p>
                  </a:txBody>
                  <a:tcPr marL="0" marR="0" marT="136525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  <a:solidFill>
                      <a:srgbClr val="1F4D3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050" b="1">
                          <a:solidFill>
                            <a:srgbClr val="1A1A1A"/>
                          </a:solidFill>
                          <a:latin typeface="Calibri"/>
                        </a:rPr>
                        <a:t>Full EBM</a:t>
                      </a:r>
                    </a:p>
                  </a:txBody>
                  <a:tcPr marL="0" marR="0" marT="136525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85.37</a:t>
                      </a:r>
                    </a:p>
                  </a:txBody>
                  <a:tcPr marL="0" marR="0" marT="136525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0.752</a:t>
                      </a:r>
                    </a:p>
                  </a:txBody>
                  <a:tcPr marL="0" marR="0" marT="136525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050" b="1">
                          <a:solidFill>
                            <a:srgbClr val="1A1A1A"/>
                          </a:solidFill>
                          <a:latin typeface="Calibri"/>
                        </a:rPr>
                        <a:t>No interaction terms</a:t>
                      </a:r>
                    </a:p>
                  </a:txBody>
                  <a:tcPr marL="0" marR="0" marT="136525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  <a:solidFill>
                      <a:srgbClr val="F3F8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84.55</a:t>
                      </a:r>
                    </a:p>
                  </a:txBody>
                  <a:tcPr marL="0" marR="0" marT="136525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  <a:solidFill>
                      <a:srgbClr val="F3F8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0.741</a:t>
                      </a:r>
                    </a:p>
                  </a:txBody>
                  <a:tcPr marL="0" marR="0" marT="136525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  <a:solidFill>
                      <a:srgbClr val="F3F8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050" b="1">
                          <a:solidFill>
                            <a:srgbClr val="1A1A1A"/>
                          </a:solidFill>
                          <a:latin typeface="Calibri"/>
                        </a:rPr>
                        <a:t>No derived ratios</a:t>
                      </a:r>
                    </a:p>
                  </a:txBody>
                  <a:tcPr marL="0" marR="0" marT="136525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82.93</a:t>
                      </a:r>
                    </a:p>
                  </a:txBody>
                  <a:tcPr marL="0" marR="0" marT="136525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0.729</a:t>
                      </a:r>
                    </a:p>
                  </a:txBody>
                  <a:tcPr marL="0" marR="0" marT="136525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050" b="1">
                          <a:solidFill>
                            <a:srgbClr val="1A1A1A"/>
                          </a:solidFill>
                          <a:latin typeface="Calibri"/>
                        </a:rPr>
                        <a:t>No bureau attributes</a:t>
                      </a:r>
                    </a:p>
                  </a:txBody>
                  <a:tcPr marL="0" marR="0" marT="136525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  <a:solidFill>
                      <a:srgbClr val="F3F8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69.11</a:t>
                      </a:r>
                    </a:p>
                  </a:txBody>
                  <a:tcPr marL="0" marR="0" marT="136525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  <a:solidFill>
                      <a:srgbClr val="F3F8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>
                          <a:latin typeface="Calibri"/>
                        </a:defRPr>
                      </a:pPr>
                      <a:r>
                        <a:rPr sz="105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0" marR="0" marT="136525" marB="0">
                    <a:lnL w="6350">
                      <a:solidFill>
                        <a:srgbClr val="BED7CA"/>
                      </a:solidFill>
                      <a:prstDash val="solid"/>
                    </a:lnL>
                    <a:lnR w="6350">
                      <a:solidFill>
                        <a:srgbClr val="BED7CA"/>
                      </a:solidFill>
                      <a:prstDash val="solid"/>
                    </a:lnR>
                    <a:lnT w="6350">
                      <a:solidFill>
                        <a:srgbClr val="BED7CA"/>
                      </a:solidFill>
                      <a:prstDash val="solid"/>
                    </a:lnT>
                    <a:lnB w="6350">
                      <a:solidFill>
                        <a:srgbClr val="BED7CA"/>
                      </a:solidFill>
                      <a:prstDash val="solid"/>
                    </a:lnB>
                    <a:solidFill>
                      <a:srgbClr val="F3F8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9" name="object 9"/>
          <p:cNvGrpSpPr/>
          <p:nvPr/>
        </p:nvGrpSpPr>
        <p:grpSpPr>
          <a:xfrm>
            <a:off x="496823" y="4840223"/>
            <a:ext cx="11195685" cy="652780"/>
            <a:chOff x="496823" y="4840223"/>
            <a:chExt cx="11195685" cy="652780"/>
          </a:xfrm>
        </p:grpSpPr>
        <p:sp>
          <p:nvSpPr>
            <p:cNvPr id="10" name="object 10"/>
            <p:cNvSpPr/>
            <p:nvPr/>
          </p:nvSpPr>
          <p:spPr>
            <a:xfrm>
              <a:off x="502919" y="4846319"/>
              <a:ext cx="11183620" cy="640080"/>
            </a:xfrm>
            <a:custGeom>
              <a:avLst/>
              <a:gdLst/>
              <a:ahLst/>
              <a:cxnLst/>
              <a:rect l="l" t="t" r="r" b="b"/>
              <a:pathLst>
                <a:path w="11183620" h="640079">
                  <a:moveTo>
                    <a:pt x="11128248" y="0"/>
                  </a:moveTo>
                  <a:lnTo>
                    <a:pt x="54864" y="0"/>
                  </a:lnTo>
                  <a:lnTo>
                    <a:pt x="33507" y="4304"/>
                  </a:lnTo>
                  <a:lnTo>
                    <a:pt x="16068" y="16049"/>
                  </a:lnTo>
                  <a:lnTo>
                    <a:pt x="4311" y="33486"/>
                  </a:lnTo>
                  <a:lnTo>
                    <a:pt x="0" y="54863"/>
                  </a:lnTo>
                  <a:lnTo>
                    <a:pt x="0" y="585215"/>
                  </a:lnTo>
                  <a:lnTo>
                    <a:pt x="4311" y="606593"/>
                  </a:lnTo>
                  <a:lnTo>
                    <a:pt x="16068" y="624030"/>
                  </a:lnTo>
                  <a:lnTo>
                    <a:pt x="33507" y="635775"/>
                  </a:lnTo>
                  <a:lnTo>
                    <a:pt x="54864" y="640079"/>
                  </a:lnTo>
                  <a:lnTo>
                    <a:pt x="11128248" y="640079"/>
                  </a:lnTo>
                  <a:lnTo>
                    <a:pt x="11149625" y="635775"/>
                  </a:lnTo>
                  <a:lnTo>
                    <a:pt x="11167062" y="624030"/>
                  </a:lnTo>
                  <a:lnTo>
                    <a:pt x="11178807" y="606593"/>
                  </a:lnTo>
                  <a:lnTo>
                    <a:pt x="11183112" y="585215"/>
                  </a:lnTo>
                  <a:lnTo>
                    <a:pt x="11183112" y="54863"/>
                  </a:lnTo>
                  <a:lnTo>
                    <a:pt x="11178807" y="33486"/>
                  </a:lnTo>
                  <a:lnTo>
                    <a:pt x="11167062" y="16049"/>
                  </a:lnTo>
                  <a:lnTo>
                    <a:pt x="11149625" y="4304"/>
                  </a:lnTo>
                  <a:lnTo>
                    <a:pt x="11128248" y="0"/>
                  </a:lnTo>
                  <a:close/>
                </a:path>
              </a:pathLst>
            </a:custGeom>
            <a:solidFill>
              <a:srgbClr val="FFF7D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502919" y="4846319"/>
              <a:ext cx="11183620" cy="640080"/>
            </a:xfrm>
            <a:custGeom>
              <a:avLst/>
              <a:gdLst/>
              <a:ahLst/>
              <a:cxnLst/>
              <a:rect l="l" t="t" r="r" b="b"/>
              <a:pathLst>
                <a:path w="11183620" h="640079">
                  <a:moveTo>
                    <a:pt x="0" y="54863"/>
                  </a:moveTo>
                  <a:lnTo>
                    <a:pt x="4311" y="33486"/>
                  </a:lnTo>
                  <a:lnTo>
                    <a:pt x="16068" y="16049"/>
                  </a:lnTo>
                  <a:lnTo>
                    <a:pt x="33507" y="4304"/>
                  </a:lnTo>
                  <a:lnTo>
                    <a:pt x="54864" y="0"/>
                  </a:lnTo>
                  <a:lnTo>
                    <a:pt x="11128248" y="0"/>
                  </a:lnTo>
                  <a:lnTo>
                    <a:pt x="11149625" y="4304"/>
                  </a:lnTo>
                  <a:lnTo>
                    <a:pt x="11167062" y="16049"/>
                  </a:lnTo>
                  <a:lnTo>
                    <a:pt x="11178807" y="33486"/>
                  </a:lnTo>
                  <a:lnTo>
                    <a:pt x="11183112" y="54863"/>
                  </a:lnTo>
                  <a:lnTo>
                    <a:pt x="11183112" y="585215"/>
                  </a:lnTo>
                  <a:lnTo>
                    <a:pt x="11178807" y="606593"/>
                  </a:lnTo>
                  <a:lnTo>
                    <a:pt x="11167062" y="624030"/>
                  </a:lnTo>
                  <a:lnTo>
                    <a:pt x="11149625" y="635775"/>
                  </a:lnTo>
                  <a:lnTo>
                    <a:pt x="11128248" y="640079"/>
                  </a:lnTo>
                  <a:lnTo>
                    <a:pt x="54864" y="640079"/>
                  </a:lnTo>
                  <a:lnTo>
                    <a:pt x="33507" y="635775"/>
                  </a:lnTo>
                  <a:lnTo>
                    <a:pt x="16068" y="624030"/>
                  </a:lnTo>
                  <a:lnTo>
                    <a:pt x="4311" y="606593"/>
                  </a:lnTo>
                  <a:lnTo>
                    <a:pt x="0" y="585215"/>
                  </a:lnTo>
                  <a:lnTo>
                    <a:pt x="0" y="54863"/>
                  </a:lnTo>
                  <a:close/>
                </a:path>
              </a:pathLst>
            </a:custGeom>
            <a:ln w="12192">
              <a:solidFill>
                <a:srgbClr val="C8A83E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502919" y="4846320"/>
            <a:ext cx="11183620" cy="640080"/>
          </a:xfrm>
          <a:prstGeom prst="rect">
            <a:avLst/>
          </a:prstGeom>
        </p:spPr>
        <p:txBody>
          <a:bodyPr vert="horz" wrap="square" lIns="0" tIns="56515" rIns="0" bIns="0" rtlCol="0">
            <a:spAutoFit/>
          </a:bodyPr>
          <a:lstStyle/>
          <a:p>
            <a:r>
              <a:rPr b="1" sz="1100"/>
              <a:t>Reading: </a:t>
            </a:r>
            <a:r>
              <a:rPr sz="1100"/>
              <a:t>removing bureau attributes drops accuracy to the 69.11% majority rate. Impostor tests confirmed 100% of stolen OTP attempts were blocked at the biometric gate.</a:t>
            </a:r>
          </a:p>
        </p:txBody>
      </p:sp>
      <p:sp>
        <p:nvSpPr>
          <p:cNvPr id="14" name="object 14"/>
          <p:cNvSpPr txBox="1">
            <a:spLocks noGrp="1"/>
          </p:cNvSpPr>
          <p:nvPr>
            <p:ph type="dt" sz="half" idx="6"/>
          </p:nvPr>
        </p:nvSpPr>
        <p:spPr>
          <a:xfrm>
            <a:off x="490219" y="6531584"/>
            <a:ext cx="610235" cy="11541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910"/>
              </a:lnSpc>
            </a:pPr>
            <a:r>
              <a:rPr spc="-10" dirty="0"/>
              <a:t>[3</a:t>
            </a:r>
            <a:r>
              <a:rPr lang="en-US" spc="-10" dirty="0"/>
              <a:t>1</a:t>
            </a:r>
            <a:r>
              <a:rPr spc="-10" dirty="0"/>
              <a:t>/10/2026]</a:t>
            </a:r>
          </a:p>
        </p:txBody>
      </p:sp>
      <p:sp>
        <p:nvSpPr>
          <p:cNvPr id="15" name="object 15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910"/>
              </a:lnSpc>
            </a:pPr>
            <a:r>
              <a:rPr spc="-10" dirty="0"/>
              <a:t>Smart Digital Lending System with AI-Based Risk Analysis</a:t>
            </a:r>
          </a:p>
        </p:txBody>
      </p:sp>
      <p:sp>
        <p:nvSpPr>
          <p:cNvPr id="13" name="object 1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955"/>
              </a:lnSpc>
            </a:pPr>
            <a:fld id="{81D60167-4931-47E6-BA6A-407CBD079E47}" type="slidenum">
              <a:rPr spc="-25" dirty="0"/>
              <a:t>13</a:t>
            </a:fld>
            <a:endParaRPr spc="-25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defRPr sz="2200" b="1">
                <a:solidFill>
                  <a:srgbClr val="1F4D39"/>
                </a:solidFill>
                <a:latin typeface="Calibri"/>
              </a:defRPr>
            </a:pPr>
            <a:r>
              <a:t>HOW OUR SYSTEM SOLVES THE 4 PROBLEMS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90219" y="965962"/>
            <a:ext cx="2099310" cy="19367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defRPr sz="1100" b="0">
                <a:solidFill>
                  <a:srgbClr val="6B6B6B"/>
                </a:solidFill>
                <a:latin typeface="Calibri"/>
              </a:defRPr>
            </a:pPr>
            <a:r>
              <a:t>Direct impact of our 5 models on modern digital lending</a:t>
            </a:r>
          </a:p>
        </p:txBody>
      </p:sp>
      <p:sp>
        <p:nvSpPr>
          <p:cNvPr id="4" name="object 4"/>
          <p:cNvSpPr/>
          <p:nvPr/>
        </p:nvSpPr>
        <p:spPr>
          <a:xfrm>
            <a:off x="502919" y="1298447"/>
            <a:ext cx="11183620" cy="0"/>
          </a:xfrm>
          <a:custGeom>
            <a:avLst/>
            <a:gdLst/>
            <a:ahLst/>
            <a:cxnLst/>
            <a:rect l="l" t="t" r="r" b="b"/>
            <a:pathLst>
              <a:path w="11183620">
                <a:moveTo>
                  <a:pt x="0" y="0"/>
                </a:moveTo>
                <a:lnTo>
                  <a:pt x="11183112" y="0"/>
                </a:lnTo>
              </a:path>
            </a:pathLst>
          </a:custGeom>
          <a:ln w="12192">
            <a:solidFill>
              <a:srgbClr val="C8A83E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502919" y="1508760"/>
            <a:ext cx="5486400" cy="329565"/>
          </a:xfrm>
          <a:custGeom>
            <a:avLst/>
            <a:gdLst/>
            <a:ahLst/>
            <a:cxnLst/>
            <a:rect l="l" t="t" r="r" b="b"/>
            <a:pathLst>
              <a:path w="5486400" h="329564">
                <a:moveTo>
                  <a:pt x="0" y="329184"/>
                </a:moveTo>
                <a:lnTo>
                  <a:pt x="5486400" y="329184"/>
                </a:lnTo>
                <a:lnTo>
                  <a:pt x="5486400" y="0"/>
                </a:lnTo>
                <a:lnTo>
                  <a:pt x="0" y="0"/>
                </a:lnTo>
                <a:lnTo>
                  <a:pt x="0" y="329184"/>
                </a:lnTo>
                <a:close/>
              </a:path>
            </a:pathLst>
          </a:custGeom>
          <a:ln w="12192">
            <a:solidFill>
              <a:srgbClr val="1F4D3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496823" y="1502663"/>
            <a:ext cx="5499100" cy="341630"/>
          </a:xfrm>
          <a:prstGeom prst="rect">
            <a:avLst/>
          </a:prstGeom>
          <a:solidFill>
            <a:srgbClr val="1F4D39"/>
          </a:solidFill>
        </p:spPr>
        <p:txBody>
          <a:bodyPr vert="horz" wrap="square" lIns="0" tIns="86360" rIns="0" bIns="0" rtlCol="0">
            <a:spAutoFit/>
          </a:bodyPr>
          <a:lstStyle/>
          <a:p>
            <a:pPr>
              <a:defRPr sz="1000" b="1">
                <a:solidFill>
                  <a:srgbClr val="FFFFFF"/>
                </a:solidFill>
                <a:latin typeface="Calibri"/>
              </a:defRPr>
            </a:pPr>
            <a:r>
              <a:t>SOLVING DELAYS &amp; FAKE CERTIFICATES</a:t>
            </a:r>
          </a:p>
        </p:txBody>
      </p:sp>
      <p:sp>
        <p:nvSpPr>
          <p:cNvPr id="10" name="object 10"/>
          <p:cNvSpPr/>
          <p:nvPr/>
        </p:nvSpPr>
        <p:spPr>
          <a:xfrm>
            <a:off x="6199632" y="1508760"/>
            <a:ext cx="5486400" cy="329565"/>
          </a:xfrm>
          <a:custGeom>
            <a:avLst/>
            <a:gdLst/>
            <a:ahLst/>
            <a:cxnLst/>
            <a:rect l="l" t="t" r="r" b="b"/>
            <a:pathLst>
              <a:path w="5486400" h="329564">
                <a:moveTo>
                  <a:pt x="0" y="329184"/>
                </a:moveTo>
                <a:lnTo>
                  <a:pt x="5486400" y="329184"/>
                </a:lnTo>
                <a:lnTo>
                  <a:pt x="5486400" y="0"/>
                </a:lnTo>
                <a:lnTo>
                  <a:pt x="0" y="0"/>
                </a:lnTo>
                <a:lnTo>
                  <a:pt x="0" y="329184"/>
                </a:lnTo>
                <a:close/>
              </a:path>
            </a:pathLst>
          </a:custGeom>
          <a:ln w="12192">
            <a:solidFill>
              <a:srgbClr val="1F4D3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6193535" y="1502663"/>
            <a:ext cx="5499100" cy="341630"/>
          </a:xfrm>
          <a:prstGeom prst="rect">
            <a:avLst/>
          </a:prstGeom>
          <a:solidFill>
            <a:srgbClr val="1F4D39"/>
          </a:solidFill>
        </p:spPr>
        <p:txBody>
          <a:bodyPr vert="horz" wrap="square" lIns="0" tIns="86360" rIns="0" bIns="0" rtlCol="0">
            <a:spAutoFit/>
          </a:bodyPr>
          <a:lstStyle/>
          <a:p>
            <a:pPr>
              <a:defRPr sz="1000" b="1">
                <a:solidFill>
                  <a:srgbClr val="FFFFFF"/>
                </a:solidFill>
                <a:latin typeface="Calibri"/>
              </a:defRPr>
            </a:pPr>
            <a:r>
              <a:t>SOLVING OTP THEFT &amp; BLACK-BOX REJECTIONS</a:t>
            </a:r>
          </a:p>
        </p:txBody>
      </p:sp>
      <p:grpSp>
        <p:nvGrpSpPr>
          <p:cNvPr id="7" name="object 7"/>
          <p:cNvGrpSpPr/>
          <p:nvPr/>
        </p:nvGrpSpPr>
        <p:grpSpPr>
          <a:xfrm>
            <a:off x="498348" y="1833372"/>
            <a:ext cx="5495925" cy="3941445"/>
            <a:chOff x="498348" y="1833372"/>
            <a:chExt cx="5495925" cy="3941445"/>
          </a:xfrm>
        </p:grpSpPr>
        <p:sp>
          <p:nvSpPr>
            <p:cNvPr id="8" name="object 8"/>
            <p:cNvSpPr/>
            <p:nvPr/>
          </p:nvSpPr>
          <p:spPr>
            <a:xfrm>
              <a:off x="502920" y="1837944"/>
              <a:ext cx="5486400" cy="3931920"/>
            </a:xfrm>
            <a:custGeom>
              <a:avLst/>
              <a:gdLst/>
              <a:ahLst/>
              <a:cxnLst/>
              <a:rect l="l" t="t" r="r" b="b"/>
              <a:pathLst>
                <a:path w="5486400" h="3931920">
                  <a:moveTo>
                    <a:pt x="5413247" y="0"/>
                  </a:moveTo>
                  <a:lnTo>
                    <a:pt x="73139" y="0"/>
                  </a:lnTo>
                  <a:lnTo>
                    <a:pt x="44668" y="5750"/>
                  </a:lnTo>
                  <a:lnTo>
                    <a:pt x="21420" y="21431"/>
                  </a:lnTo>
                  <a:lnTo>
                    <a:pt x="5746" y="44684"/>
                  </a:lnTo>
                  <a:lnTo>
                    <a:pt x="0" y="73151"/>
                  </a:lnTo>
                  <a:lnTo>
                    <a:pt x="0" y="3858780"/>
                  </a:lnTo>
                  <a:lnTo>
                    <a:pt x="5746" y="3887251"/>
                  </a:lnTo>
                  <a:lnTo>
                    <a:pt x="21420" y="3910499"/>
                  </a:lnTo>
                  <a:lnTo>
                    <a:pt x="44668" y="3926173"/>
                  </a:lnTo>
                  <a:lnTo>
                    <a:pt x="73139" y="3931919"/>
                  </a:lnTo>
                  <a:lnTo>
                    <a:pt x="5413247" y="3931919"/>
                  </a:lnTo>
                  <a:lnTo>
                    <a:pt x="5441715" y="3926173"/>
                  </a:lnTo>
                  <a:lnTo>
                    <a:pt x="5464968" y="3910499"/>
                  </a:lnTo>
                  <a:lnTo>
                    <a:pt x="5480649" y="3887251"/>
                  </a:lnTo>
                  <a:lnTo>
                    <a:pt x="5486400" y="3858780"/>
                  </a:lnTo>
                  <a:lnTo>
                    <a:pt x="5486400" y="73151"/>
                  </a:lnTo>
                  <a:lnTo>
                    <a:pt x="5480649" y="44684"/>
                  </a:lnTo>
                  <a:lnTo>
                    <a:pt x="5464968" y="21431"/>
                  </a:lnTo>
                  <a:lnTo>
                    <a:pt x="5441715" y="5750"/>
                  </a:lnTo>
                  <a:lnTo>
                    <a:pt x="5413247" y="0"/>
                  </a:lnTo>
                  <a:close/>
                </a:path>
              </a:pathLst>
            </a:custGeom>
            <a:solidFill>
              <a:srgbClr val="F3F8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502920" y="1837944"/>
              <a:ext cx="5486400" cy="3931920"/>
            </a:xfrm>
            <a:custGeom>
              <a:avLst/>
              <a:gdLst/>
              <a:ahLst/>
              <a:cxnLst/>
              <a:rect l="l" t="t" r="r" b="b"/>
              <a:pathLst>
                <a:path w="5486400" h="3931920">
                  <a:moveTo>
                    <a:pt x="0" y="73151"/>
                  </a:moveTo>
                  <a:lnTo>
                    <a:pt x="5746" y="44684"/>
                  </a:lnTo>
                  <a:lnTo>
                    <a:pt x="21420" y="21431"/>
                  </a:lnTo>
                  <a:lnTo>
                    <a:pt x="44668" y="5750"/>
                  </a:lnTo>
                  <a:lnTo>
                    <a:pt x="73139" y="0"/>
                  </a:lnTo>
                  <a:lnTo>
                    <a:pt x="5413247" y="0"/>
                  </a:lnTo>
                  <a:lnTo>
                    <a:pt x="5441715" y="5750"/>
                  </a:lnTo>
                  <a:lnTo>
                    <a:pt x="5464968" y="21431"/>
                  </a:lnTo>
                  <a:lnTo>
                    <a:pt x="5480649" y="44684"/>
                  </a:lnTo>
                  <a:lnTo>
                    <a:pt x="5486400" y="73151"/>
                  </a:lnTo>
                  <a:lnTo>
                    <a:pt x="5486400" y="3858780"/>
                  </a:lnTo>
                  <a:lnTo>
                    <a:pt x="5480649" y="3887251"/>
                  </a:lnTo>
                  <a:lnTo>
                    <a:pt x="5464968" y="3910499"/>
                  </a:lnTo>
                  <a:lnTo>
                    <a:pt x="5441715" y="3926173"/>
                  </a:lnTo>
                  <a:lnTo>
                    <a:pt x="5413247" y="3931919"/>
                  </a:lnTo>
                  <a:lnTo>
                    <a:pt x="73139" y="3931919"/>
                  </a:lnTo>
                  <a:lnTo>
                    <a:pt x="44668" y="3926173"/>
                  </a:lnTo>
                  <a:lnTo>
                    <a:pt x="21420" y="3910499"/>
                  </a:lnTo>
                  <a:lnTo>
                    <a:pt x="5746" y="3887251"/>
                  </a:lnTo>
                  <a:lnTo>
                    <a:pt x="0" y="3858780"/>
                  </a:lnTo>
                  <a:lnTo>
                    <a:pt x="0" y="73151"/>
                  </a:lnTo>
                  <a:close/>
                </a:path>
              </a:pathLst>
            </a:custGeom>
            <a:ln w="9144">
              <a:solidFill>
                <a:srgbClr val="BED7C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5" name="object 15"/>
          <p:cNvSpPr txBox="1"/>
          <p:nvPr/>
        </p:nvSpPr>
        <p:spPr>
          <a:xfrm>
            <a:off x="718819" y="1989785"/>
            <a:ext cx="4725670" cy="14287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150" b="1">
                <a:solidFill>
                  <a:srgbClr val="1A1A1A"/>
                </a:solidFill>
                <a:latin typeface="Calibri"/>
              </a:rPr>
              <a:t>1. Manual Verification Delays: </a:t>
            </a:r>
            <a:r>
              <a:rPr sz="1150" b="0">
                <a:solidFill>
                  <a:srgbClr val="1A1A1A"/>
                </a:solidFill>
                <a:latin typeface="Calibri"/>
              </a:rPr>
              <a:t>traditional physical checks take 3 to 7 days.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150" b="1">
                <a:solidFill>
                  <a:srgbClr val="1A1A1A"/>
                </a:solidFill>
                <a:latin typeface="Calibri"/>
              </a:rPr>
              <a:t>→ Solved by: </a:t>
            </a:r>
            <a:r>
              <a:rPr sz="1150" b="0">
                <a:solidFill>
                  <a:srgbClr val="1A1A1A"/>
                </a:solidFill>
                <a:latin typeface="Calibri"/>
              </a:rPr>
              <a:t>DigiLocker &amp; OCR models; entire process completes in under 60 seconds.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150" b="1">
                <a:solidFill>
                  <a:srgbClr val="1A1A1A"/>
                </a:solidFill>
                <a:latin typeface="Calibri"/>
              </a:rPr>
              <a:t>2. Fake Certificates &amp; Forgery: </a:t>
            </a:r>
            <a:r>
              <a:rPr sz="1150" b="0">
                <a:solidFill>
                  <a:srgbClr val="1A1A1A"/>
                </a:solidFill>
                <a:latin typeface="Calibri"/>
              </a:rPr>
              <a:t>scammers submit photoshopped documents.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150" b="1">
                <a:solidFill>
                  <a:srgbClr val="1A1A1A"/>
                </a:solidFill>
                <a:latin typeface="Calibri"/>
              </a:rPr>
              <a:t>→ Solved by: </a:t>
            </a:r>
            <a:r>
              <a:rPr sz="1150" b="0">
                <a:solidFill>
                  <a:srgbClr val="1A1A1A"/>
                </a:solidFill>
                <a:latin typeface="Calibri"/>
              </a:rPr>
              <a:t>DigiLocker direct government API fetch; only authentic records accepted.</a:t>
            </a:r>
          </a:p>
        </p:txBody>
      </p:sp>
      <p:grpSp>
        <p:nvGrpSpPr>
          <p:cNvPr id="12" name="object 12"/>
          <p:cNvGrpSpPr/>
          <p:nvPr/>
        </p:nvGrpSpPr>
        <p:grpSpPr>
          <a:xfrm>
            <a:off x="6195059" y="1833372"/>
            <a:ext cx="5495925" cy="3941445"/>
            <a:chOff x="6195059" y="1833372"/>
            <a:chExt cx="5495925" cy="3941445"/>
          </a:xfrm>
        </p:grpSpPr>
        <p:sp>
          <p:nvSpPr>
            <p:cNvPr id="13" name="object 13"/>
            <p:cNvSpPr/>
            <p:nvPr/>
          </p:nvSpPr>
          <p:spPr>
            <a:xfrm>
              <a:off x="6199631" y="1837944"/>
              <a:ext cx="5486400" cy="3931920"/>
            </a:xfrm>
            <a:custGeom>
              <a:avLst/>
              <a:gdLst/>
              <a:ahLst/>
              <a:cxnLst/>
              <a:rect l="l" t="t" r="r" b="b"/>
              <a:pathLst>
                <a:path w="5486400" h="3931920">
                  <a:moveTo>
                    <a:pt x="5413247" y="0"/>
                  </a:moveTo>
                  <a:lnTo>
                    <a:pt x="73151" y="0"/>
                  </a:lnTo>
                  <a:lnTo>
                    <a:pt x="44684" y="5750"/>
                  </a:lnTo>
                  <a:lnTo>
                    <a:pt x="21431" y="21431"/>
                  </a:lnTo>
                  <a:lnTo>
                    <a:pt x="5750" y="44684"/>
                  </a:lnTo>
                  <a:lnTo>
                    <a:pt x="0" y="73151"/>
                  </a:lnTo>
                  <a:lnTo>
                    <a:pt x="0" y="3858780"/>
                  </a:lnTo>
                  <a:lnTo>
                    <a:pt x="5750" y="3887251"/>
                  </a:lnTo>
                  <a:lnTo>
                    <a:pt x="21431" y="3910499"/>
                  </a:lnTo>
                  <a:lnTo>
                    <a:pt x="44684" y="3926173"/>
                  </a:lnTo>
                  <a:lnTo>
                    <a:pt x="73151" y="3931919"/>
                  </a:lnTo>
                  <a:lnTo>
                    <a:pt x="5413247" y="3931919"/>
                  </a:lnTo>
                  <a:lnTo>
                    <a:pt x="5441715" y="3926173"/>
                  </a:lnTo>
                  <a:lnTo>
                    <a:pt x="5464968" y="3910499"/>
                  </a:lnTo>
                  <a:lnTo>
                    <a:pt x="5480649" y="3887251"/>
                  </a:lnTo>
                  <a:lnTo>
                    <a:pt x="5486399" y="3858780"/>
                  </a:lnTo>
                  <a:lnTo>
                    <a:pt x="5486399" y="73151"/>
                  </a:lnTo>
                  <a:lnTo>
                    <a:pt x="5480649" y="44684"/>
                  </a:lnTo>
                  <a:lnTo>
                    <a:pt x="5464968" y="21431"/>
                  </a:lnTo>
                  <a:lnTo>
                    <a:pt x="5441715" y="5750"/>
                  </a:lnTo>
                  <a:lnTo>
                    <a:pt x="5413247" y="0"/>
                  </a:lnTo>
                  <a:close/>
                </a:path>
              </a:pathLst>
            </a:custGeom>
            <a:solidFill>
              <a:srgbClr val="F3F8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6199631" y="1837944"/>
              <a:ext cx="5486400" cy="3931920"/>
            </a:xfrm>
            <a:custGeom>
              <a:avLst/>
              <a:gdLst/>
              <a:ahLst/>
              <a:cxnLst/>
              <a:rect l="l" t="t" r="r" b="b"/>
              <a:pathLst>
                <a:path w="5486400" h="3931920">
                  <a:moveTo>
                    <a:pt x="0" y="73151"/>
                  </a:moveTo>
                  <a:lnTo>
                    <a:pt x="5750" y="44684"/>
                  </a:lnTo>
                  <a:lnTo>
                    <a:pt x="21431" y="21431"/>
                  </a:lnTo>
                  <a:lnTo>
                    <a:pt x="44684" y="5750"/>
                  </a:lnTo>
                  <a:lnTo>
                    <a:pt x="73151" y="0"/>
                  </a:lnTo>
                  <a:lnTo>
                    <a:pt x="5413247" y="0"/>
                  </a:lnTo>
                  <a:lnTo>
                    <a:pt x="5441715" y="5750"/>
                  </a:lnTo>
                  <a:lnTo>
                    <a:pt x="5464968" y="21431"/>
                  </a:lnTo>
                  <a:lnTo>
                    <a:pt x="5480649" y="44684"/>
                  </a:lnTo>
                  <a:lnTo>
                    <a:pt x="5486399" y="73151"/>
                  </a:lnTo>
                  <a:lnTo>
                    <a:pt x="5486399" y="3858780"/>
                  </a:lnTo>
                  <a:lnTo>
                    <a:pt x="5480649" y="3887251"/>
                  </a:lnTo>
                  <a:lnTo>
                    <a:pt x="5464968" y="3910499"/>
                  </a:lnTo>
                  <a:lnTo>
                    <a:pt x="5441715" y="3926173"/>
                  </a:lnTo>
                  <a:lnTo>
                    <a:pt x="5413247" y="3931919"/>
                  </a:lnTo>
                  <a:lnTo>
                    <a:pt x="73151" y="3931919"/>
                  </a:lnTo>
                  <a:lnTo>
                    <a:pt x="44684" y="3926173"/>
                  </a:lnTo>
                  <a:lnTo>
                    <a:pt x="21431" y="3910499"/>
                  </a:lnTo>
                  <a:lnTo>
                    <a:pt x="5750" y="3887251"/>
                  </a:lnTo>
                  <a:lnTo>
                    <a:pt x="0" y="3858780"/>
                  </a:lnTo>
                  <a:lnTo>
                    <a:pt x="0" y="73151"/>
                  </a:lnTo>
                  <a:close/>
                </a:path>
              </a:pathLst>
            </a:custGeom>
            <a:ln w="9144">
              <a:solidFill>
                <a:srgbClr val="BED7C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6416421" y="1913112"/>
            <a:ext cx="3368040" cy="1322070"/>
          </a:xfrm>
          <a:prstGeom prst="rect">
            <a:avLst/>
          </a:prstGeom>
        </p:spPr>
        <p:txBody>
          <a:bodyPr vert="horz" wrap="square" lIns="0" tIns="89535" rIns="0" bIns="0" rtlCol="0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150" b="1">
                <a:solidFill>
                  <a:srgbClr val="1A1A1A"/>
                </a:solidFill>
                <a:latin typeface="Calibri"/>
              </a:rPr>
              <a:t>3. Stolen OTPs &amp; Identity Theft: </a:t>
            </a:r>
            <a:r>
              <a:rPr sz="1150" b="0">
                <a:solidFill>
                  <a:srgbClr val="1A1A1A"/>
                </a:solidFill>
                <a:latin typeface="Calibri"/>
              </a:rPr>
              <a:t>fraudsters steal OTPs to create fake loans.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150" b="1">
                <a:solidFill>
                  <a:srgbClr val="1A1A1A"/>
                </a:solidFill>
                <a:latin typeface="Calibri"/>
              </a:rPr>
              <a:t>→ Solved by: </a:t>
            </a:r>
            <a:r>
              <a:rPr sz="1150" b="0">
                <a:solidFill>
                  <a:srgbClr val="1A1A1A"/>
                </a:solidFill>
                <a:latin typeface="Calibri"/>
              </a:rPr>
              <a:t>Tri-Biometric face match; impostors are blocked without physical presence.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150" b="1">
                <a:solidFill>
                  <a:srgbClr val="1A1A1A"/>
                </a:solidFill>
                <a:latin typeface="Calibri"/>
              </a:rPr>
              <a:t>4. Unexplained Black-Box Rejections: </a:t>
            </a:r>
            <a:r>
              <a:rPr sz="1150" b="0">
                <a:solidFill>
                  <a:srgbClr val="1A1A1A"/>
                </a:solidFill>
                <a:latin typeface="Calibri"/>
              </a:rPr>
              <a:t>traditional AI declines loans without reasons.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150" b="1">
                <a:solidFill>
                  <a:srgbClr val="1A1A1A"/>
                </a:solidFill>
                <a:latin typeface="Calibri"/>
              </a:rPr>
              <a:t>→ Solved by: </a:t>
            </a:r>
            <a:r>
              <a:rPr sz="1150" b="0">
                <a:solidFill>
                  <a:srgbClr val="1A1A1A"/>
                </a:solidFill>
                <a:latin typeface="Calibri"/>
              </a:rPr>
              <a:t>Explainable Boosting Machine (EBM); provides plain-English reasons and advice.</a:t>
            </a:r>
          </a:p>
        </p:txBody>
      </p:sp>
      <p:sp>
        <p:nvSpPr>
          <p:cNvPr id="18" name="object 18"/>
          <p:cNvSpPr txBox="1">
            <a:spLocks noGrp="1"/>
          </p:cNvSpPr>
          <p:nvPr>
            <p:ph type="dt" sz="half" idx="6"/>
          </p:nvPr>
        </p:nvSpPr>
        <p:spPr>
          <a:xfrm>
            <a:off x="490219" y="6531584"/>
            <a:ext cx="610235" cy="11541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910"/>
              </a:lnSpc>
            </a:pPr>
            <a:r>
              <a:rPr spc="-10" dirty="0"/>
              <a:t>[3</a:t>
            </a:r>
            <a:r>
              <a:rPr lang="en-US" spc="-10" dirty="0"/>
              <a:t>1</a:t>
            </a:r>
            <a:r>
              <a:rPr spc="-10" dirty="0"/>
              <a:t>/10/2026]</a:t>
            </a:r>
          </a:p>
        </p:txBody>
      </p:sp>
      <p:sp>
        <p:nvSpPr>
          <p:cNvPr id="19" name="object 19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910"/>
              </a:lnSpc>
            </a:pPr>
            <a:r>
              <a:rPr spc="-10" dirty="0"/>
              <a:t>Smart Digital Lending System with AI-Based Risk Analysis</a:t>
            </a:r>
          </a:p>
        </p:txBody>
      </p:sp>
      <p:sp>
        <p:nvSpPr>
          <p:cNvPr id="17" name="object 17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955"/>
              </a:lnSpc>
            </a:pPr>
            <a:fld id="{81D60167-4931-47E6-BA6A-407CBD079E47}" type="slidenum">
              <a:rPr spc="-25" dirty="0"/>
              <a:t>14</a:t>
            </a:fld>
            <a:endParaRPr spc="-25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20" dirty="0"/>
              <a:t>CONCLUSION</a:t>
            </a:r>
            <a:r>
              <a:rPr spc="-60" dirty="0"/>
              <a:t> </a:t>
            </a:r>
            <a:r>
              <a:rPr dirty="0"/>
              <a:t>AND</a:t>
            </a:r>
            <a:r>
              <a:rPr spc="-40" dirty="0"/>
              <a:t> </a:t>
            </a:r>
            <a:r>
              <a:rPr dirty="0"/>
              <a:t>FUTURE</a:t>
            </a:r>
            <a:r>
              <a:rPr spc="-50" dirty="0"/>
              <a:t> </a:t>
            </a:r>
            <a:r>
              <a:rPr spc="-10" dirty="0"/>
              <a:t>SCOPE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90219" y="965962"/>
            <a:ext cx="2473960" cy="19367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defRPr sz="1100" b="0">
                <a:solidFill>
                  <a:srgbClr val="6B6B6B"/>
                </a:solidFill>
                <a:latin typeface="Calibri"/>
              </a:defRPr>
            </a:pPr>
            <a:r>
              <a:t>What Phase I delivers and what comes next</a:t>
            </a:r>
          </a:p>
        </p:txBody>
      </p:sp>
      <p:sp>
        <p:nvSpPr>
          <p:cNvPr id="4" name="object 4"/>
          <p:cNvSpPr/>
          <p:nvPr/>
        </p:nvSpPr>
        <p:spPr>
          <a:xfrm>
            <a:off x="502919" y="1298447"/>
            <a:ext cx="11183620" cy="0"/>
          </a:xfrm>
          <a:custGeom>
            <a:avLst/>
            <a:gdLst/>
            <a:ahLst/>
            <a:cxnLst/>
            <a:rect l="l" t="t" r="r" b="b"/>
            <a:pathLst>
              <a:path w="11183620">
                <a:moveTo>
                  <a:pt x="0" y="0"/>
                </a:moveTo>
                <a:lnTo>
                  <a:pt x="11183112" y="0"/>
                </a:lnTo>
              </a:path>
            </a:pathLst>
          </a:custGeom>
          <a:ln w="12192">
            <a:solidFill>
              <a:srgbClr val="C8A83E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502919" y="1508760"/>
            <a:ext cx="5486400" cy="329565"/>
          </a:xfrm>
          <a:custGeom>
            <a:avLst/>
            <a:gdLst/>
            <a:ahLst/>
            <a:cxnLst/>
            <a:rect l="l" t="t" r="r" b="b"/>
            <a:pathLst>
              <a:path w="5486400" h="329564">
                <a:moveTo>
                  <a:pt x="0" y="329184"/>
                </a:moveTo>
                <a:lnTo>
                  <a:pt x="5486400" y="329184"/>
                </a:lnTo>
                <a:lnTo>
                  <a:pt x="5486400" y="0"/>
                </a:lnTo>
                <a:lnTo>
                  <a:pt x="0" y="0"/>
                </a:lnTo>
                <a:lnTo>
                  <a:pt x="0" y="329184"/>
                </a:lnTo>
                <a:close/>
              </a:path>
            </a:pathLst>
          </a:custGeom>
          <a:ln w="12192">
            <a:solidFill>
              <a:srgbClr val="1F4D3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496823" y="1502663"/>
            <a:ext cx="5499100" cy="341630"/>
          </a:xfrm>
          <a:prstGeom prst="rect">
            <a:avLst/>
          </a:prstGeom>
          <a:solidFill>
            <a:srgbClr val="1F4D39"/>
          </a:solidFill>
        </p:spPr>
        <p:txBody>
          <a:bodyPr vert="horz" wrap="square" lIns="0" tIns="86360" rIns="0" bIns="0" rtlCol="0">
            <a:spAutoFit/>
          </a:bodyPr>
          <a:lstStyle/>
          <a:p>
            <a:pPr>
              <a:defRPr sz="1000" b="1">
                <a:solidFill>
                  <a:srgbClr val="FFFFFF"/>
                </a:solidFill>
                <a:latin typeface="Calibri"/>
              </a:defRPr>
            </a:pPr>
            <a:r>
              <a:t>CONCLUSION</a:t>
            </a:r>
          </a:p>
        </p:txBody>
      </p:sp>
      <p:sp>
        <p:nvSpPr>
          <p:cNvPr id="10" name="object 10"/>
          <p:cNvSpPr/>
          <p:nvPr/>
        </p:nvSpPr>
        <p:spPr>
          <a:xfrm>
            <a:off x="6199632" y="1508760"/>
            <a:ext cx="5486400" cy="329565"/>
          </a:xfrm>
          <a:custGeom>
            <a:avLst/>
            <a:gdLst/>
            <a:ahLst/>
            <a:cxnLst/>
            <a:rect l="l" t="t" r="r" b="b"/>
            <a:pathLst>
              <a:path w="5486400" h="329564">
                <a:moveTo>
                  <a:pt x="0" y="329184"/>
                </a:moveTo>
                <a:lnTo>
                  <a:pt x="5486400" y="329184"/>
                </a:lnTo>
                <a:lnTo>
                  <a:pt x="5486400" y="0"/>
                </a:lnTo>
                <a:lnTo>
                  <a:pt x="0" y="0"/>
                </a:lnTo>
                <a:lnTo>
                  <a:pt x="0" y="329184"/>
                </a:lnTo>
                <a:close/>
              </a:path>
            </a:pathLst>
          </a:custGeom>
          <a:ln w="12192">
            <a:solidFill>
              <a:srgbClr val="1F4D3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6193535" y="1502663"/>
            <a:ext cx="5499100" cy="341630"/>
          </a:xfrm>
          <a:prstGeom prst="rect">
            <a:avLst/>
          </a:prstGeom>
          <a:solidFill>
            <a:srgbClr val="1F4D39"/>
          </a:solidFill>
        </p:spPr>
        <p:txBody>
          <a:bodyPr vert="horz" wrap="square" lIns="0" tIns="86360" rIns="0" bIns="0" rtlCol="0">
            <a:spAutoFit/>
          </a:bodyPr>
          <a:lstStyle/>
          <a:p>
            <a:pPr>
              <a:defRPr sz="1000" b="1">
                <a:solidFill>
                  <a:srgbClr val="FFFFFF"/>
                </a:solidFill>
                <a:latin typeface="Calibri"/>
              </a:defRPr>
            </a:pPr>
            <a:r>
              <a:t>FUTURE SCOPE</a:t>
            </a:r>
          </a:p>
        </p:txBody>
      </p:sp>
      <p:grpSp>
        <p:nvGrpSpPr>
          <p:cNvPr id="7" name="object 7"/>
          <p:cNvGrpSpPr/>
          <p:nvPr/>
        </p:nvGrpSpPr>
        <p:grpSpPr>
          <a:xfrm>
            <a:off x="498348" y="1833372"/>
            <a:ext cx="5495925" cy="4032885"/>
            <a:chOff x="498348" y="1833372"/>
            <a:chExt cx="5495925" cy="4032885"/>
          </a:xfrm>
        </p:grpSpPr>
        <p:sp>
          <p:nvSpPr>
            <p:cNvPr id="8" name="object 8"/>
            <p:cNvSpPr/>
            <p:nvPr/>
          </p:nvSpPr>
          <p:spPr>
            <a:xfrm>
              <a:off x="502920" y="1837944"/>
              <a:ext cx="5486400" cy="4023360"/>
            </a:xfrm>
            <a:custGeom>
              <a:avLst/>
              <a:gdLst/>
              <a:ahLst/>
              <a:cxnLst/>
              <a:rect l="l" t="t" r="r" b="b"/>
              <a:pathLst>
                <a:path w="5486400" h="4023360">
                  <a:moveTo>
                    <a:pt x="5413247" y="0"/>
                  </a:moveTo>
                  <a:lnTo>
                    <a:pt x="73151" y="0"/>
                  </a:lnTo>
                  <a:lnTo>
                    <a:pt x="44678" y="5750"/>
                  </a:lnTo>
                  <a:lnTo>
                    <a:pt x="21426" y="21431"/>
                  </a:lnTo>
                  <a:lnTo>
                    <a:pt x="5748" y="44684"/>
                  </a:lnTo>
                  <a:lnTo>
                    <a:pt x="0" y="73151"/>
                  </a:lnTo>
                  <a:lnTo>
                    <a:pt x="0" y="3950207"/>
                  </a:lnTo>
                  <a:lnTo>
                    <a:pt x="5748" y="3978681"/>
                  </a:lnTo>
                  <a:lnTo>
                    <a:pt x="21426" y="4001933"/>
                  </a:lnTo>
                  <a:lnTo>
                    <a:pt x="44678" y="4017611"/>
                  </a:lnTo>
                  <a:lnTo>
                    <a:pt x="73151" y="4023359"/>
                  </a:lnTo>
                  <a:lnTo>
                    <a:pt x="5413247" y="4023359"/>
                  </a:lnTo>
                  <a:lnTo>
                    <a:pt x="5441715" y="4017611"/>
                  </a:lnTo>
                  <a:lnTo>
                    <a:pt x="5464968" y="4001933"/>
                  </a:lnTo>
                  <a:lnTo>
                    <a:pt x="5480649" y="3978681"/>
                  </a:lnTo>
                  <a:lnTo>
                    <a:pt x="5486400" y="3950207"/>
                  </a:lnTo>
                  <a:lnTo>
                    <a:pt x="5486400" y="73151"/>
                  </a:lnTo>
                  <a:lnTo>
                    <a:pt x="5480649" y="44684"/>
                  </a:lnTo>
                  <a:lnTo>
                    <a:pt x="5464968" y="21431"/>
                  </a:lnTo>
                  <a:lnTo>
                    <a:pt x="5441715" y="5750"/>
                  </a:lnTo>
                  <a:lnTo>
                    <a:pt x="5413247" y="0"/>
                  </a:lnTo>
                  <a:close/>
                </a:path>
              </a:pathLst>
            </a:custGeom>
            <a:solidFill>
              <a:srgbClr val="F3F8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502920" y="1837944"/>
              <a:ext cx="5486400" cy="4023360"/>
            </a:xfrm>
            <a:custGeom>
              <a:avLst/>
              <a:gdLst/>
              <a:ahLst/>
              <a:cxnLst/>
              <a:rect l="l" t="t" r="r" b="b"/>
              <a:pathLst>
                <a:path w="5486400" h="4023360">
                  <a:moveTo>
                    <a:pt x="0" y="73151"/>
                  </a:moveTo>
                  <a:lnTo>
                    <a:pt x="5748" y="44684"/>
                  </a:lnTo>
                  <a:lnTo>
                    <a:pt x="21426" y="21431"/>
                  </a:lnTo>
                  <a:lnTo>
                    <a:pt x="44678" y="5750"/>
                  </a:lnTo>
                  <a:lnTo>
                    <a:pt x="73151" y="0"/>
                  </a:lnTo>
                  <a:lnTo>
                    <a:pt x="5413247" y="0"/>
                  </a:lnTo>
                  <a:lnTo>
                    <a:pt x="5441715" y="5750"/>
                  </a:lnTo>
                  <a:lnTo>
                    <a:pt x="5464968" y="21431"/>
                  </a:lnTo>
                  <a:lnTo>
                    <a:pt x="5480649" y="44684"/>
                  </a:lnTo>
                  <a:lnTo>
                    <a:pt x="5486400" y="73151"/>
                  </a:lnTo>
                  <a:lnTo>
                    <a:pt x="5486400" y="3950207"/>
                  </a:lnTo>
                  <a:lnTo>
                    <a:pt x="5480649" y="3978681"/>
                  </a:lnTo>
                  <a:lnTo>
                    <a:pt x="5464968" y="4001933"/>
                  </a:lnTo>
                  <a:lnTo>
                    <a:pt x="5441715" y="4017611"/>
                  </a:lnTo>
                  <a:lnTo>
                    <a:pt x="5413247" y="4023359"/>
                  </a:lnTo>
                  <a:lnTo>
                    <a:pt x="73151" y="4023359"/>
                  </a:lnTo>
                  <a:lnTo>
                    <a:pt x="44678" y="4017611"/>
                  </a:lnTo>
                  <a:lnTo>
                    <a:pt x="21426" y="4001933"/>
                  </a:lnTo>
                  <a:lnTo>
                    <a:pt x="5748" y="3978681"/>
                  </a:lnTo>
                  <a:lnTo>
                    <a:pt x="0" y="3950207"/>
                  </a:lnTo>
                  <a:lnTo>
                    <a:pt x="0" y="73151"/>
                  </a:lnTo>
                  <a:close/>
                </a:path>
              </a:pathLst>
            </a:custGeom>
            <a:ln w="9144">
              <a:solidFill>
                <a:srgbClr val="BED7C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5" name="object 15"/>
          <p:cNvSpPr txBox="1"/>
          <p:nvPr/>
        </p:nvSpPr>
        <p:spPr>
          <a:xfrm>
            <a:off x="718819" y="1913112"/>
            <a:ext cx="4897755" cy="1245870"/>
          </a:xfrm>
          <a:prstGeom prst="rect">
            <a:avLst/>
          </a:prstGeom>
        </p:spPr>
        <p:txBody>
          <a:bodyPr vert="horz" wrap="square" lIns="0" tIns="89535" rIns="0" bIns="0" rtlCol="0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150" b="1">
                <a:solidFill>
                  <a:srgbClr val="1A1A1A"/>
                </a:solidFill>
                <a:latin typeface="Calibri"/>
              </a:rPr>
              <a:t>Digital loan system </a:t>
            </a:r>
            <a:r>
              <a:rPr sz="1150" b="0">
                <a:solidFill>
                  <a:srgbClr val="1A1A1A"/>
                </a:solidFill>
                <a:latin typeface="Calibri"/>
              </a:rPr>
              <a:t>solving manual delays, fake documents, OTP theft, and opacity.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150" b="1">
                <a:solidFill>
                  <a:srgbClr val="1A1A1A"/>
                </a:solidFill>
                <a:latin typeface="Calibri"/>
              </a:rPr>
              <a:t>DigiLocker &amp; OCR </a:t>
            </a:r>
            <a:r>
              <a:rPr sz="1150" b="0">
                <a:solidFill>
                  <a:srgbClr val="1A1A1A"/>
                </a:solidFill>
                <a:latin typeface="Calibri"/>
              </a:rPr>
              <a:t>eliminate manual paperwork and forged certificates.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150" b="1">
                <a:solidFill>
                  <a:srgbClr val="1A1A1A"/>
                </a:solidFill>
                <a:latin typeface="Calibri"/>
              </a:rPr>
              <a:t>Tri-Biometric security </a:t>
            </a:r>
            <a:r>
              <a:rPr sz="1150" b="0">
                <a:solidFill>
                  <a:srgbClr val="1A1A1A"/>
                </a:solidFill>
                <a:latin typeface="Calibri"/>
              </a:rPr>
              <a:t>defeats identity theft via stolen OTPs.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150" b="1">
                <a:solidFill>
                  <a:srgbClr val="1A1A1A"/>
                </a:solidFill>
                <a:latin typeface="Calibri"/>
              </a:rPr>
              <a:t>EBM matches best ensemble: </a:t>
            </a:r>
            <a:r>
              <a:rPr sz="1150" b="0">
                <a:solidFill>
                  <a:srgbClr val="1A1A1A"/>
                </a:solidFill>
                <a:latin typeface="Calibri"/>
              </a:rPr>
              <a:t>85.37% accuracy, AUC 0.752 with 100% exact reasons.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150" b="1">
                <a:solidFill>
                  <a:srgbClr val="1A1A1A"/>
                </a:solidFill>
                <a:latin typeface="Calibri"/>
              </a:rPr>
              <a:t>Full working application </a:t>
            </a:r>
            <a:r>
              <a:rPr sz="1150" b="0">
                <a:solidFill>
                  <a:srgbClr val="1A1A1A"/>
                </a:solidFill>
                <a:latin typeface="Calibri"/>
              </a:rPr>
              <a:t>running locally and deployed live on GitHub Pages.</a:t>
            </a:r>
          </a:p>
        </p:txBody>
      </p:sp>
      <p:grpSp>
        <p:nvGrpSpPr>
          <p:cNvPr id="12" name="object 12"/>
          <p:cNvGrpSpPr/>
          <p:nvPr/>
        </p:nvGrpSpPr>
        <p:grpSpPr>
          <a:xfrm>
            <a:off x="6195059" y="1833372"/>
            <a:ext cx="5495925" cy="4032885"/>
            <a:chOff x="6195059" y="1833372"/>
            <a:chExt cx="5495925" cy="4032885"/>
          </a:xfrm>
        </p:grpSpPr>
        <p:sp>
          <p:nvSpPr>
            <p:cNvPr id="13" name="object 13"/>
            <p:cNvSpPr/>
            <p:nvPr/>
          </p:nvSpPr>
          <p:spPr>
            <a:xfrm>
              <a:off x="6199631" y="1837944"/>
              <a:ext cx="5486400" cy="4023360"/>
            </a:xfrm>
            <a:custGeom>
              <a:avLst/>
              <a:gdLst/>
              <a:ahLst/>
              <a:cxnLst/>
              <a:rect l="l" t="t" r="r" b="b"/>
              <a:pathLst>
                <a:path w="5486400" h="4023360">
                  <a:moveTo>
                    <a:pt x="5413247" y="0"/>
                  </a:moveTo>
                  <a:lnTo>
                    <a:pt x="73151" y="0"/>
                  </a:lnTo>
                  <a:lnTo>
                    <a:pt x="44684" y="5750"/>
                  </a:lnTo>
                  <a:lnTo>
                    <a:pt x="21431" y="21431"/>
                  </a:lnTo>
                  <a:lnTo>
                    <a:pt x="5750" y="44684"/>
                  </a:lnTo>
                  <a:lnTo>
                    <a:pt x="0" y="73151"/>
                  </a:lnTo>
                  <a:lnTo>
                    <a:pt x="0" y="3950207"/>
                  </a:lnTo>
                  <a:lnTo>
                    <a:pt x="5750" y="3978681"/>
                  </a:lnTo>
                  <a:lnTo>
                    <a:pt x="21431" y="4001933"/>
                  </a:lnTo>
                  <a:lnTo>
                    <a:pt x="44684" y="4017611"/>
                  </a:lnTo>
                  <a:lnTo>
                    <a:pt x="73151" y="4023359"/>
                  </a:lnTo>
                  <a:lnTo>
                    <a:pt x="5413247" y="4023359"/>
                  </a:lnTo>
                  <a:lnTo>
                    <a:pt x="5441715" y="4017611"/>
                  </a:lnTo>
                  <a:lnTo>
                    <a:pt x="5464968" y="4001933"/>
                  </a:lnTo>
                  <a:lnTo>
                    <a:pt x="5480649" y="3978681"/>
                  </a:lnTo>
                  <a:lnTo>
                    <a:pt x="5486399" y="3950207"/>
                  </a:lnTo>
                  <a:lnTo>
                    <a:pt x="5486399" y="73151"/>
                  </a:lnTo>
                  <a:lnTo>
                    <a:pt x="5480649" y="44684"/>
                  </a:lnTo>
                  <a:lnTo>
                    <a:pt x="5464968" y="21431"/>
                  </a:lnTo>
                  <a:lnTo>
                    <a:pt x="5441715" y="5750"/>
                  </a:lnTo>
                  <a:lnTo>
                    <a:pt x="5413247" y="0"/>
                  </a:lnTo>
                  <a:close/>
                </a:path>
              </a:pathLst>
            </a:custGeom>
            <a:solidFill>
              <a:srgbClr val="F3F8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6199631" y="1837944"/>
              <a:ext cx="5486400" cy="4023360"/>
            </a:xfrm>
            <a:custGeom>
              <a:avLst/>
              <a:gdLst/>
              <a:ahLst/>
              <a:cxnLst/>
              <a:rect l="l" t="t" r="r" b="b"/>
              <a:pathLst>
                <a:path w="5486400" h="4023360">
                  <a:moveTo>
                    <a:pt x="0" y="73151"/>
                  </a:moveTo>
                  <a:lnTo>
                    <a:pt x="5750" y="44684"/>
                  </a:lnTo>
                  <a:lnTo>
                    <a:pt x="21431" y="21431"/>
                  </a:lnTo>
                  <a:lnTo>
                    <a:pt x="44684" y="5750"/>
                  </a:lnTo>
                  <a:lnTo>
                    <a:pt x="73151" y="0"/>
                  </a:lnTo>
                  <a:lnTo>
                    <a:pt x="5413247" y="0"/>
                  </a:lnTo>
                  <a:lnTo>
                    <a:pt x="5441715" y="5750"/>
                  </a:lnTo>
                  <a:lnTo>
                    <a:pt x="5464968" y="21431"/>
                  </a:lnTo>
                  <a:lnTo>
                    <a:pt x="5480649" y="44684"/>
                  </a:lnTo>
                  <a:lnTo>
                    <a:pt x="5486399" y="73151"/>
                  </a:lnTo>
                  <a:lnTo>
                    <a:pt x="5486399" y="3950207"/>
                  </a:lnTo>
                  <a:lnTo>
                    <a:pt x="5480649" y="3978681"/>
                  </a:lnTo>
                  <a:lnTo>
                    <a:pt x="5464968" y="4001933"/>
                  </a:lnTo>
                  <a:lnTo>
                    <a:pt x="5441715" y="4017611"/>
                  </a:lnTo>
                  <a:lnTo>
                    <a:pt x="5413247" y="4023359"/>
                  </a:lnTo>
                  <a:lnTo>
                    <a:pt x="73151" y="4023359"/>
                  </a:lnTo>
                  <a:lnTo>
                    <a:pt x="44684" y="4017611"/>
                  </a:lnTo>
                  <a:lnTo>
                    <a:pt x="21431" y="4001933"/>
                  </a:lnTo>
                  <a:lnTo>
                    <a:pt x="5750" y="3978681"/>
                  </a:lnTo>
                  <a:lnTo>
                    <a:pt x="0" y="3950207"/>
                  </a:lnTo>
                  <a:lnTo>
                    <a:pt x="0" y="73151"/>
                  </a:lnTo>
                  <a:close/>
                </a:path>
              </a:pathLst>
            </a:custGeom>
            <a:ln w="9144">
              <a:solidFill>
                <a:srgbClr val="BED7C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6416421" y="1913112"/>
            <a:ext cx="4299585" cy="1059906"/>
          </a:xfrm>
          <a:prstGeom prst="rect">
            <a:avLst/>
          </a:prstGeom>
        </p:spPr>
        <p:txBody>
          <a:bodyPr vert="horz" wrap="square" lIns="0" tIns="89535" rIns="0" bIns="0" rtlCol="0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150" b="1">
                <a:solidFill>
                  <a:srgbClr val="1A1A1A"/>
                </a:solidFill>
                <a:latin typeface="Calibri"/>
              </a:rPr>
              <a:t>UIDAI Aadhaar FaceRD </a:t>
            </a:r>
            <a:r>
              <a:rPr sz="1150" b="0">
                <a:solidFill>
                  <a:srgbClr val="1A1A1A"/>
                </a:solidFill>
                <a:latin typeface="Calibri"/>
              </a:rPr>
              <a:t>mobile app integration for production biometrics.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150" b="1">
                <a:solidFill>
                  <a:srgbClr val="1A1A1A"/>
                </a:solidFill>
                <a:latin typeface="Calibri"/>
              </a:rPr>
              <a:t>Regional audio explanations </a:t>
            </a:r>
            <a:r>
              <a:rPr sz="1150" b="0">
                <a:solidFill>
                  <a:srgbClr val="1A1A1A"/>
                </a:solidFill>
                <a:latin typeface="Calibri"/>
              </a:rPr>
              <a:t>in Tamil and Hindi for adverse action notices.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150" b="1">
                <a:solidFill>
                  <a:srgbClr val="1A1A1A"/>
                </a:solidFill>
                <a:latin typeface="Calibri"/>
              </a:rPr>
              <a:t>Account Aggregator (AA) </a:t>
            </a:r>
            <a:r>
              <a:rPr sz="1150" b="0">
                <a:solidFill>
                  <a:srgbClr val="1A1A1A"/>
                </a:solidFill>
                <a:latin typeface="Calibri"/>
              </a:rPr>
              <a:t>automated bank statement health analysis.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150" b="1">
                <a:solidFill>
                  <a:srgbClr val="1A1A1A"/>
                </a:solidFill>
                <a:latin typeface="Calibri"/>
              </a:rPr>
              <a:t>Risk-based interest rates </a:t>
            </a:r>
            <a:r>
              <a:rPr sz="1150" b="0">
                <a:solidFill>
                  <a:srgbClr val="1A1A1A"/>
                </a:solidFill>
                <a:latin typeface="Calibri"/>
              </a:rPr>
              <a:t>offering lower rates to low-risk borrowers.</a:t>
            </a:r>
          </a:p>
        </p:txBody>
      </p:sp>
      <p:sp>
        <p:nvSpPr>
          <p:cNvPr id="18" name="object 18"/>
          <p:cNvSpPr txBox="1">
            <a:spLocks noGrp="1"/>
          </p:cNvSpPr>
          <p:nvPr>
            <p:ph type="dt" sz="half" idx="6"/>
          </p:nvPr>
        </p:nvSpPr>
        <p:spPr>
          <a:xfrm>
            <a:off x="490219" y="6531584"/>
            <a:ext cx="610235" cy="11541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910"/>
              </a:lnSpc>
            </a:pPr>
            <a:r>
              <a:rPr spc="-10" dirty="0"/>
              <a:t>[3</a:t>
            </a:r>
            <a:r>
              <a:rPr lang="en-US" spc="-10" dirty="0"/>
              <a:t>1</a:t>
            </a:r>
            <a:r>
              <a:rPr spc="-10" dirty="0"/>
              <a:t>/10/2026]</a:t>
            </a:r>
          </a:p>
        </p:txBody>
      </p:sp>
      <p:sp>
        <p:nvSpPr>
          <p:cNvPr id="19" name="object 19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910"/>
              </a:lnSpc>
            </a:pPr>
            <a:r>
              <a:rPr spc="-10" dirty="0"/>
              <a:t>Smart Digital Lending System with AI-Based Risk Analysis</a:t>
            </a:r>
          </a:p>
        </p:txBody>
      </p:sp>
      <p:sp>
        <p:nvSpPr>
          <p:cNvPr id="17" name="object 17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955"/>
              </a:lnSpc>
            </a:pPr>
            <a:fld id="{81D60167-4931-47E6-BA6A-407CBD079E47}" type="slidenum">
              <a:rPr spc="-25" dirty="0"/>
              <a:t>15</a:t>
            </a:fld>
            <a:endParaRPr spc="-25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defRPr sz="2200" b="1">
                <a:solidFill>
                  <a:srgbClr val="1F4D39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017390" y="3633597"/>
            <a:ext cx="415226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defRPr sz="1600">
                <a:solidFill>
                  <a:srgbClr val="6B6B6B"/>
                </a:solidFill>
                <a:latin typeface="Calibri"/>
              </a:defRPr>
            </a:pPr>
            <a:r>
              <a:t>Questions, Comments &amp; Suggestions are Welcome</a:t>
            </a:r>
          </a:p>
        </p:txBody>
      </p:sp>
      <p:sp>
        <p:nvSpPr>
          <p:cNvPr id="5" name="object 5"/>
          <p:cNvSpPr txBox="1">
            <a:spLocks noGrp="1"/>
          </p:cNvSpPr>
          <p:nvPr>
            <p:ph type="dt" sz="half" idx="6"/>
          </p:nvPr>
        </p:nvSpPr>
        <p:spPr>
          <a:xfrm>
            <a:off x="490219" y="6531584"/>
            <a:ext cx="610235" cy="11541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910"/>
              </a:lnSpc>
            </a:pPr>
            <a:r>
              <a:rPr spc="-10" dirty="0"/>
              <a:t>[3</a:t>
            </a:r>
            <a:r>
              <a:rPr lang="en-US" spc="-10" dirty="0"/>
              <a:t>1</a:t>
            </a:r>
            <a:r>
              <a:rPr spc="-10" dirty="0"/>
              <a:t>/10/2026]</a:t>
            </a:r>
          </a:p>
        </p:txBody>
      </p:sp>
      <p:sp>
        <p:nvSpPr>
          <p:cNvPr id="6" name="object 6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910"/>
              </a:lnSpc>
            </a:pPr>
            <a:r>
              <a:rPr spc="-10" dirty="0"/>
              <a:t>Smart Digital Lending System with AI-Based Risk Analysis</a:t>
            </a: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955"/>
              </a:lnSpc>
            </a:pPr>
            <a:fld id="{81D60167-4931-47E6-BA6A-407CBD079E47}" type="slidenum">
              <a:rPr spc="-25" dirty="0"/>
              <a:t>16</a:t>
            </a:fld>
            <a:endParaRPr spc="-25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</TotalTime>
  <Words>2520</Words>
  <Application>Microsoft Office PowerPoint</Application>
  <PresentationFormat>Widescreen</PresentationFormat>
  <Paragraphs>470</Paragraphs>
  <Slides>16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7" baseType="lpstr">
      <vt:lpstr>Office Theme</vt:lpstr>
      <vt:lpstr>SRI RAMAKRISHNA INSTITUTE OF TECHNOLOGY</vt:lpstr>
      <vt:lpstr>ABSTRACT</vt:lpstr>
      <vt:lpstr>PROBLEM STATEMENT AND MOTIVATION</vt:lpstr>
      <vt:lpstr>OBJECTIVES</vt:lpstr>
      <vt:lpstr>LITERATURE REVIEW AND RESEARCH GAP</vt:lpstr>
      <vt:lpstr>PROPOSED METHODOLOGY</vt:lpstr>
      <vt:lpstr>SYSTEM ARCHITECTURE</vt:lpstr>
      <vt:lpstr>KEY CONTRIBUTION: EXPLAINABLE EBM ENGINE</vt:lpstr>
      <vt:lpstr>AFFORDABILITY FORMULAS AND DECISION RULES</vt:lpstr>
      <vt:lpstr>TECHNOLOGY STACK AND SERVICE DESIGN</vt:lpstr>
      <vt:lpstr>IMPLEMENTATION STATUS (PHASE I)</vt:lpstr>
      <vt:lpstr>RESULTS: MODEL COMPARISON ON THE TEST SET</vt:lpstr>
      <vt:lpstr>RESULTS: SAMPLE PREDICTIONS AND ABLATION</vt:lpstr>
      <vt:lpstr>LIMITATIONS AND NOT YET MEASURED</vt:lpstr>
      <vt:lpstr>CONCLUSION AND FUTURE SCOPE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Real-Time Multi-Camera People Counting, Tracking and Crowd Monitoring System</dc:title>
  <dc:subject>PptxGenJS Presentation</dc:subject>
  <dc:creator>PptxGenJS</dc:creator>
  <cp:lastModifiedBy>91956</cp:lastModifiedBy>
  <cp:revision>19</cp:revision>
  <dcterms:created xsi:type="dcterms:W3CDTF">2026-10-29T18:26:56Z</dcterms:created>
  <dcterms:modified xsi:type="dcterms:W3CDTF">2026-10-30T04:04:46Z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v10.0.20290.1</vt:lpwstr>
  </property>
  <property fmtid="{D5CDD505-2E9C-101B-9397-08002B2CF9AE}" pid="3" name="Created">
    <vt:filetime>2026-10-29T00:00:00Z</vt:filetime>
  </property>
  <property fmtid="{D5CDD505-2E9C-101B-9397-08002B2CF9AE}" pid="4" name="Creator">
    <vt:lpwstr>Microsoft® PowerPoint® 2016</vt:lpwstr>
  </property>
  <property fmtid="{D5CDD505-2E9C-101B-9397-08002B2CF9AE}" pid="5" name="LastSaved">
    <vt:filetime>2026-10-29T00:00:00Z</vt:filetime>
  </property>
  <property fmtid="{D5CDD505-2E9C-101B-9397-08002B2CF9AE}" pid="6" name="Producer">
    <vt:lpwstr>Microsoft® PowerPoint® 2016</vt:lpwstr>
  </property>
</Properties>
</file>