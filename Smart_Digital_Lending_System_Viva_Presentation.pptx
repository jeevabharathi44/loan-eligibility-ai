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2B558-5D5F-4539-9109-80A3D1164470}" v="31" dt="2026-10-30T04:02:23.4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43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9460" cy="274320"/>
          </a:xfrm>
          <a:custGeom>
            <a:avLst/>
            <a:gdLst/>
            <a:ahLst/>
            <a:cxnLst/>
            <a:rect l="l" t="t" r="r" b="b"/>
            <a:pathLst>
              <a:path w="12189460" h="274320">
                <a:moveTo>
                  <a:pt x="12188952" y="0"/>
                </a:moveTo>
                <a:lnTo>
                  <a:pt x="0" y="0"/>
                </a:lnTo>
                <a:lnTo>
                  <a:pt x="0" y="274320"/>
                </a:lnTo>
                <a:lnTo>
                  <a:pt x="12188952" y="274320"/>
                </a:lnTo>
                <a:lnTo>
                  <a:pt x="12188952" y="0"/>
                </a:lnTo>
                <a:close/>
              </a:path>
            </a:pathLst>
          </a:custGeom>
          <a:solidFill>
            <a:srgbClr val="C8A8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2919" y="6400800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9144">
            <a:solidFill>
              <a:srgbClr val="BED7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8928" y="1417319"/>
            <a:ext cx="566927" cy="74980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1417319"/>
            <a:ext cx="585216" cy="74980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0344" y="816863"/>
            <a:ext cx="432816" cy="31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40834" y="2679014"/>
            <a:ext cx="3865245" cy="78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F4D3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1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spc="-10" dirty="0"/>
              <a:t>Multi-</a:t>
            </a:r>
            <a:r>
              <a:rPr dirty="0"/>
              <a:t>Camera</a:t>
            </a:r>
            <a:r>
              <a:rPr spc="-15" dirty="0"/>
              <a:t> </a:t>
            </a:r>
            <a:r>
              <a:rPr dirty="0"/>
              <a:t>People</a:t>
            </a:r>
            <a:r>
              <a:rPr spc="-30" dirty="0"/>
              <a:t> </a:t>
            </a:r>
            <a:r>
              <a:rPr dirty="0"/>
              <a:t>Counting,</a:t>
            </a:r>
            <a:r>
              <a:rPr spc="-20" dirty="0"/>
              <a:t> </a:t>
            </a:r>
            <a:r>
              <a:rPr dirty="0"/>
              <a:t>Tracking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Crowd</a:t>
            </a:r>
            <a:r>
              <a:rPr spc="-5" dirty="0"/>
              <a:t> </a:t>
            </a:r>
            <a:r>
              <a:rPr dirty="0"/>
              <a:t>Monitoring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[13/10/2026]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D3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1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spc="-10" dirty="0"/>
              <a:t>Multi-</a:t>
            </a:r>
            <a:r>
              <a:rPr dirty="0"/>
              <a:t>Camera</a:t>
            </a:r>
            <a:r>
              <a:rPr spc="-15" dirty="0"/>
              <a:t> </a:t>
            </a:r>
            <a:r>
              <a:rPr dirty="0"/>
              <a:t>People</a:t>
            </a:r>
            <a:r>
              <a:rPr spc="-30" dirty="0"/>
              <a:t> </a:t>
            </a:r>
            <a:r>
              <a:rPr dirty="0"/>
              <a:t>Counting,</a:t>
            </a:r>
            <a:r>
              <a:rPr spc="-20" dirty="0"/>
              <a:t> </a:t>
            </a:r>
            <a:r>
              <a:rPr dirty="0"/>
              <a:t>Tracking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Crowd</a:t>
            </a:r>
            <a:r>
              <a:rPr spc="-5" dirty="0"/>
              <a:t> </a:t>
            </a:r>
            <a:r>
              <a:rPr dirty="0"/>
              <a:t>Monitoring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[13/10/2026]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D3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1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spc="-10" dirty="0"/>
              <a:t>Multi-</a:t>
            </a:r>
            <a:r>
              <a:rPr dirty="0"/>
              <a:t>Camera</a:t>
            </a:r>
            <a:r>
              <a:rPr spc="-15" dirty="0"/>
              <a:t> </a:t>
            </a:r>
            <a:r>
              <a:rPr dirty="0"/>
              <a:t>People</a:t>
            </a:r>
            <a:r>
              <a:rPr spc="-30" dirty="0"/>
              <a:t> </a:t>
            </a:r>
            <a:r>
              <a:rPr dirty="0"/>
              <a:t>Counting,</a:t>
            </a:r>
            <a:r>
              <a:rPr spc="-20" dirty="0"/>
              <a:t> </a:t>
            </a:r>
            <a:r>
              <a:rPr dirty="0"/>
              <a:t>Tracking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Crowd</a:t>
            </a:r>
            <a:r>
              <a:rPr spc="-5" dirty="0"/>
              <a:t> </a:t>
            </a:r>
            <a:r>
              <a:rPr dirty="0"/>
              <a:t>Monitoring </a:t>
            </a:r>
            <a:r>
              <a:rPr spc="-10" dirty="0"/>
              <a:t>System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[13/10/2026]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D3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1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spc="-10" dirty="0"/>
              <a:t>Multi-</a:t>
            </a:r>
            <a:r>
              <a:rPr dirty="0"/>
              <a:t>Camera</a:t>
            </a:r>
            <a:r>
              <a:rPr spc="-15" dirty="0"/>
              <a:t> </a:t>
            </a:r>
            <a:r>
              <a:rPr dirty="0"/>
              <a:t>People</a:t>
            </a:r>
            <a:r>
              <a:rPr spc="-30" dirty="0"/>
              <a:t> </a:t>
            </a:r>
            <a:r>
              <a:rPr dirty="0"/>
              <a:t>Counting,</a:t>
            </a:r>
            <a:r>
              <a:rPr spc="-20" dirty="0"/>
              <a:t> </a:t>
            </a:r>
            <a:r>
              <a:rPr dirty="0"/>
              <a:t>Tracking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Crowd</a:t>
            </a:r>
            <a:r>
              <a:rPr spc="-5" dirty="0"/>
              <a:t> </a:t>
            </a:r>
            <a:r>
              <a:rPr dirty="0"/>
              <a:t>Monitoring </a:t>
            </a:r>
            <a:r>
              <a:rPr spc="-10" dirty="0"/>
              <a:t>System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[13/10/2026]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1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spc="-10" dirty="0"/>
              <a:t>Multi-</a:t>
            </a:r>
            <a:r>
              <a:rPr dirty="0"/>
              <a:t>Camera</a:t>
            </a:r>
            <a:r>
              <a:rPr spc="-15" dirty="0"/>
              <a:t> </a:t>
            </a:r>
            <a:r>
              <a:rPr dirty="0"/>
              <a:t>People</a:t>
            </a:r>
            <a:r>
              <a:rPr spc="-30" dirty="0"/>
              <a:t> </a:t>
            </a:r>
            <a:r>
              <a:rPr dirty="0"/>
              <a:t>Counting,</a:t>
            </a:r>
            <a:r>
              <a:rPr spc="-20" dirty="0"/>
              <a:t> </a:t>
            </a:r>
            <a:r>
              <a:rPr dirty="0"/>
              <a:t>Tracking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Crowd</a:t>
            </a:r>
            <a:r>
              <a:rPr spc="-5" dirty="0"/>
              <a:t> </a:t>
            </a:r>
            <a:r>
              <a:rPr dirty="0"/>
              <a:t>Monitoring </a:t>
            </a:r>
            <a:r>
              <a:rPr spc="-10" dirty="0"/>
              <a:t>System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[13/10/2026]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9460" cy="274320"/>
          </a:xfrm>
          <a:custGeom>
            <a:avLst/>
            <a:gdLst/>
            <a:ahLst/>
            <a:cxnLst/>
            <a:rect l="l" t="t" r="r" b="b"/>
            <a:pathLst>
              <a:path w="12189460" h="274320">
                <a:moveTo>
                  <a:pt x="12188952" y="0"/>
                </a:moveTo>
                <a:lnTo>
                  <a:pt x="0" y="0"/>
                </a:lnTo>
                <a:lnTo>
                  <a:pt x="0" y="274320"/>
                </a:lnTo>
                <a:lnTo>
                  <a:pt x="12188952" y="274320"/>
                </a:lnTo>
                <a:lnTo>
                  <a:pt x="12188952" y="0"/>
                </a:lnTo>
                <a:close/>
              </a:path>
            </a:pathLst>
          </a:custGeom>
          <a:solidFill>
            <a:srgbClr val="C8A8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2919" y="6400800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9144">
            <a:solidFill>
              <a:srgbClr val="BED7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435610"/>
            <a:ext cx="815085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F4D3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1644" y="1551305"/>
            <a:ext cx="11266170" cy="411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74058" y="6531584"/>
            <a:ext cx="360997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1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spc="-10" dirty="0"/>
              <a:t>Multi-</a:t>
            </a:r>
            <a:r>
              <a:rPr dirty="0"/>
              <a:t>Camera</a:t>
            </a:r>
            <a:r>
              <a:rPr spc="-15" dirty="0"/>
              <a:t> </a:t>
            </a:r>
            <a:r>
              <a:rPr dirty="0"/>
              <a:t>People</a:t>
            </a:r>
            <a:r>
              <a:rPr spc="-30" dirty="0"/>
              <a:t> </a:t>
            </a:r>
            <a:r>
              <a:rPr dirty="0"/>
              <a:t>Counting,</a:t>
            </a:r>
            <a:r>
              <a:rPr spc="-20" dirty="0"/>
              <a:t> </a:t>
            </a:r>
            <a:r>
              <a:rPr dirty="0"/>
              <a:t>Tracking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Crowd</a:t>
            </a:r>
            <a:r>
              <a:rPr spc="-5" dirty="0"/>
              <a:t> </a:t>
            </a:r>
            <a:r>
              <a:rPr dirty="0"/>
              <a:t>Monitoring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B6B6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[13/10/2026]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85880" y="6510858"/>
            <a:ext cx="2559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89460" cy="274320"/>
          </a:xfrm>
          <a:custGeom>
            <a:avLst/>
            <a:gdLst/>
            <a:ahLst/>
            <a:cxnLst/>
            <a:rect l="l" t="t" r="r" b="b"/>
            <a:pathLst>
              <a:path w="12189460" h="274320">
                <a:moveTo>
                  <a:pt x="12188952" y="0"/>
                </a:moveTo>
                <a:lnTo>
                  <a:pt x="0" y="0"/>
                </a:lnTo>
                <a:lnTo>
                  <a:pt x="0" y="274320"/>
                </a:lnTo>
                <a:lnTo>
                  <a:pt x="12188952" y="274320"/>
                </a:lnTo>
                <a:lnTo>
                  <a:pt x="12188952" y="0"/>
                </a:lnTo>
                <a:close/>
              </a:path>
            </a:pathLst>
          </a:custGeom>
          <a:solidFill>
            <a:srgbClr val="C8A83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tr/sri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338327"/>
            <a:ext cx="548640" cy="73152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565273" y="328371"/>
            <a:ext cx="7030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SRI</a:t>
            </a:r>
            <a:r>
              <a:rPr sz="2500" spc="-35" dirty="0"/>
              <a:t> </a:t>
            </a:r>
            <a:r>
              <a:rPr sz="2500" spc="-10" dirty="0"/>
              <a:t>RAMAKRISHNA</a:t>
            </a:r>
            <a:r>
              <a:rPr sz="2500" spc="-65" dirty="0"/>
              <a:t> </a:t>
            </a:r>
            <a:r>
              <a:rPr sz="2500" spc="-10" dirty="0"/>
              <a:t>INSTITUTE</a:t>
            </a:r>
            <a:r>
              <a:rPr sz="2500" spc="-5" dirty="0"/>
              <a:t> </a:t>
            </a:r>
            <a:r>
              <a:rPr sz="2500" dirty="0"/>
              <a:t>OF</a:t>
            </a:r>
            <a:r>
              <a:rPr sz="2500" spc="-40" dirty="0"/>
              <a:t> </a:t>
            </a:r>
            <a:r>
              <a:rPr sz="2500" spc="-10" dirty="0"/>
              <a:t>TECHNOLOGY</a:t>
            </a:r>
            <a:endParaRPr sz="2500"/>
          </a:p>
        </p:txBody>
      </p:sp>
      <p:pic>
        <p:nvPicPr>
          <p:cNvPr id="6" name="object 6" descr="tr/snr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4240" y="338327"/>
            <a:ext cx="566927" cy="73152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200400" y="1371600"/>
            <a:ext cx="5760720" cy="0"/>
          </a:xfrm>
          <a:custGeom>
            <a:avLst/>
            <a:gdLst/>
            <a:ahLst/>
            <a:cxnLst/>
            <a:rect l="l" t="t" r="r" b="b"/>
            <a:pathLst>
              <a:path w="5760720">
                <a:moveTo>
                  <a:pt x="0" y="0"/>
                </a:moveTo>
                <a:lnTo>
                  <a:pt x="5760720" y="0"/>
                </a:lnTo>
              </a:path>
            </a:pathLst>
          </a:custGeom>
          <a:ln w="9144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76421" y="694214"/>
            <a:ext cx="5408930" cy="988694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(An</a:t>
            </a:r>
            <a:r>
              <a:rPr sz="1050" i="1" spc="-40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Autonomous</a:t>
            </a:r>
            <a:r>
              <a:rPr sz="1050" i="1" spc="-10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Institution)</a:t>
            </a:r>
            <a:r>
              <a:rPr sz="1050" i="1" spc="22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·</a:t>
            </a:r>
            <a:r>
              <a:rPr sz="1050" i="1" spc="240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Pachapalayam,</a:t>
            </a:r>
            <a:r>
              <a:rPr sz="1050" i="1" spc="-2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Perur</a:t>
            </a:r>
            <a:r>
              <a:rPr sz="1050" i="1" spc="-30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Chettipalayam,</a:t>
            </a:r>
            <a:r>
              <a:rPr sz="1050" i="1" spc="-2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Coimbatore</a:t>
            </a:r>
            <a:r>
              <a:rPr sz="1050" i="1" spc="-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-</a:t>
            </a:r>
            <a:r>
              <a:rPr sz="1050" i="1" spc="-1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6B6B6B"/>
                </a:solidFill>
                <a:latin typeface="Arial"/>
                <a:cs typeface="Arial"/>
              </a:rPr>
              <a:t>641</a:t>
            </a:r>
            <a:r>
              <a:rPr sz="1050" i="1" spc="-30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050" i="1" spc="-25" dirty="0">
                <a:solidFill>
                  <a:srgbClr val="6B6B6B"/>
                </a:solidFill>
                <a:latin typeface="Arial"/>
                <a:cs typeface="Arial"/>
              </a:rPr>
              <a:t>010</a:t>
            </a:r>
            <a:endParaRPr sz="1050">
              <a:latin typeface="Arial"/>
              <a:cs typeface="Arial"/>
            </a:endParaRPr>
          </a:p>
          <a:p>
            <a:pPr marR="11430" algn="ctr">
              <a:lnSpc>
                <a:spcPct val="100000"/>
              </a:lnSpc>
              <a:spcBef>
                <a:spcPts val="810"/>
              </a:spcBef>
            </a:pPr>
            <a:r>
              <a:rPr sz="1200" b="1" spc="75" dirty="0">
                <a:solidFill>
                  <a:srgbClr val="1F4D39"/>
                </a:solidFill>
                <a:latin typeface="Arial"/>
                <a:cs typeface="Arial"/>
              </a:rPr>
              <a:t>DEPARTMENT</a:t>
            </a:r>
            <a:r>
              <a:rPr sz="1200" b="1" spc="280" dirty="0">
                <a:solidFill>
                  <a:srgbClr val="1F4D3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F4D39"/>
                </a:solidFill>
                <a:latin typeface="Arial"/>
                <a:cs typeface="Arial"/>
              </a:rPr>
              <a:t>OF</a:t>
            </a:r>
            <a:r>
              <a:rPr sz="1200" b="1" spc="229" dirty="0">
                <a:solidFill>
                  <a:srgbClr val="1F4D39"/>
                </a:solidFill>
                <a:latin typeface="Arial"/>
                <a:cs typeface="Arial"/>
              </a:rPr>
              <a:t> </a:t>
            </a:r>
            <a:r>
              <a:rPr sz="1200" b="1" spc="75" dirty="0">
                <a:solidFill>
                  <a:srgbClr val="1F4D39"/>
                </a:solidFill>
                <a:latin typeface="Arial"/>
                <a:cs typeface="Arial"/>
              </a:rPr>
              <a:t>COMPUTER</a:t>
            </a:r>
            <a:r>
              <a:rPr sz="1200" b="1" spc="254" dirty="0">
                <a:solidFill>
                  <a:srgbClr val="1F4D39"/>
                </a:solidFill>
                <a:latin typeface="Arial"/>
                <a:cs typeface="Arial"/>
              </a:rPr>
              <a:t> </a:t>
            </a:r>
            <a:r>
              <a:rPr sz="1200" b="1" spc="75" dirty="0">
                <a:solidFill>
                  <a:srgbClr val="1F4D39"/>
                </a:solidFill>
                <a:latin typeface="Arial"/>
                <a:cs typeface="Arial"/>
              </a:rPr>
              <a:t>SCIENCE</a:t>
            </a:r>
            <a:r>
              <a:rPr sz="1200" b="1" spc="250" dirty="0">
                <a:solidFill>
                  <a:srgbClr val="1F4D39"/>
                </a:solidFill>
                <a:latin typeface="Arial"/>
                <a:cs typeface="Arial"/>
              </a:rPr>
              <a:t> </a:t>
            </a:r>
            <a:r>
              <a:rPr sz="1200" b="1" spc="45" dirty="0">
                <a:solidFill>
                  <a:srgbClr val="1F4D39"/>
                </a:solidFill>
                <a:latin typeface="Arial"/>
                <a:cs typeface="Arial"/>
              </a:rPr>
              <a:t>AND</a:t>
            </a:r>
            <a:r>
              <a:rPr sz="1200" b="1" spc="270" dirty="0">
                <a:solidFill>
                  <a:srgbClr val="1F4D39"/>
                </a:solidFill>
                <a:latin typeface="Arial"/>
                <a:cs typeface="Arial"/>
              </a:rPr>
              <a:t> </a:t>
            </a:r>
            <a:r>
              <a:rPr sz="1200" b="1" spc="70" dirty="0">
                <a:solidFill>
                  <a:srgbClr val="1F4D39"/>
                </a:solidFill>
                <a:latin typeface="Arial"/>
                <a:cs typeface="Arial"/>
              </a:rPr>
              <a:t>ENGINEERING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20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</a:pP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20CS902</a:t>
            </a:r>
            <a:r>
              <a:rPr sz="1300" spc="24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-FINAL</a:t>
            </a:r>
            <a:r>
              <a:rPr sz="1300" spc="229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YEAR</a:t>
            </a:r>
            <a:r>
              <a:rPr sz="1300" spc="22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PROJECT</a:t>
            </a:r>
            <a:r>
              <a:rPr sz="1300" spc="22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PHASE</a:t>
            </a:r>
            <a:r>
              <a:rPr sz="1300" spc="20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I</a:t>
            </a:r>
            <a:r>
              <a:rPr sz="1300" spc="165" dirty="0">
                <a:solidFill>
                  <a:srgbClr val="C8A83E"/>
                </a:solidFill>
                <a:latin typeface="Arial"/>
                <a:cs typeface="Arial"/>
              </a:rPr>
              <a:t>  </a:t>
            </a: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|</a:t>
            </a:r>
            <a:r>
              <a:rPr sz="1300" spc="170" dirty="0">
                <a:solidFill>
                  <a:srgbClr val="C8A83E"/>
                </a:solidFill>
                <a:latin typeface="Arial"/>
                <a:cs typeface="Arial"/>
              </a:rPr>
              <a:t>  </a:t>
            </a:r>
            <a:r>
              <a:rPr sz="1300" dirty="0">
                <a:solidFill>
                  <a:srgbClr val="C8A83E"/>
                </a:solidFill>
                <a:latin typeface="Arial"/>
                <a:cs typeface="Arial"/>
              </a:rPr>
              <a:t>VIVA</a:t>
            </a:r>
            <a:r>
              <a:rPr sz="1300" spc="204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C8A83E"/>
                </a:solidFill>
                <a:latin typeface="Arial"/>
                <a:cs typeface="Arial"/>
              </a:rPr>
              <a:t>VOCE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86967" y="1792223"/>
            <a:ext cx="10416540" cy="1089660"/>
            <a:chOff x="886967" y="1792223"/>
            <a:chExt cx="10416540" cy="1089660"/>
          </a:xfrm>
        </p:grpSpPr>
        <p:sp>
          <p:nvSpPr>
            <p:cNvPr id="11" name="object 11"/>
            <p:cNvSpPr/>
            <p:nvPr/>
          </p:nvSpPr>
          <p:spPr>
            <a:xfrm>
              <a:off x="896873" y="1802129"/>
              <a:ext cx="10396855" cy="1069975"/>
            </a:xfrm>
            <a:custGeom>
              <a:avLst/>
              <a:gdLst/>
              <a:ahLst/>
              <a:cxnLst/>
              <a:rect l="l" t="t" r="r" b="b"/>
              <a:pathLst>
                <a:path w="10396855" h="1069975">
                  <a:moveTo>
                    <a:pt x="10323576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996696"/>
                  </a:lnTo>
                  <a:lnTo>
                    <a:pt x="5748" y="1025163"/>
                  </a:lnTo>
                  <a:lnTo>
                    <a:pt x="21426" y="1048416"/>
                  </a:lnTo>
                  <a:lnTo>
                    <a:pt x="44678" y="1064097"/>
                  </a:lnTo>
                  <a:lnTo>
                    <a:pt x="73151" y="1069848"/>
                  </a:lnTo>
                  <a:lnTo>
                    <a:pt x="10323576" y="1069848"/>
                  </a:lnTo>
                  <a:lnTo>
                    <a:pt x="10352043" y="1064097"/>
                  </a:lnTo>
                  <a:lnTo>
                    <a:pt x="10375296" y="1048416"/>
                  </a:lnTo>
                  <a:lnTo>
                    <a:pt x="10390977" y="1025163"/>
                  </a:lnTo>
                  <a:lnTo>
                    <a:pt x="10396728" y="996696"/>
                  </a:lnTo>
                  <a:lnTo>
                    <a:pt x="10396728" y="73152"/>
                  </a:lnTo>
                  <a:lnTo>
                    <a:pt x="10390977" y="44684"/>
                  </a:lnTo>
                  <a:lnTo>
                    <a:pt x="10375296" y="21431"/>
                  </a:lnTo>
                  <a:lnTo>
                    <a:pt x="10352043" y="5750"/>
                  </a:lnTo>
                  <a:lnTo>
                    <a:pt x="10323576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6873" y="1802129"/>
              <a:ext cx="10396855" cy="1069975"/>
            </a:xfrm>
            <a:custGeom>
              <a:avLst/>
              <a:gdLst/>
              <a:ahLst/>
              <a:cxnLst/>
              <a:rect l="l" t="t" r="r" b="b"/>
              <a:pathLst>
                <a:path w="10396855" h="1069975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10323576" y="0"/>
                  </a:lnTo>
                  <a:lnTo>
                    <a:pt x="10352043" y="5750"/>
                  </a:lnTo>
                  <a:lnTo>
                    <a:pt x="10375296" y="21431"/>
                  </a:lnTo>
                  <a:lnTo>
                    <a:pt x="10390977" y="44684"/>
                  </a:lnTo>
                  <a:lnTo>
                    <a:pt x="10396728" y="73152"/>
                  </a:lnTo>
                  <a:lnTo>
                    <a:pt x="10396728" y="996696"/>
                  </a:lnTo>
                  <a:lnTo>
                    <a:pt x="10390977" y="1025163"/>
                  </a:lnTo>
                  <a:lnTo>
                    <a:pt x="10375296" y="1048416"/>
                  </a:lnTo>
                  <a:lnTo>
                    <a:pt x="10352043" y="1064097"/>
                  </a:lnTo>
                  <a:lnTo>
                    <a:pt x="10323576" y="1069848"/>
                  </a:lnTo>
                  <a:lnTo>
                    <a:pt x="73151" y="1069848"/>
                  </a:lnTo>
                  <a:lnTo>
                    <a:pt x="44678" y="1064097"/>
                  </a:lnTo>
                  <a:lnTo>
                    <a:pt x="21426" y="1048416"/>
                  </a:lnTo>
                  <a:lnTo>
                    <a:pt x="5748" y="1025163"/>
                  </a:lnTo>
                  <a:lnTo>
                    <a:pt x="0" y="996696"/>
                  </a:lnTo>
                  <a:lnTo>
                    <a:pt x="0" y="73152"/>
                  </a:lnTo>
                  <a:close/>
                </a:path>
              </a:pathLst>
            </a:custGeom>
            <a:ln w="19811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53058" y="2139823"/>
            <a:ext cx="9480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solidFill>
                  <a:srgbClr val="1F4D39"/>
                </a:solidFill>
                <a:latin typeface="Calibri"/>
              </a:defRPr>
            </a:pPr>
            <a:r>
              <a:t>Smart Digital Lending System with Automated Document Verification, Biometric Security and Explainable AI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16092" y="2968879"/>
            <a:ext cx="1557655" cy="182742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>
              <a:defRPr sz="1000" b="1">
                <a:solidFill>
                  <a:srgbClr val="6B6B6B"/>
                </a:solidFill>
                <a:latin typeface="Calibri"/>
              </a:defRPr>
            </a:pPr>
            <a:r>
              <a:t>Batch No: [01] • Viva Voce Presentation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635508" y="3259835"/>
            <a:ext cx="10927080" cy="2386965"/>
            <a:chOff x="635508" y="3259835"/>
            <a:chExt cx="10927080" cy="2386965"/>
          </a:xfrm>
        </p:grpSpPr>
        <p:sp>
          <p:nvSpPr>
            <p:cNvPr id="16" name="object 16"/>
            <p:cNvSpPr/>
            <p:nvPr/>
          </p:nvSpPr>
          <p:spPr>
            <a:xfrm>
              <a:off x="640080" y="3264407"/>
              <a:ext cx="10918190" cy="2377440"/>
            </a:xfrm>
            <a:custGeom>
              <a:avLst/>
              <a:gdLst/>
              <a:ahLst/>
              <a:cxnLst/>
              <a:rect l="l" t="t" r="r" b="b"/>
              <a:pathLst>
                <a:path w="10918190" h="2377440">
                  <a:moveTo>
                    <a:pt x="10844784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304288"/>
                  </a:lnTo>
                  <a:lnTo>
                    <a:pt x="5748" y="2332761"/>
                  </a:lnTo>
                  <a:lnTo>
                    <a:pt x="21426" y="2356013"/>
                  </a:lnTo>
                  <a:lnTo>
                    <a:pt x="44678" y="2371691"/>
                  </a:lnTo>
                  <a:lnTo>
                    <a:pt x="73151" y="2377440"/>
                  </a:lnTo>
                  <a:lnTo>
                    <a:pt x="10844784" y="2377440"/>
                  </a:lnTo>
                  <a:lnTo>
                    <a:pt x="10873251" y="2371691"/>
                  </a:lnTo>
                  <a:lnTo>
                    <a:pt x="10896504" y="2356013"/>
                  </a:lnTo>
                  <a:lnTo>
                    <a:pt x="10912185" y="2332761"/>
                  </a:lnTo>
                  <a:lnTo>
                    <a:pt x="10917936" y="2304288"/>
                  </a:lnTo>
                  <a:lnTo>
                    <a:pt x="10917936" y="73151"/>
                  </a:lnTo>
                  <a:lnTo>
                    <a:pt x="10912185" y="44684"/>
                  </a:lnTo>
                  <a:lnTo>
                    <a:pt x="10896504" y="21431"/>
                  </a:lnTo>
                  <a:lnTo>
                    <a:pt x="10873251" y="5750"/>
                  </a:lnTo>
                  <a:lnTo>
                    <a:pt x="10844784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" y="3264407"/>
              <a:ext cx="10918190" cy="2377440"/>
            </a:xfrm>
            <a:custGeom>
              <a:avLst/>
              <a:gdLst/>
              <a:ahLst/>
              <a:cxnLst/>
              <a:rect l="l" t="t" r="r" b="b"/>
              <a:pathLst>
                <a:path w="10918190" h="237744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10844784" y="0"/>
                  </a:lnTo>
                  <a:lnTo>
                    <a:pt x="10873251" y="5750"/>
                  </a:lnTo>
                  <a:lnTo>
                    <a:pt x="10896504" y="21431"/>
                  </a:lnTo>
                  <a:lnTo>
                    <a:pt x="10912185" y="44684"/>
                  </a:lnTo>
                  <a:lnTo>
                    <a:pt x="10917936" y="73151"/>
                  </a:lnTo>
                  <a:lnTo>
                    <a:pt x="10917936" y="2304288"/>
                  </a:lnTo>
                  <a:lnTo>
                    <a:pt x="10912185" y="2332761"/>
                  </a:lnTo>
                  <a:lnTo>
                    <a:pt x="10896504" y="2356013"/>
                  </a:lnTo>
                  <a:lnTo>
                    <a:pt x="10873251" y="2371691"/>
                  </a:lnTo>
                  <a:lnTo>
                    <a:pt x="10844784" y="2377440"/>
                  </a:lnTo>
                  <a:lnTo>
                    <a:pt x="73151" y="2377440"/>
                  </a:lnTo>
                  <a:lnTo>
                    <a:pt x="44678" y="2371691"/>
                  </a:lnTo>
                  <a:lnTo>
                    <a:pt x="21426" y="2356013"/>
                  </a:lnTo>
                  <a:lnTo>
                    <a:pt x="5748" y="2332761"/>
                  </a:lnTo>
                  <a:lnTo>
                    <a:pt x="0" y="2304288"/>
                  </a:lnTo>
                  <a:lnTo>
                    <a:pt x="0" y="73151"/>
                  </a:lnTo>
                  <a:close/>
                </a:path>
                <a:path w="10918190" h="2377440">
                  <a:moveTo>
                    <a:pt x="6035040" y="164591"/>
                  </a:moveTo>
                  <a:lnTo>
                    <a:pt x="6035040" y="2221991"/>
                  </a:lnTo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3139" y="3455034"/>
            <a:ext cx="12763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P</a:t>
            </a:r>
            <a:r>
              <a:rPr sz="1050" b="1" spc="-13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R</a:t>
            </a:r>
            <a:r>
              <a:rPr sz="1050" b="1" spc="-13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E</a:t>
            </a:r>
            <a:r>
              <a:rPr sz="1050" b="1" spc="-13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S</a:t>
            </a:r>
            <a:r>
              <a:rPr sz="1050" b="1" spc="-14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E</a:t>
            </a:r>
            <a:r>
              <a:rPr sz="1050" b="1" spc="-15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N</a:t>
            </a:r>
            <a:r>
              <a:rPr sz="1050" b="1" spc="-14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T</a:t>
            </a:r>
            <a:r>
              <a:rPr sz="1050" b="1" spc="-14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E</a:t>
            </a:r>
            <a:r>
              <a:rPr sz="1050" b="1" spc="-14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D</a:t>
            </a:r>
            <a:r>
              <a:rPr sz="1050" b="1" spc="25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B</a:t>
            </a:r>
            <a:r>
              <a:rPr sz="1050" b="1" spc="-13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C8A83E"/>
                </a:solidFill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29068" y="3455034"/>
            <a:ext cx="9201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G</a:t>
            </a:r>
            <a:r>
              <a:rPr sz="1050" b="1" spc="-14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U</a:t>
            </a:r>
            <a:r>
              <a:rPr sz="1050" b="1" spc="-13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I</a:t>
            </a:r>
            <a:r>
              <a:rPr sz="1050" b="1" spc="-14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D</a:t>
            </a:r>
            <a:r>
              <a:rPr sz="1050" b="1" spc="-13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E</a:t>
            </a:r>
            <a:r>
              <a:rPr sz="1050" b="1" spc="-14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D</a:t>
            </a:r>
            <a:r>
              <a:rPr sz="1050" b="1" spc="250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C8A83E"/>
                </a:solidFill>
                <a:latin typeface="Arial"/>
                <a:cs typeface="Arial"/>
              </a:rPr>
              <a:t>B</a:t>
            </a:r>
            <a:r>
              <a:rPr sz="1050" b="1" spc="-135" dirty="0">
                <a:solidFill>
                  <a:srgbClr val="C8A83E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C8A83E"/>
                </a:solidFill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6324" y="3819525"/>
            <a:ext cx="204660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Jeesha S - [71382302061]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29068" y="3818001"/>
            <a:ext cx="2187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1A1A1A"/>
                </a:solidFill>
                <a:latin typeface="Arial"/>
                <a:cs typeface="Arial"/>
              </a:rPr>
              <a:t>Dr. M. Kalpana Devi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6325" y="4244059"/>
            <a:ext cx="2889548" cy="2045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Jeeva Bharathi M - [71382302062]</a:t>
            </a:r>
            <a:endParaRPr sz="1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00313" y="4231004"/>
            <a:ext cx="1753762" cy="2045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solidFill>
                  <a:srgbClr val="1A1A1A"/>
                </a:solidFill>
                <a:latin typeface="Arial"/>
                <a:cs typeface="Arial"/>
              </a:rPr>
              <a:t>Associate Professor</a:t>
            </a:r>
            <a:endParaRPr sz="1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29068" y="4596764"/>
            <a:ext cx="140462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Department</a:t>
            </a:r>
            <a:r>
              <a:rPr sz="1250" spc="-4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sz="1250" spc="-3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50" spc="-25" dirty="0">
                <a:solidFill>
                  <a:srgbClr val="1A1A1A"/>
                </a:solidFill>
                <a:latin typeface="Arial"/>
                <a:cs typeface="Arial"/>
              </a:rPr>
              <a:t>CSE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6324" y="4711725"/>
            <a:ext cx="253746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Krishnakanth M - [71382302083]</a:t>
            </a:r>
            <a:endParaRPr sz="1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6325" y="5121579"/>
            <a:ext cx="295883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1A1A1A"/>
                </a:solidFill>
                <a:latin typeface="Arial"/>
                <a:cs typeface="Arial"/>
              </a:rPr>
              <a:t>Poovizhi Thangam V - [71382302116]</a:t>
            </a:r>
            <a:endParaRPr sz="125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053328"/>
            <a:ext cx="12189460" cy="347980"/>
          </a:xfrm>
          <a:custGeom>
            <a:avLst/>
            <a:gdLst/>
            <a:ahLst/>
            <a:cxnLst/>
            <a:rect l="l" t="t" r="r" b="b"/>
            <a:pathLst>
              <a:path w="12189460" h="347979">
                <a:moveTo>
                  <a:pt x="12188952" y="0"/>
                </a:moveTo>
                <a:lnTo>
                  <a:pt x="0" y="0"/>
                </a:lnTo>
                <a:lnTo>
                  <a:pt x="0" y="347472"/>
                </a:lnTo>
                <a:lnTo>
                  <a:pt x="12188952" y="347472"/>
                </a:lnTo>
                <a:lnTo>
                  <a:pt x="12188952" y="0"/>
                </a:lnTo>
                <a:close/>
              </a:path>
            </a:pathLst>
          </a:custGeom>
          <a:solidFill>
            <a:srgbClr val="FFF6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2919" y="6400800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9144">
            <a:solidFill>
              <a:srgbClr val="BED7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0219" y="435610"/>
            <a:ext cx="17837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47745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Fast, Fraud-Proof &amp; Transparent Loan Processing using 5 Core Technologies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8348" y="1458467"/>
            <a:ext cx="11192510" cy="375285"/>
            <a:chOff x="498348" y="1458467"/>
            <a:chExt cx="11192510" cy="375285"/>
          </a:xfrm>
        </p:grpSpPr>
        <p:sp>
          <p:nvSpPr>
            <p:cNvPr id="6" name="object 6"/>
            <p:cNvSpPr/>
            <p:nvPr/>
          </p:nvSpPr>
          <p:spPr>
            <a:xfrm>
              <a:off x="502920" y="1463039"/>
              <a:ext cx="11183620" cy="365760"/>
            </a:xfrm>
            <a:custGeom>
              <a:avLst/>
              <a:gdLst/>
              <a:ahLst/>
              <a:cxnLst/>
              <a:rect l="l" t="t" r="r" b="b"/>
              <a:pathLst>
                <a:path w="11183620" h="365760">
                  <a:moveTo>
                    <a:pt x="11137391" y="0"/>
                  </a:moveTo>
                  <a:lnTo>
                    <a:pt x="45720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320039"/>
                  </a:lnTo>
                  <a:lnTo>
                    <a:pt x="3593" y="337845"/>
                  </a:lnTo>
                  <a:lnTo>
                    <a:pt x="13392" y="352377"/>
                  </a:lnTo>
                  <a:lnTo>
                    <a:pt x="27924" y="362170"/>
                  </a:lnTo>
                  <a:lnTo>
                    <a:pt x="45720" y="365760"/>
                  </a:lnTo>
                  <a:lnTo>
                    <a:pt x="11137391" y="365760"/>
                  </a:lnTo>
                  <a:lnTo>
                    <a:pt x="11155197" y="362170"/>
                  </a:lnTo>
                  <a:lnTo>
                    <a:pt x="11169729" y="352377"/>
                  </a:lnTo>
                  <a:lnTo>
                    <a:pt x="11179522" y="337845"/>
                  </a:lnTo>
                  <a:lnTo>
                    <a:pt x="11183112" y="320039"/>
                  </a:lnTo>
                  <a:lnTo>
                    <a:pt x="11183112" y="45720"/>
                  </a:lnTo>
                  <a:lnTo>
                    <a:pt x="11179522" y="27914"/>
                  </a:lnTo>
                  <a:lnTo>
                    <a:pt x="11169729" y="13382"/>
                  </a:lnTo>
                  <a:lnTo>
                    <a:pt x="11155197" y="3589"/>
                  </a:lnTo>
                  <a:lnTo>
                    <a:pt x="11137391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920" y="1463039"/>
              <a:ext cx="11183620" cy="365760"/>
            </a:xfrm>
            <a:custGeom>
              <a:avLst/>
              <a:gdLst/>
              <a:ahLst/>
              <a:cxnLst/>
              <a:rect l="l" t="t" r="r" b="b"/>
              <a:pathLst>
                <a:path w="11183620" h="36576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20" y="0"/>
                  </a:lnTo>
                  <a:lnTo>
                    <a:pt x="11137391" y="0"/>
                  </a:lnTo>
                  <a:lnTo>
                    <a:pt x="11155197" y="3589"/>
                  </a:lnTo>
                  <a:lnTo>
                    <a:pt x="11169729" y="13382"/>
                  </a:lnTo>
                  <a:lnTo>
                    <a:pt x="11179522" y="27914"/>
                  </a:lnTo>
                  <a:lnTo>
                    <a:pt x="11183112" y="45720"/>
                  </a:lnTo>
                  <a:lnTo>
                    <a:pt x="11183112" y="320039"/>
                  </a:lnTo>
                  <a:lnTo>
                    <a:pt x="11179522" y="337845"/>
                  </a:lnTo>
                  <a:lnTo>
                    <a:pt x="11169729" y="352377"/>
                  </a:lnTo>
                  <a:lnTo>
                    <a:pt x="11155197" y="362170"/>
                  </a:lnTo>
                  <a:lnTo>
                    <a:pt x="11137391" y="365760"/>
                  </a:lnTo>
                  <a:lnTo>
                    <a:pt x="45720" y="365760"/>
                  </a:lnTo>
                  <a:lnTo>
                    <a:pt x="27924" y="362170"/>
                  </a:lnTo>
                  <a:lnTo>
                    <a:pt x="13392" y="352377"/>
                  </a:lnTo>
                  <a:lnTo>
                    <a:pt x="3593" y="337845"/>
                  </a:lnTo>
                  <a:lnTo>
                    <a:pt x="0" y="320039"/>
                  </a:lnTo>
                  <a:lnTo>
                    <a:pt x="0" y="45720"/>
                  </a:lnTo>
                  <a:close/>
                </a:path>
              </a:pathLst>
            </a:custGeom>
            <a:ln w="9144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2919" y="1463039"/>
            <a:ext cx="11183620" cy="3657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defRPr sz="850">
                <a:solidFill>
                  <a:srgbClr val="C8A83E"/>
                </a:solidFill>
                <a:latin typeface="Calibri"/>
              </a:defRPr>
            </a:pPr>
            <a:r>
              <a:t>Keywords: Digital Lending • DigiLocker • Face Biometrics • OCR Extraction • Explainable Boosting Machine • Random Forest</a:t>
            </a:r>
          </a:p>
        </p:txBody>
      </p:sp>
      <p:sp>
        <p:nvSpPr>
          <p:cNvPr id="9" name="object 9"/>
          <p:cNvSpPr/>
          <p:nvPr/>
        </p:nvSpPr>
        <p:spPr>
          <a:xfrm>
            <a:off x="502919" y="2011679"/>
            <a:ext cx="8138159" cy="329565"/>
          </a:xfrm>
          <a:custGeom>
            <a:avLst/>
            <a:gdLst/>
            <a:ahLst/>
            <a:cxnLst/>
            <a:rect l="l" t="t" r="r" b="b"/>
            <a:pathLst>
              <a:path w="8138159" h="329564">
                <a:moveTo>
                  <a:pt x="0" y="329184"/>
                </a:moveTo>
                <a:lnTo>
                  <a:pt x="8138159" y="329184"/>
                </a:lnTo>
                <a:lnTo>
                  <a:pt x="8138159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6823" y="2005583"/>
            <a:ext cx="8150859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680"/>
              </a:spcBef>
            </a:pPr>
            <a:r>
              <a:rPr sz="1000" b="1" spc="60" dirty="0">
                <a:solidFill>
                  <a:srgbClr val="FFFFFF"/>
                </a:solidFill>
                <a:latin typeface="Calibri"/>
                <a:cs typeface="Calibri"/>
              </a:rPr>
              <a:t>ABSTRACT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823959" y="2011679"/>
            <a:ext cx="2862580" cy="329565"/>
          </a:xfrm>
          <a:custGeom>
            <a:avLst/>
            <a:gdLst/>
            <a:ahLst/>
            <a:cxnLst/>
            <a:rect l="l" t="t" r="r" b="b"/>
            <a:pathLst>
              <a:path w="2862579" h="329564">
                <a:moveTo>
                  <a:pt x="0" y="329184"/>
                </a:moveTo>
                <a:lnTo>
                  <a:pt x="2862072" y="329184"/>
                </a:lnTo>
                <a:lnTo>
                  <a:pt x="2862072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817864" y="2005583"/>
            <a:ext cx="2874645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TECHNOLOGY STACK &amp; 5 MODELS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98348" y="2336292"/>
            <a:ext cx="8147684" cy="2752725"/>
            <a:chOff x="498348" y="2336292"/>
            <a:chExt cx="8147684" cy="2752725"/>
          </a:xfrm>
        </p:grpSpPr>
        <p:sp>
          <p:nvSpPr>
            <p:cNvPr id="12" name="object 12"/>
            <p:cNvSpPr/>
            <p:nvPr/>
          </p:nvSpPr>
          <p:spPr>
            <a:xfrm>
              <a:off x="502920" y="2340864"/>
              <a:ext cx="8138159" cy="2743200"/>
            </a:xfrm>
            <a:custGeom>
              <a:avLst/>
              <a:gdLst/>
              <a:ahLst/>
              <a:cxnLst/>
              <a:rect l="l" t="t" r="r" b="b"/>
              <a:pathLst>
                <a:path w="8138159" h="2743200">
                  <a:moveTo>
                    <a:pt x="80650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670048"/>
                  </a:lnTo>
                  <a:lnTo>
                    <a:pt x="5748" y="2698515"/>
                  </a:lnTo>
                  <a:lnTo>
                    <a:pt x="21426" y="2721768"/>
                  </a:lnTo>
                  <a:lnTo>
                    <a:pt x="44678" y="2737449"/>
                  </a:lnTo>
                  <a:lnTo>
                    <a:pt x="73151" y="2743200"/>
                  </a:lnTo>
                  <a:lnTo>
                    <a:pt x="8065008" y="2743200"/>
                  </a:lnTo>
                  <a:lnTo>
                    <a:pt x="8093475" y="2737449"/>
                  </a:lnTo>
                  <a:lnTo>
                    <a:pt x="8116728" y="2721768"/>
                  </a:lnTo>
                  <a:lnTo>
                    <a:pt x="8132409" y="2698515"/>
                  </a:lnTo>
                  <a:lnTo>
                    <a:pt x="8138159" y="2670048"/>
                  </a:lnTo>
                  <a:lnTo>
                    <a:pt x="8138159" y="73151"/>
                  </a:lnTo>
                  <a:lnTo>
                    <a:pt x="8132409" y="44684"/>
                  </a:lnTo>
                  <a:lnTo>
                    <a:pt x="8116728" y="21431"/>
                  </a:lnTo>
                  <a:lnTo>
                    <a:pt x="8093475" y="5750"/>
                  </a:lnTo>
                  <a:lnTo>
                    <a:pt x="8065008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2920" y="2340864"/>
              <a:ext cx="8138159" cy="2743200"/>
            </a:xfrm>
            <a:custGeom>
              <a:avLst/>
              <a:gdLst/>
              <a:ahLst/>
              <a:cxnLst/>
              <a:rect l="l" t="t" r="r" b="b"/>
              <a:pathLst>
                <a:path w="8138159" h="274320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8065008" y="0"/>
                  </a:lnTo>
                  <a:lnTo>
                    <a:pt x="8093475" y="5750"/>
                  </a:lnTo>
                  <a:lnTo>
                    <a:pt x="8116728" y="21431"/>
                  </a:lnTo>
                  <a:lnTo>
                    <a:pt x="8132409" y="44684"/>
                  </a:lnTo>
                  <a:lnTo>
                    <a:pt x="8138159" y="73151"/>
                  </a:lnTo>
                  <a:lnTo>
                    <a:pt x="8138159" y="2670048"/>
                  </a:lnTo>
                  <a:lnTo>
                    <a:pt x="8132409" y="2698515"/>
                  </a:lnTo>
                  <a:lnTo>
                    <a:pt x="8116728" y="2721768"/>
                  </a:lnTo>
                  <a:lnTo>
                    <a:pt x="8093475" y="2737449"/>
                  </a:lnTo>
                  <a:lnTo>
                    <a:pt x="8065008" y="2743200"/>
                  </a:lnTo>
                  <a:lnTo>
                    <a:pt x="73151" y="2743200"/>
                  </a:lnTo>
                  <a:lnTo>
                    <a:pt x="44678" y="2737449"/>
                  </a:lnTo>
                  <a:lnTo>
                    <a:pt x="21426" y="2721768"/>
                  </a:lnTo>
                  <a:lnTo>
                    <a:pt x="5748" y="2698515"/>
                  </a:lnTo>
                  <a:lnTo>
                    <a:pt x="0" y="267004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3100" y="2447670"/>
            <a:ext cx="7624445" cy="1252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Problem: Traditional loan checks take 3-7 days of manual paperwork, fake certificates bypass verification, stolen OTPs lead to identity theft loans, and traditional AI rejects applicants without explaining why.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Solution: An automated digital lending portal combining 5 specialized modules to verify documents, confirm physical identity, and score credit risk in under 60 seconds.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Key Modules: (1) DigiLocker document fetch, (2) 3-way webcam face matching, (3) OCR cross-checks, (4) Glass-box EBM underwriting, and (5) Random Forest benchmark.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Outcome: Zero fake certificate fraud, immune to OTP theft, 85.37% test accuracy matching Random Forest, with 100% transparent plain-English reasons for every decision.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8819388" y="2336292"/>
            <a:ext cx="2871470" cy="2752725"/>
            <a:chOff x="8819388" y="2336292"/>
            <a:chExt cx="2871470" cy="2752725"/>
          </a:xfrm>
        </p:grpSpPr>
        <p:sp>
          <p:nvSpPr>
            <p:cNvPr id="17" name="object 17"/>
            <p:cNvSpPr/>
            <p:nvPr/>
          </p:nvSpPr>
          <p:spPr>
            <a:xfrm>
              <a:off x="8823960" y="2340864"/>
              <a:ext cx="2862580" cy="2743200"/>
            </a:xfrm>
            <a:custGeom>
              <a:avLst/>
              <a:gdLst/>
              <a:ahLst/>
              <a:cxnLst/>
              <a:rect l="l" t="t" r="r" b="b"/>
              <a:pathLst>
                <a:path w="2862579" h="2743200">
                  <a:moveTo>
                    <a:pt x="27889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670048"/>
                  </a:lnTo>
                  <a:lnTo>
                    <a:pt x="5750" y="2698515"/>
                  </a:lnTo>
                  <a:lnTo>
                    <a:pt x="21431" y="2721768"/>
                  </a:lnTo>
                  <a:lnTo>
                    <a:pt x="44684" y="2737449"/>
                  </a:lnTo>
                  <a:lnTo>
                    <a:pt x="73151" y="2743200"/>
                  </a:lnTo>
                  <a:lnTo>
                    <a:pt x="2788920" y="2743200"/>
                  </a:lnTo>
                  <a:lnTo>
                    <a:pt x="2817387" y="2737449"/>
                  </a:lnTo>
                  <a:lnTo>
                    <a:pt x="2840640" y="2721768"/>
                  </a:lnTo>
                  <a:lnTo>
                    <a:pt x="2856321" y="2698515"/>
                  </a:lnTo>
                  <a:lnTo>
                    <a:pt x="2862072" y="2670048"/>
                  </a:lnTo>
                  <a:lnTo>
                    <a:pt x="2862072" y="73151"/>
                  </a:lnTo>
                  <a:lnTo>
                    <a:pt x="2856321" y="44684"/>
                  </a:lnTo>
                  <a:lnTo>
                    <a:pt x="2840640" y="21431"/>
                  </a:lnTo>
                  <a:lnTo>
                    <a:pt x="2817387" y="5750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23960" y="2340864"/>
              <a:ext cx="2862580" cy="2743200"/>
            </a:xfrm>
            <a:custGeom>
              <a:avLst/>
              <a:gdLst/>
              <a:ahLst/>
              <a:cxnLst/>
              <a:rect l="l" t="t" r="r" b="b"/>
              <a:pathLst>
                <a:path w="2862579" h="27432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788920" y="0"/>
                  </a:lnTo>
                  <a:lnTo>
                    <a:pt x="2817387" y="5750"/>
                  </a:lnTo>
                  <a:lnTo>
                    <a:pt x="2840640" y="21431"/>
                  </a:lnTo>
                  <a:lnTo>
                    <a:pt x="2856321" y="44684"/>
                  </a:lnTo>
                  <a:lnTo>
                    <a:pt x="2862072" y="73151"/>
                  </a:lnTo>
                  <a:lnTo>
                    <a:pt x="2862072" y="2670048"/>
                  </a:lnTo>
                  <a:lnTo>
                    <a:pt x="2856321" y="2698515"/>
                  </a:lnTo>
                  <a:lnTo>
                    <a:pt x="2840640" y="2721768"/>
                  </a:lnTo>
                  <a:lnTo>
                    <a:pt x="2817387" y="2737449"/>
                  </a:lnTo>
                  <a:lnTo>
                    <a:pt x="2788920" y="2743200"/>
                  </a:lnTo>
                  <a:lnTo>
                    <a:pt x="73151" y="2743200"/>
                  </a:lnTo>
                  <a:lnTo>
                    <a:pt x="44684" y="2737449"/>
                  </a:lnTo>
                  <a:lnTo>
                    <a:pt x="21431" y="2721768"/>
                  </a:lnTo>
                  <a:lnTo>
                    <a:pt x="5750" y="2698515"/>
                  </a:lnTo>
                  <a:lnTo>
                    <a:pt x="0" y="2670048"/>
                  </a:lnTo>
                  <a:lnTo>
                    <a:pt x="0" y="73151"/>
                  </a:lnTo>
                  <a:close/>
                </a:path>
              </a:pathLst>
            </a:custGeom>
            <a:ln w="9143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041130" y="2462910"/>
            <a:ext cx="2329180" cy="15805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Model 1: DigiLocker Verification Module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Model 2: Tri-Biometric Face Recognition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Model 3: OCR Cross-Field Extraction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Model 4: Explainable Boosting Machine (EBM)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Model 5: Random Forest Benchmark Model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Frontend: React 18 + Vite + TailwindCSS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Backend: FastAPI (Python 3.10) + OpenCV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Database: SQLite 3 / MySQL (Audit Log)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Deployment: Local &amp; Live Cloud (GitHub Pages)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90219" y="5210632"/>
            <a:ext cx="153670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75" dirty="0">
                <a:solidFill>
                  <a:srgbClr val="1F4D39"/>
                </a:solidFill>
                <a:latin typeface="Calibri"/>
                <a:cs typeface="Calibri"/>
              </a:rPr>
              <a:t>INTEGRATED</a:t>
            </a:r>
            <a:r>
              <a:rPr sz="950" b="1" spc="280" dirty="0">
                <a:solidFill>
                  <a:srgbClr val="1F4D39"/>
                </a:solidFill>
                <a:latin typeface="Calibri"/>
                <a:cs typeface="Calibri"/>
              </a:rPr>
              <a:t> </a:t>
            </a:r>
            <a:r>
              <a:rPr sz="950" b="1" spc="60" dirty="0">
                <a:solidFill>
                  <a:srgbClr val="1F4D39"/>
                </a:solidFill>
                <a:latin typeface="Calibri"/>
                <a:cs typeface="Calibri"/>
              </a:rPr>
              <a:t>WORKFLOW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6823" y="5498591"/>
            <a:ext cx="1153795" cy="652780"/>
            <a:chOff x="496823" y="5498591"/>
            <a:chExt cx="1153795" cy="652780"/>
          </a:xfrm>
        </p:grpSpPr>
        <p:sp>
          <p:nvSpPr>
            <p:cNvPr id="23" name="object 23"/>
            <p:cNvSpPr/>
            <p:nvPr/>
          </p:nvSpPr>
          <p:spPr>
            <a:xfrm>
              <a:off x="502919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30" h="640079">
                  <a:moveTo>
                    <a:pt x="1068324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48" y="595401"/>
                  </a:lnTo>
                  <a:lnTo>
                    <a:pt x="21426" y="618653"/>
                  </a:lnTo>
                  <a:lnTo>
                    <a:pt x="44678" y="634331"/>
                  </a:lnTo>
                  <a:lnTo>
                    <a:pt x="73151" y="640080"/>
                  </a:lnTo>
                  <a:lnTo>
                    <a:pt x="1068324" y="640080"/>
                  </a:lnTo>
                  <a:lnTo>
                    <a:pt x="1096791" y="634331"/>
                  </a:lnTo>
                  <a:lnTo>
                    <a:pt x="1120044" y="618653"/>
                  </a:lnTo>
                  <a:lnTo>
                    <a:pt x="1135725" y="595401"/>
                  </a:lnTo>
                  <a:lnTo>
                    <a:pt x="1141476" y="566928"/>
                  </a:lnTo>
                  <a:lnTo>
                    <a:pt x="1141476" y="73152"/>
                  </a:lnTo>
                  <a:lnTo>
                    <a:pt x="1135725" y="44684"/>
                  </a:lnTo>
                  <a:lnTo>
                    <a:pt x="1120044" y="21431"/>
                  </a:lnTo>
                  <a:lnTo>
                    <a:pt x="1096791" y="5750"/>
                  </a:lnTo>
                  <a:lnTo>
                    <a:pt x="1068324" y="0"/>
                  </a:lnTo>
                  <a:close/>
                </a:path>
              </a:pathLst>
            </a:custGeom>
            <a:solidFill>
              <a:srgbClr val="1F4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2919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30" h="640079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1068324" y="0"/>
                  </a:lnTo>
                  <a:lnTo>
                    <a:pt x="1096791" y="5750"/>
                  </a:lnTo>
                  <a:lnTo>
                    <a:pt x="1120044" y="21431"/>
                  </a:lnTo>
                  <a:lnTo>
                    <a:pt x="1135725" y="44684"/>
                  </a:lnTo>
                  <a:lnTo>
                    <a:pt x="1141476" y="73152"/>
                  </a:lnTo>
                  <a:lnTo>
                    <a:pt x="1141476" y="566928"/>
                  </a:lnTo>
                  <a:lnTo>
                    <a:pt x="1135725" y="595401"/>
                  </a:lnTo>
                  <a:lnTo>
                    <a:pt x="1120044" y="618653"/>
                  </a:lnTo>
                  <a:lnTo>
                    <a:pt x="1096791" y="634331"/>
                  </a:lnTo>
                  <a:lnTo>
                    <a:pt x="1068324" y="640080"/>
                  </a:lnTo>
                  <a:lnTo>
                    <a:pt x="73151" y="640080"/>
                  </a:lnTo>
                  <a:lnTo>
                    <a:pt x="44678" y="634331"/>
                  </a:lnTo>
                  <a:lnTo>
                    <a:pt x="21426" y="618653"/>
                  </a:lnTo>
                  <a:lnTo>
                    <a:pt x="5748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47140" y="5644083"/>
            <a:ext cx="45339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DigiLocker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708785" y="571266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30907" y="5498591"/>
            <a:ext cx="1155700" cy="652780"/>
            <a:chOff x="1930907" y="5498591"/>
            <a:chExt cx="1155700" cy="652780"/>
          </a:xfrm>
        </p:grpSpPr>
        <p:sp>
          <p:nvSpPr>
            <p:cNvPr id="28" name="object 28"/>
            <p:cNvSpPr/>
            <p:nvPr/>
          </p:nvSpPr>
          <p:spPr>
            <a:xfrm>
              <a:off x="1937003" y="5504687"/>
              <a:ext cx="1143000" cy="640080"/>
            </a:xfrm>
            <a:custGeom>
              <a:avLst/>
              <a:gdLst/>
              <a:ahLst/>
              <a:cxnLst/>
              <a:rect l="l" t="t" r="r" b="b"/>
              <a:pathLst>
                <a:path w="1143000" h="640079">
                  <a:moveTo>
                    <a:pt x="106984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401"/>
                  </a:lnTo>
                  <a:lnTo>
                    <a:pt x="21431" y="618653"/>
                  </a:lnTo>
                  <a:lnTo>
                    <a:pt x="44684" y="634331"/>
                  </a:lnTo>
                  <a:lnTo>
                    <a:pt x="73151" y="640080"/>
                  </a:lnTo>
                  <a:lnTo>
                    <a:pt x="1069847" y="640080"/>
                  </a:lnTo>
                  <a:lnTo>
                    <a:pt x="1098315" y="634331"/>
                  </a:lnTo>
                  <a:lnTo>
                    <a:pt x="1121568" y="618653"/>
                  </a:lnTo>
                  <a:lnTo>
                    <a:pt x="1137249" y="595401"/>
                  </a:lnTo>
                  <a:lnTo>
                    <a:pt x="1143000" y="566928"/>
                  </a:lnTo>
                  <a:lnTo>
                    <a:pt x="1143000" y="73152"/>
                  </a:lnTo>
                  <a:lnTo>
                    <a:pt x="1137249" y="44684"/>
                  </a:lnTo>
                  <a:lnTo>
                    <a:pt x="1121568" y="21431"/>
                  </a:lnTo>
                  <a:lnTo>
                    <a:pt x="1098315" y="5750"/>
                  </a:lnTo>
                  <a:lnTo>
                    <a:pt x="1069847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37003" y="5504687"/>
              <a:ext cx="1143000" cy="640080"/>
            </a:xfrm>
            <a:custGeom>
              <a:avLst/>
              <a:gdLst/>
              <a:ahLst/>
              <a:cxnLst/>
              <a:rect l="l" t="t" r="r" b="b"/>
              <a:pathLst>
                <a:path w="1143000" h="640079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069847" y="0"/>
                  </a:lnTo>
                  <a:lnTo>
                    <a:pt x="1098315" y="5750"/>
                  </a:lnTo>
                  <a:lnTo>
                    <a:pt x="1121568" y="21431"/>
                  </a:lnTo>
                  <a:lnTo>
                    <a:pt x="1137249" y="44684"/>
                  </a:lnTo>
                  <a:lnTo>
                    <a:pt x="1143000" y="73152"/>
                  </a:lnTo>
                  <a:lnTo>
                    <a:pt x="1143000" y="566928"/>
                  </a:lnTo>
                  <a:lnTo>
                    <a:pt x="1137249" y="595401"/>
                  </a:lnTo>
                  <a:lnTo>
                    <a:pt x="1121568" y="618653"/>
                  </a:lnTo>
                  <a:lnTo>
                    <a:pt x="1098315" y="634331"/>
                  </a:lnTo>
                  <a:lnTo>
                    <a:pt x="1069847" y="640080"/>
                  </a:lnTo>
                  <a:lnTo>
                    <a:pt x="73151" y="640080"/>
                  </a:lnTo>
                  <a:lnTo>
                    <a:pt x="44684" y="634331"/>
                  </a:lnTo>
                  <a:lnTo>
                    <a:pt x="21431" y="618653"/>
                  </a:lnTo>
                  <a:lnTo>
                    <a:pt x="5750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222373" y="5644083"/>
            <a:ext cx="5715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Face Match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143504" y="571266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366515" y="5498591"/>
            <a:ext cx="1153795" cy="652780"/>
            <a:chOff x="3366515" y="5498591"/>
            <a:chExt cx="1153795" cy="652780"/>
          </a:xfrm>
        </p:grpSpPr>
        <p:sp>
          <p:nvSpPr>
            <p:cNvPr id="33" name="object 33"/>
            <p:cNvSpPr/>
            <p:nvPr/>
          </p:nvSpPr>
          <p:spPr>
            <a:xfrm>
              <a:off x="3372611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106832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401"/>
                  </a:lnTo>
                  <a:lnTo>
                    <a:pt x="21431" y="618653"/>
                  </a:lnTo>
                  <a:lnTo>
                    <a:pt x="44684" y="634331"/>
                  </a:lnTo>
                  <a:lnTo>
                    <a:pt x="73151" y="640080"/>
                  </a:lnTo>
                  <a:lnTo>
                    <a:pt x="1068324" y="640080"/>
                  </a:lnTo>
                  <a:lnTo>
                    <a:pt x="1096791" y="634331"/>
                  </a:lnTo>
                  <a:lnTo>
                    <a:pt x="1120044" y="618653"/>
                  </a:lnTo>
                  <a:lnTo>
                    <a:pt x="1135725" y="595401"/>
                  </a:lnTo>
                  <a:lnTo>
                    <a:pt x="1141476" y="566928"/>
                  </a:lnTo>
                  <a:lnTo>
                    <a:pt x="1141476" y="73152"/>
                  </a:lnTo>
                  <a:lnTo>
                    <a:pt x="1135725" y="44684"/>
                  </a:lnTo>
                  <a:lnTo>
                    <a:pt x="1120044" y="21431"/>
                  </a:lnTo>
                  <a:lnTo>
                    <a:pt x="1096791" y="5750"/>
                  </a:lnTo>
                  <a:lnTo>
                    <a:pt x="1068324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2611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068324" y="0"/>
                  </a:lnTo>
                  <a:lnTo>
                    <a:pt x="1096791" y="5750"/>
                  </a:lnTo>
                  <a:lnTo>
                    <a:pt x="1120044" y="21431"/>
                  </a:lnTo>
                  <a:lnTo>
                    <a:pt x="1135725" y="44684"/>
                  </a:lnTo>
                  <a:lnTo>
                    <a:pt x="1141476" y="73152"/>
                  </a:lnTo>
                  <a:lnTo>
                    <a:pt x="1141476" y="566928"/>
                  </a:lnTo>
                  <a:lnTo>
                    <a:pt x="1135725" y="595401"/>
                  </a:lnTo>
                  <a:lnTo>
                    <a:pt x="1120044" y="618653"/>
                  </a:lnTo>
                  <a:lnTo>
                    <a:pt x="1096791" y="634331"/>
                  </a:lnTo>
                  <a:lnTo>
                    <a:pt x="1068324" y="640080"/>
                  </a:lnTo>
                  <a:lnTo>
                    <a:pt x="73151" y="640080"/>
                  </a:lnTo>
                  <a:lnTo>
                    <a:pt x="44684" y="634331"/>
                  </a:lnTo>
                  <a:lnTo>
                    <a:pt x="21431" y="618653"/>
                  </a:lnTo>
                  <a:lnTo>
                    <a:pt x="5750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654044" y="5644083"/>
            <a:ext cx="57848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OCR Check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578222" y="571266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00600" y="5498591"/>
            <a:ext cx="1153795" cy="652780"/>
            <a:chOff x="4800600" y="5498591"/>
            <a:chExt cx="1153795" cy="652780"/>
          </a:xfrm>
        </p:grpSpPr>
        <p:sp>
          <p:nvSpPr>
            <p:cNvPr id="38" name="object 38"/>
            <p:cNvSpPr/>
            <p:nvPr/>
          </p:nvSpPr>
          <p:spPr>
            <a:xfrm>
              <a:off x="4806695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106832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401"/>
                  </a:lnTo>
                  <a:lnTo>
                    <a:pt x="21431" y="618653"/>
                  </a:lnTo>
                  <a:lnTo>
                    <a:pt x="44684" y="634331"/>
                  </a:lnTo>
                  <a:lnTo>
                    <a:pt x="73151" y="640080"/>
                  </a:lnTo>
                  <a:lnTo>
                    <a:pt x="1068324" y="640080"/>
                  </a:lnTo>
                  <a:lnTo>
                    <a:pt x="1096791" y="634331"/>
                  </a:lnTo>
                  <a:lnTo>
                    <a:pt x="1120044" y="618653"/>
                  </a:lnTo>
                  <a:lnTo>
                    <a:pt x="1135725" y="595401"/>
                  </a:lnTo>
                  <a:lnTo>
                    <a:pt x="1141476" y="566928"/>
                  </a:lnTo>
                  <a:lnTo>
                    <a:pt x="1141476" y="73152"/>
                  </a:lnTo>
                  <a:lnTo>
                    <a:pt x="1135725" y="44684"/>
                  </a:lnTo>
                  <a:lnTo>
                    <a:pt x="1120044" y="21431"/>
                  </a:lnTo>
                  <a:lnTo>
                    <a:pt x="1096791" y="5750"/>
                  </a:lnTo>
                  <a:lnTo>
                    <a:pt x="1068324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06695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068324" y="0"/>
                  </a:lnTo>
                  <a:lnTo>
                    <a:pt x="1096791" y="5750"/>
                  </a:lnTo>
                  <a:lnTo>
                    <a:pt x="1120044" y="21431"/>
                  </a:lnTo>
                  <a:lnTo>
                    <a:pt x="1135725" y="44684"/>
                  </a:lnTo>
                  <a:lnTo>
                    <a:pt x="1141476" y="73152"/>
                  </a:lnTo>
                  <a:lnTo>
                    <a:pt x="1141476" y="566928"/>
                  </a:lnTo>
                  <a:lnTo>
                    <a:pt x="1135725" y="595401"/>
                  </a:lnTo>
                  <a:lnTo>
                    <a:pt x="1120044" y="618653"/>
                  </a:lnTo>
                  <a:lnTo>
                    <a:pt x="1096791" y="634331"/>
                  </a:lnTo>
                  <a:lnTo>
                    <a:pt x="1068324" y="640080"/>
                  </a:lnTo>
                  <a:lnTo>
                    <a:pt x="73151" y="640080"/>
                  </a:lnTo>
                  <a:lnTo>
                    <a:pt x="44684" y="634331"/>
                  </a:lnTo>
                  <a:lnTo>
                    <a:pt x="21431" y="618653"/>
                  </a:lnTo>
                  <a:lnTo>
                    <a:pt x="5750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094859" y="5644083"/>
            <a:ext cx="56705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EBM Scoring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6012941" y="571266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234684" y="5498591"/>
            <a:ext cx="1153795" cy="652780"/>
            <a:chOff x="6234684" y="5498591"/>
            <a:chExt cx="1153795" cy="652780"/>
          </a:xfrm>
        </p:grpSpPr>
        <p:sp>
          <p:nvSpPr>
            <p:cNvPr id="43" name="object 43"/>
            <p:cNvSpPr/>
            <p:nvPr/>
          </p:nvSpPr>
          <p:spPr>
            <a:xfrm>
              <a:off x="6240780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1068324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401"/>
                  </a:lnTo>
                  <a:lnTo>
                    <a:pt x="21431" y="618653"/>
                  </a:lnTo>
                  <a:lnTo>
                    <a:pt x="44684" y="634331"/>
                  </a:lnTo>
                  <a:lnTo>
                    <a:pt x="73152" y="640080"/>
                  </a:lnTo>
                  <a:lnTo>
                    <a:pt x="1068324" y="640080"/>
                  </a:lnTo>
                  <a:lnTo>
                    <a:pt x="1096791" y="634331"/>
                  </a:lnTo>
                  <a:lnTo>
                    <a:pt x="1120044" y="618653"/>
                  </a:lnTo>
                  <a:lnTo>
                    <a:pt x="1135725" y="595401"/>
                  </a:lnTo>
                  <a:lnTo>
                    <a:pt x="1141476" y="566928"/>
                  </a:lnTo>
                  <a:lnTo>
                    <a:pt x="1141476" y="73152"/>
                  </a:lnTo>
                  <a:lnTo>
                    <a:pt x="1135725" y="44684"/>
                  </a:lnTo>
                  <a:lnTo>
                    <a:pt x="1120044" y="21431"/>
                  </a:lnTo>
                  <a:lnTo>
                    <a:pt x="1096791" y="5750"/>
                  </a:lnTo>
                  <a:lnTo>
                    <a:pt x="1068324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40780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1068324" y="0"/>
                  </a:lnTo>
                  <a:lnTo>
                    <a:pt x="1096791" y="5750"/>
                  </a:lnTo>
                  <a:lnTo>
                    <a:pt x="1120044" y="21431"/>
                  </a:lnTo>
                  <a:lnTo>
                    <a:pt x="1135725" y="44684"/>
                  </a:lnTo>
                  <a:lnTo>
                    <a:pt x="1141476" y="73152"/>
                  </a:lnTo>
                  <a:lnTo>
                    <a:pt x="1141476" y="566928"/>
                  </a:lnTo>
                  <a:lnTo>
                    <a:pt x="1135725" y="595401"/>
                  </a:lnTo>
                  <a:lnTo>
                    <a:pt x="1120044" y="618653"/>
                  </a:lnTo>
                  <a:lnTo>
                    <a:pt x="1096791" y="634331"/>
                  </a:lnTo>
                  <a:lnTo>
                    <a:pt x="1068324" y="640080"/>
                  </a:lnTo>
                  <a:lnTo>
                    <a:pt x="73152" y="640080"/>
                  </a:lnTo>
                  <a:lnTo>
                    <a:pt x="44684" y="634331"/>
                  </a:lnTo>
                  <a:lnTo>
                    <a:pt x="21431" y="618653"/>
                  </a:lnTo>
                  <a:lnTo>
                    <a:pt x="5750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506718" y="5644083"/>
            <a:ext cx="6096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Clear Reasons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447280" y="571266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668768" y="5498591"/>
            <a:ext cx="1155700" cy="652780"/>
            <a:chOff x="7668768" y="5498591"/>
            <a:chExt cx="1155700" cy="652780"/>
          </a:xfrm>
        </p:grpSpPr>
        <p:sp>
          <p:nvSpPr>
            <p:cNvPr id="48" name="object 48"/>
            <p:cNvSpPr/>
            <p:nvPr/>
          </p:nvSpPr>
          <p:spPr>
            <a:xfrm>
              <a:off x="7674864" y="5504687"/>
              <a:ext cx="1143000" cy="640080"/>
            </a:xfrm>
            <a:custGeom>
              <a:avLst/>
              <a:gdLst/>
              <a:ahLst/>
              <a:cxnLst/>
              <a:rect l="l" t="t" r="r" b="b"/>
              <a:pathLst>
                <a:path w="1143000" h="640079">
                  <a:moveTo>
                    <a:pt x="106984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401"/>
                  </a:lnTo>
                  <a:lnTo>
                    <a:pt x="21431" y="618653"/>
                  </a:lnTo>
                  <a:lnTo>
                    <a:pt x="44684" y="634331"/>
                  </a:lnTo>
                  <a:lnTo>
                    <a:pt x="73151" y="640080"/>
                  </a:lnTo>
                  <a:lnTo>
                    <a:pt x="1069847" y="640080"/>
                  </a:lnTo>
                  <a:lnTo>
                    <a:pt x="1098315" y="634331"/>
                  </a:lnTo>
                  <a:lnTo>
                    <a:pt x="1121568" y="618653"/>
                  </a:lnTo>
                  <a:lnTo>
                    <a:pt x="1137249" y="595401"/>
                  </a:lnTo>
                  <a:lnTo>
                    <a:pt x="1143000" y="566928"/>
                  </a:lnTo>
                  <a:lnTo>
                    <a:pt x="1143000" y="73152"/>
                  </a:lnTo>
                  <a:lnTo>
                    <a:pt x="1137249" y="44684"/>
                  </a:lnTo>
                  <a:lnTo>
                    <a:pt x="1121568" y="21431"/>
                  </a:lnTo>
                  <a:lnTo>
                    <a:pt x="1098315" y="5750"/>
                  </a:lnTo>
                  <a:lnTo>
                    <a:pt x="1069847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74864" y="5504687"/>
              <a:ext cx="1143000" cy="640080"/>
            </a:xfrm>
            <a:custGeom>
              <a:avLst/>
              <a:gdLst/>
              <a:ahLst/>
              <a:cxnLst/>
              <a:rect l="l" t="t" r="r" b="b"/>
              <a:pathLst>
                <a:path w="1143000" h="640079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069847" y="0"/>
                  </a:lnTo>
                  <a:lnTo>
                    <a:pt x="1098315" y="5750"/>
                  </a:lnTo>
                  <a:lnTo>
                    <a:pt x="1121568" y="21431"/>
                  </a:lnTo>
                  <a:lnTo>
                    <a:pt x="1137249" y="44684"/>
                  </a:lnTo>
                  <a:lnTo>
                    <a:pt x="1143000" y="73152"/>
                  </a:lnTo>
                  <a:lnTo>
                    <a:pt x="1143000" y="566928"/>
                  </a:lnTo>
                  <a:lnTo>
                    <a:pt x="1137249" y="595401"/>
                  </a:lnTo>
                  <a:lnTo>
                    <a:pt x="1121568" y="618653"/>
                  </a:lnTo>
                  <a:lnTo>
                    <a:pt x="1098315" y="634331"/>
                  </a:lnTo>
                  <a:lnTo>
                    <a:pt x="1069847" y="640080"/>
                  </a:lnTo>
                  <a:lnTo>
                    <a:pt x="73151" y="640080"/>
                  </a:lnTo>
                  <a:lnTo>
                    <a:pt x="44684" y="634331"/>
                  </a:lnTo>
                  <a:lnTo>
                    <a:pt x="21431" y="618653"/>
                  </a:lnTo>
                  <a:lnTo>
                    <a:pt x="5750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922768" y="5644083"/>
            <a:ext cx="6483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Audit Log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8881998" y="571266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104376" y="5498591"/>
            <a:ext cx="1153795" cy="652780"/>
            <a:chOff x="9104376" y="5498591"/>
            <a:chExt cx="1153795" cy="652780"/>
          </a:xfrm>
        </p:grpSpPr>
        <p:sp>
          <p:nvSpPr>
            <p:cNvPr id="53" name="object 53"/>
            <p:cNvSpPr/>
            <p:nvPr/>
          </p:nvSpPr>
          <p:spPr>
            <a:xfrm>
              <a:off x="9110472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106832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401"/>
                  </a:lnTo>
                  <a:lnTo>
                    <a:pt x="21431" y="618653"/>
                  </a:lnTo>
                  <a:lnTo>
                    <a:pt x="44684" y="634331"/>
                  </a:lnTo>
                  <a:lnTo>
                    <a:pt x="73151" y="640080"/>
                  </a:lnTo>
                  <a:lnTo>
                    <a:pt x="1068324" y="640080"/>
                  </a:lnTo>
                  <a:lnTo>
                    <a:pt x="1096791" y="634331"/>
                  </a:lnTo>
                  <a:lnTo>
                    <a:pt x="1120044" y="618653"/>
                  </a:lnTo>
                  <a:lnTo>
                    <a:pt x="1135725" y="595401"/>
                  </a:lnTo>
                  <a:lnTo>
                    <a:pt x="1141476" y="566928"/>
                  </a:lnTo>
                  <a:lnTo>
                    <a:pt x="1141476" y="73152"/>
                  </a:lnTo>
                  <a:lnTo>
                    <a:pt x="1135725" y="44684"/>
                  </a:lnTo>
                  <a:lnTo>
                    <a:pt x="1120044" y="21431"/>
                  </a:lnTo>
                  <a:lnTo>
                    <a:pt x="1096791" y="5750"/>
                  </a:lnTo>
                  <a:lnTo>
                    <a:pt x="1068324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110472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068324" y="0"/>
                  </a:lnTo>
                  <a:lnTo>
                    <a:pt x="1096791" y="5750"/>
                  </a:lnTo>
                  <a:lnTo>
                    <a:pt x="1120044" y="21431"/>
                  </a:lnTo>
                  <a:lnTo>
                    <a:pt x="1135725" y="44684"/>
                  </a:lnTo>
                  <a:lnTo>
                    <a:pt x="1141476" y="73152"/>
                  </a:lnTo>
                  <a:lnTo>
                    <a:pt x="1141476" y="566928"/>
                  </a:lnTo>
                  <a:lnTo>
                    <a:pt x="1135725" y="595401"/>
                  </a:lnTo>
                  <a:lnTo>
                    <a:pt x="1120044" y="618653"/>
                  </a:lnTo>
                  <a:lnTo>
                    <a:pt x="1096791" y="634331"/>
                  </a:lnTo>
                  <a:lnTo>
                    <a:pt x="1068324" y="640080"/>
                  </a:lnTo>
                  <a:lnTo>
                    <a:pt x="73151" y="640080"/>
                  </a:lnTo>
                  <a:lnTo>
                    <a:pt x="44684" y="634331"/>
                  </a:lnTo>
                  <a:lnTo>
                    <a:pt x="21431" y="618653"/>
                  </a:lnTo>
                  <a:lnTo>
                    <a:pt x="5750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9400158" y="5644083"/>
            <a:ext cx="56261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Sanction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10316718" y="5712663"/>
            <a:ext cx="163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538459" y="5498591"/>
            <a:ext cx="1153795" cy="652780"/>
            <a:chOff x="10538459" y="5498591"/>
            <a:chExt cx="1153795" cy="652780"/>
          </a:xfrm>
        </p:grpSpPr>
        <p:sp>
          <p:nvSpPr>
            <p:cNvPr id="58" name="object 58"/>
            <p:cNvSpPr/>
            <p:nvPr/>
          </p:nvSpPr>
          <p:spPr>
            <a:xfrm>
              <a:off x="10544555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106832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401"/>
                  </a:lnTo>
                  <a:lnTo>
                    <a:pt x="21431" y="618653"/>
                  </a:lnTo>
                  <a:lnTo>
                    <a:pt x="44684" y="634331"/>
                  </a:lnTo>
                  <a:lnTo>
                    <a:pt x="73151" y="640080"/>
                  </a:lnTo>
                  <a:lnTo>
                    <a:pt x="1068324" y="640080"/>
                  </a:lnTo>
                  <a:lnTo>
                    <a:pt x="1096791" y="634331"/>
                  </a:lnTo>
                  <a:lnTo>
                    <a:pt x="1120044" y="618653"/>
                  </a:lnTo>
                  <a:lnTo>
                    <a:pt x="1135725" y="595401"/>
                  </a:lnTo>
                  <a:lnTo>
                    <a:pt x="1141476" y="566928"/>
                  </a:lnTo>
                  <a:lnTo>
                    <a:pt x="1141476" y="73152"/>
                  </a:lnTo>
                  <a:lnTo>
                    <a:pt x="1135725" y="44684"/>
                  </a:lnTo>
                  <a:lnTo>
                    <a:pt x="1120044" y="21431"/>
                  </a:lnTo>
                  <a:lnTo>
                    <a:pt x="1096791" y="5750"/>
                  </a:lnTo>
                  <a:lnTo>
                    <a:pt x="1068324" y="0"/>
                  </a:lnTo>
                  <a:close/>
                </a:path>
              </a:pathLst>
            </a:custGeom>
            <a:solidFill>
              <a:srgbClr val="1F4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544555" y="5504687"/>
              <a:ext cx="1141730" cy="640080"/>
            </a:xfrm>
            <a:custGeom>
              <a:avLst/>
              <a:gdLst/>
              <a:ahLst/>
              <a:cxnLst/>
              <a:rect l="l" t="t" r="r" b="b"/>
              <a:pathLst>
                <a:path w="1141729" h="640079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068324" y="0"/>
                  </a:lnTo>
                  <a:lnTo>
                    <a:pt x="1096791" y="5750"/>
                  </a:lnTo>
                  <a:lnTo>
                    <a:pt x="1120044" y="21431"/>
                  </a:lnTo>
                  <a:lnTo>
                    <a:pt x="1135725" y="44684"/>
                  </a:lnTo>
                  <a:lnTo>
                    <a:pt x="1141476" y="73152"/>
                  </a:lnTo>
                  <a:lnTo>
                    <a:pt x="1141476" y="566928"/>
                  </a:lnTo>
                  <a:lnTo>
                    <a:pt x="1135725" y="595401"/>
                  </a:lnTo>
                  <a:lnTo>
                    <a:pt x="1120044" y="618653"/>
                  </a:lnTo>
                  <a:lnTo>
                    <a:pt x="1096791" y="634331"/>
                  </a:lnTo>
                  <a:lnTo>
                    <a:pt x="1068324" y="640080"/>
                  </a:lnTo>
                  <a:lnTo>
                    <a:pt x="73151" y="640080"/>
                  </a:lnTo>
                  <a:lnTo>
                    <a:pt x="44684" y="634331"/>
                  </a:lnTo>
                  <a:lnTo>
                    <a:pt x="21431" y="618653"/>
                  </a:lnTo>
                  <a:lnTo>
                    <a:pt x="5750" y="595401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0802873" y="5723940"/>
            <a:ext cx="6286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Disbursed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latin typeface="Segoe UI"/>
              </a:defRPr>
            </a:pPr>
            <a:r>
              <a:t>PROBLEM STATEMENT AND 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33915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The 4 Critical Problems in Current Loan Processing and Why We Solve Them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1508760"/>
            <a:ext cx="6949440" cy="329565"/>
          </a:xfrm>
          <a:custGeom>
            <a:avLst/>
            <a:gdLst/>
            <a:ahLst/>
            <a:cxnLst/>
            <a:rect l="l" t="t" r="r" b="b"/>
            <a:pathLst>
              <a:path w="6949440" h="329564">
                <a:moveTo>
                  <a:pt x="0" y="329184"/>
                </a:moveTo>
                <a:lnTo>
                  <a:pt x="6949440" y="329184"/>
                </a:lnTo>
                <a:lnTo>
                  <a:pt x="694944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823" y="1502663"/>
            <a:ext cx="696214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4 MAJOR PROBLEMS IN LENDING</a:t>
            </a:r>
          </a:p>
        </p:txBody>
      </p:sp>
      <p:sp>
        <p:nvSpPr>
          <p:cNvPr id="11" name="object 11"/>
          <p:cNvSpPr/>
          <p:nvPr/>
        </p:nvSpPr>
        <p:spPr>
          <a:xfrm>
            <a:off x="7680959" y="1508760"/>
            <a:ext cx="4005579" cy="329565"/>
          </a:xfrm>
          <a:custGeom>
            <a:avLst/>
            <a:gdLst/>
            <a:ahLst/>
            <a:cxnLst/>
            <a:rect l="l" t="t" r="r" b="b"/>
            <a:pathLst>
              <a:path w="4005579" h="329564">
                <a:moveTo>
                  <a:pt x="0" y="329184"/>
                </a:moveTo>
                <a:lnTo>
                  <a:pt x="4005072" y="329184"/>
                </a:lnTo>
                <a:lnTo>
                  <a:pt x="4005072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74864" y="1502663"/>
            <a:ext cx="4017645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OUR NEED &amp; SOLUTION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8348" y="1833372"/>
            <a:ext cx="6958965" cy="3255645"/>
            <a:chOff x="498348" y="1833372"/>
            <a:chExt cx="6958965" cy="3255645"/>
          </a:xfrm>
        </p:grpSpPr>
        <p:sp>
          <p:nvSpPr>
            <p:cNvPr id="8" name="object 8"/>
            <p:cNvSpPr/>
            <p:nvPr/>
          </p:nvSpPr>
          <p:spPr>
            <a:xfrm>
              <a:off x="502920" y="1837944"/>
              <a:ext cx="6949440" cy="3246120"/>
            </a:xfrm>
            <a:custGeom>
              <a:avLst/>
              <a:gdLst/>
              <a:ahLst/>
              <a:cxnLst/>
              <a:rect l="l" t="t" r="r" b="b"/>
              <a:pathLst>
                <a:path w="6949440" h="3246120">
                  <a:moveTo>
                    <a:pt x="6876287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3172967"/>
                  </a:lnTo>
                  <a:lnTo>
                    <a:pt x="5749" y="3201435"/>
                  </a:lnTo>
                  <a:lnTo>
                    <a:pt x="21428" y="3224688"/>
                  </a:lnTo>
                  <a:lnTo>
                    <a:pt x="44684" y="3240369"/>
                  </a:lnTo>
                  <a:lnTo>
                    <a:pt x="73164" y="3246119"/>
                  </a:lnTo>
                  <a:lnTo>
                    <a:pt x="6876287" y="3246119"/>
                  </a:lnTo>
                  <a:lnTo>
                    <a:pt x="6904755" y="3240369"/>
                  </a:lnTo>
                  <a:lnTo>
                    <a:pt x="6928008" y="3224688"/>
                  </a:lnTo>
                  <a:lnTo>
                    <a:pt x="6943689" y="3201435"/>
                  </a:lnTo>
                  <a:lnTo>
                    <a:pt x="6949439" y="3172967"/>
                  </a:lnTo>
                  <a:lnTo>
                    <a:pt x="6949439" y="73151"/>
                  </a:lnTo>
                  <a:lnTo>
                    <a:pt x="6943689" y="44684"/>
                  </a:lnTo>
                  <a:lnTo>
                    <a:pt x="6928008" y="21431"/>
                  </a:lnTo>
                  <a:lnTo>
                    <a:pt x="6904755" y="5750"/>
                  </a:lnTo>
                  <a:lnTo>
                    <a:pt x="687628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20" y="1837944"/>
              <a:ext cx="6949440" cy="3246120"/>
            </a:xfrm>
            <a:custGeom>
              <a:avLst/>
              <a:gdLst/>
              <a:ahLst/>
              <a:cxnLst/>
              <a:rect l="l" t="t" r="r" b="b"/>
              <a:pathLst>
                <a:path w="6949440" h="3246120">
                  <a:moveTo>
                    <a:pt x="0" y="73151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6876287" y="0"/>
                  </a:lnTo>
                  <a:lnTo>
                    <a:pt x="6904755" y="5750"/>
                  </a:lnTo>
                  <a:lnTo>
                    <a:pt x="6928008" y="21431"/>
                  </a:lnTo>
                  <a:lnTo>
                    <a:pt x="6943689" y="44684"/>
                  </a:lnTo>
                  <a:lnTo>
                    <a:pt x="6949439" y="73151"/>
                  </a:lnTo>
                  <a:lnTo>
                    <a:pt x="6949439" y="3172967"/>
                  </a:lnTo>
                  <a:lnTo>
                    <a:pt x="6943689" y="3201435"/>
                  </a:lnTo>
                  <a:lnTo>
                    <a:pt x="6928008" y="3224688"/>
                  </a:lnTo>
                  <a:lnTo>
                    <a:pt x="6904755" y="3240369"/>
                  </a:lnTo>
                  <a:lnTo>
                    <a:pt x="6876287" y="3246119"/>
                  </a:lnTo>
                  <a:lnTo>
                    <a:pt x="73164" y="3246119"/>
                  </a:lnTo>
                  <a:lnTo>
                    <a:pt x="44684" y="3240369"/>
                  </a:lnTo>
                  <a:lnTo>
                    <a:pt x="21428" y="3224688"/>
                  </a:lnTo>
                  <a:lnTo>
                    <a:pt x="5749" y="3201435"/>
                  </a:lnTo>
                  <a:lnTo>
                    <a:pt x="0" y="3172967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8819" y="1912812"/>
            <a:ext cx="6320790" cy="14744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1. Manual Document Delays: Verifying physical paperwork takes 3 to 7 days, delaying urgent loan access for legitimate borrowers.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2. Fake Certificate Fraud: Applicants submit forged income certificates or edited ID cards that human reviewers often fail to detect.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3. Stolen OTPs &amp; Identity Theft: Scammers trick people into sharing Aadhaar or PAN OTPs via phishing or SIM swap, creating fake loans in innocent people's names.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4. Unexplained Black-Box Rejections: Existing AI tools reject applicants without clear reasons, leaving borrowers confused and violating RBI rules.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7676388" y="1833372"/>
            <a:ext cx="4014470" cy="3255645"/>
            <a:chOff x="7676388" y="1833372"/>
            <a:chExt cx="4014470" cy="3255645"/>
          </a:xfrm>
        </p:grpSpPr>
        <p:sp>
          <p:nvSpPr>
            <p:cNvPr id="14" name="object 14"/>
            <p:cNvSpPr/>
            <p:nvPr/>
          </p:nvSpPr>
          <p:spPr>
            <a:xfrm>
              <a:off x="7680960" y="1837944"/>
              <a:ext cx="4005579" cy="3246120"/>
            </a:xfrm>
            <a:custGeom>
              <a:avLst/>
              <a:gdLst/>
              <a:ahLst/>
              <a:cxnLst/>
              <a:rect l="l" t="t" r="r" b="b"/>
              <a:pathLst>
                <a:path w="4005579" h="3246120">
                  <a:moveTo>
                    <a:pt x="39319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172967"/>
                  </a:lnTo>
                  <a:lnTo>
                    <a:pt x="5750" y="3201435"/>
                  </a:lnTo>
                  <a:lnTo>
                    <a:pt x="21431" y="3224688"/>
                  </a:lnTo>
                  <a:lnTo>
                    <a:pt x="44684" y="3240369"/>
                  </a:lnTo>
                  <a:lnTo>
                    <a:pt x="73151" y="3246119"/>
                  </a:lnTo>
                  <a:lnTo>
                    <a:pt x="3931920" y="3246119"/>
                  </a:lnTo>
                  <a:lnTo>
                    <a:pt x="3960387" y="3240369"/>
                  </a:lnTo>
                  <a:lnTo>
                    <a:pt x="3983640" y="3224688"/>
                  </a:lnTo>
                  <a:lnTo>
                    <a:pt x="3999321" y="3201435"/>
                  </a:lnTo>
                  <a:lnTo>
                    <a:pt x="4005072" y="3172967"/>
                  </a:lnTo>
                  <a:lnTo>
                    <a:pt x="4005072" y="73151"/>
                  </a:lnTo>
                  <a:lnTo>
                    <a:pt x="3999321" y="44684"/>
                  </a:lnTo>
                  <a:lnTo>
                    <a:pt x="3983640" y="21431"/>
                  </a:lnTo>
                  <a:lnTo>
                    <a:pt x="3960387" y="5750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80960" y="1837944"/>
              <a:ext cx="4005579" cy="3246120"/>
            </a:xfrm>
            <a:custGeom>
              <a:avLst/>
              <a:gdLst/>
              <a:ahLst/>
              <a:cxnLst/>
              <a:rect l="l" t="t" r="r" b="b"/>
              <a:pathLst>
                <a:path w="4005579" h="32461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931920" y="0"/>
                  </a:lnTo>
                  <a:lnTo>
                    <a:pt x="3960387" y="5750"/>
                  </a:lnTo>
                  <a:lnTo>
                    <a:pt x="3983640" y="21431"/>
                  </a:lnTo>
                  <a:lnTo>
                    <a:pt x="3999321" y="44684"/>
                  </a:lnTo>
                  <a:lnTo>
                    <a:pt x="4005072" y="73151"/>
                  </a:lnTo>
                  <a:lnTo>
                    <a:pt x="4005072" y="3172967"/>
                  </a:lnTo>
                  <a:lnTo>
                    <a:pt x="3999321" y="3201435"/>
                  </a:lnTo>
                  <a:lnTo>
                    <a:pt x="3983640" y="3224688"/>
                  </a:lnTo>
                  <a:lnTo>
                    <a:pt x="3960387" y="3240369"/>
                  </a:lnTo>
                  <a:lnTo>
                    <a:pt x="3931920" y="3246119"/>
                  </a:lnTo>
                  <a:lnTo>
                    <a:pt x="73151" y="3246119"/>
                  </a:lnTo>
                  <a:lnTo>
                    <a:pt x="44684" y="3240369"/>
                  </a:lnTo>
                  <a:lnTo>
                    <a:pt x="21431" y="3224688"/>
                  </a:lnTo>
                  <a:lnTo>
                    <a:pt x="5750" y="3201435"/>
                  </a:lnTo>
                  <a:lnTo>
                    <a:pt x="0" y="3172967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97748" y="1989785"/>
            <a:ext cx="335407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A modern, automated digital lending system that: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Connects directly to government sources (DigiLocker) to stop fake certificates.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Verifies the applicant's live physical face to make stolen OTPs useless.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Uses OCR to cross-check name spellings and details across documents.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Uses Explainable AI (EBM) to give simple, plain-English reasons for every decision.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496823" y="5297423"/>
            <a:ext cx="11195685" cy="561340"/>
            <a:chOff x="496823" y="5297423"/>
            <a:chExt cx="11195685" cy="561340"/>
          </a:xfrm>
        </p:grpSpPr>
        <p:sp>
          <p:nvSpPr>
            <p:cNvPr id="18" name="object 18"/>
            <p:cNvSpPr/>
            <p:nvPr/>
          </p:nvSpPr>
          <p:spPr>
            <a:xfrm>
              <a:off x="502919" y="5303519"/>
              <a:ext cx="11183620" cy="548640"/>
            </a:xfrm>
            <a:custGeom>
              <a:avLst/>
              <a:gdLst/>
              <a:ahLst/>
              <a:cxnLst/>
              <a:rect l="l" t="t" r="r" b="b"/>
              <a:pathLst>
                <a:path w="11183620" h="548639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11" y="515132"/>
                  </a:lnTo>
                  <a:lnTo>
                    <a:pt x="16068" y="532571"/>
                  </a:lnTo>
                  <a:lnTo>
                    <a:pt x="33507" y="544328"/>
                  </a:lnTo>
                  <a:lnTo>
                    <a:pt x="54864" y="548639"/>
                  </a:lnTo>
                  <a:lnTo>
                    <a:pt x="11128248" y="548639"/>
                  </a:lnTo>
                  <a:lnTo>
                    <a:pt x="11149625" y="544328"/>
                  </a:lnTo>
                  <a:lnTo>
                    <a:pt x="11167062" y="532571"/>
                  </a:lnTo>
                  <a:lnTo>
                    <a:pt x="11178807" y="515132"/>
                  </a:lnTo>
                  <a:lnTo>
                    <a:pt x="11183112" y="493775"/>
                  </a:lnTo>
                  <a:lnTo>
                    <a:pt x="11183112" y="54863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2919" y="5303519"/>
              <a:ext cx="11183620" cy="548640"/>
            </a:xfrm>
            <a:custGeom>
              <a:avLst/>
              <a:gdLst/>
              <a:ahLst/>
              <a:cxnLst/>
              <a:rect l="l" t="t" r="r" b="b"/>
              <a:pathLst>
                <a:path w="11183620" h="54863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3"/>
                  </a:lnTo>
                  <a:lnTo>
                    <a:pt x="11183112" y="493775"/>
                  </a:lnTo>
                  <a:lnTo>
                    <a:pt x="11178807" y="515132"/>
                  </a:lnTo>
                  <a:lnTo>
                    <a:pt x="11167062" y="532571"/>
                  </a:lnTo>
                  <a:lnTo>
                    <a:pt x="11149625" y="544328"/>
                  </a:lnTo>
                  <a:lnTo>
                    <a:pt x="11128248" y="548639"/>
                  </a:lnTo>
                  <a:lnTo>
                    <a:pt x="54864" y="548639"/>
                  </a:lnTo>
                  <a:lnTo>
                    <a:pt x="33507" y="544328"/>
                  </a:lnTo>
                  <a:lnTo>
                    <a:pt x="16068" y="532571"/>
                  </a:lnTo>
                  <a:lnTo>
                    <a:pt x="4311" y="515132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02919" y="5303520"/>
            <a:ext cx="11183620" cy="5486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defRPr sz="850">
                <a:latin typeface="Segoe UI"/>
              </a:defRPr>
            </a:pPr>
            <a:r>
              <a:t>Motivation: Comply with RBI Digital Lending Guidelines (DLG-2022/23) demanding speed, fraud prevention, and complete transparency in credit decisions.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393890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Five Concrete Project Goals Mapped to Implemented Modules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9744" y="1551305"/>
          <a:ext cx="11182984" cy="3398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marL="0" marR="0" marT="76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OBJECTIVE</a:t>
                      </a:r>
                    </a:p>
                  </a:txBody>
                  <a:tcPr marL="0" marR="0" marT="76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0" marR="0" marT="76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Automated Document Fetch: Connect to DigiLocker to fetch authentic Aadhaar &amp; PAN directly, eliminating fake certificates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Live Biometric Face Matching: Compare applicant's live webcam face with Aadhaar &amp; PAN photos to prevent OTP theft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OCR Text Extraction &amp; Cross-Check: Automatically read document details and cross-verify name spelling across IDs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Explainable Credit Assessment: Use Explainable Boosting Machine (EBM) to score risk and show plain-English reasons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Machine Learning Benchmarking: Compare EBM against Random Forest to ensure high accuracy without losing transparency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82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LITERATURE</a:t>
            </a:r>
            <a:r>
              <a:rPr spc="-70" dirty="0"/>
              <a:t> </a:t>
            </a:r>
            <a:r>
              <a:rPr dirty="0"/>
              <a:t>REVIEW</a:t>
            </a:r>
            <a:r>
              <a:rPr spc="-8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RESEARCH</a:t>
            </a:r>
            <a:r>
              <a:rPr spc="-80" dirty="0"/>
              <a:t> </a:t>
            </a:r>
            <a:r>
              <a:rPr spc="-25" dirty="0"/>
              <a:t>GAP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596" y="894076"/>
            <a:ext cx="6946852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Comparing Current Lending Approaches to Our Unified Smart System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9744" y="1551305"/>
          <a:ext cx="11182984" cy="3015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STUDY / APPROACH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CONTRIBUTION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GAP FOR THIS PROJECT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Traditional Manual Lending</a:t>
                      </a:r>
                    </a:p>
                  </a:txBody>
                  <a:tcPr marL="0" marR="0" marT="15494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Manual xerox review &amp; credit scorecards</a:t>
                      </a:r>
                    </a:p>
                  </a:txBody>
                  <a:tcPr marL="0" marR="0" marT="15494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Very slow (3-7 days); high fraud risk from fake documents</a:t>
                      </a:r>
                    </a:p>
                  </a:txBody>
                  <a:tcPr marL="0" marR="0" marT="15494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OTP-Only Digital Lending</a:t>
                      </a:r>
                    </a:p>
                  </a:txBody>
                  <a:tcPr marL="0" marR="0" marT="15494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Instant verification using mobile OTPs</a:t>
                      </a:r>
                    </a:p>
                  </a:txBody>
                  <a:tcPr marL="0" marR="0" marT="15494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Vulnerable to stolen OTPs, phishing, and identity theft</a:t>
                      </a:r>
                    </a:p>
                  </a:txBody>
                  <a:tcPr marL="0" marR="0" marT="15494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Deep Learning &amp; Ensembles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High accuracy credit prediction (Random Forest / XGBoost)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"Black Box" opacity; cannot explain why a loan was rejected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Post-Hoc Explanations (SHAP)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Explains black-box models after prediction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Approximations can be misleading and unstable on correlated data</a:t>
                      </a:r>
                    </a:p>
                  </a:txBody>
                  <a:tcPr marL="0" marR="0" marT="6794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Our Proposed System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DigiLocker + Face Match + OCR + EBM + Random Forest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Fast, fraud-proof, physically verified, and 100% transparent</a:t>
                      </a:r>
                    </a:p>
                  </a:txBody>
                  <a:tcPr marL="0" marR="0" marT="15557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96823" y="5205984"/>
            <a:ext cx="11195685" cy="561340"/>
            <a:chOff x="496823" y="5205984"/>
            <a:chExt cx="11195685" cy="561340"/>
          </a:xfrm>
        </p:grpSpPr>
        <p:sp>
          <p:nvSpPr>
            <p:cNvPr id="7" name="object 7"/>
            <p:cNvSpPr/>
            <p:nvPr/>
          </p:nvSpPr>
          <p:spPr>
            <a:xfrm>
              <a:off x="502919" y="5212080"/>
              <a:ext cx="11183620" cy="548640"/>
            </a:xfrm>
            <a:custGeom>
              <a:avLst/>
              <a:gdLst/>
              <a:ahLst/>
              <a:cxnLst/>
              <a:rect l="l" t="t" r="r" b="b"/>
              <a:pathLst>
                <a:path w="11183620" h="548639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493776"/>
                  </a:lnTo>
                  <a:lnTo>
                    <a:pt x="4311" y="515132"/>
                  </a:lnTo>
                  <a:lnTo>
                    <a:pt x="16068" y="532571"/>
                  </a:lnTo>
                  <a:lnTo>
                    <a:pt x="33507" y="544328"/>
                  </a:lnTo>
                  <a:lnTo>
                    <a:pt x="54864" y="548640"/>
                  </a:lnTo>
                  <a:lnTo>
                    <a:pt x="11128248" y="548640"/>
                  </a:lnTo>
                  <a:lnTo>
                    <a:pt x="11149625" y="544328"/>
                  </a:lnTo>
                  <a:lnTo>
                    <a:pt x="11167062" y="532571"/>
                  </a:lnTo>
                  <a:lnTo>
                    <a:pt x="11178807" y="515132"/>
                  </a:lnTo>
                  <a:lnTo>
                    <a:pt x="11183112" y="493776"/>
                  </a:lnTo>
                  <a:lnTo>
                    <a:pt x="11183112" y="54864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19" y="5212080"/>
              <a:ext cx="11183620" cy="548640"/>
            </a:xfrm>
            <a:custGeom>
              <a:avLst/>
              <a:gdLst/>
              <a:ahLst/>
              <a:cxnLst/>
              <a:rect l="l" t="t" r="r" b="b"/>
              <a:pathLst>
                <a:path w="11183620" h="548639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4"/>
                  </a:lnTo>
                  <a:lnTo>
                    <a:pt x="11183112" y="493776"/>
                  </a:lnTo>
                  <a:lnTo>
                    <a:pt x="11178807" y="515132"/>
                  </a:lnTo>
                  <a:lnTo>
                    <a:pt x="11167062" y="532571"/>
                  </a:lnTo>
                  <a:lnTo>
                    <a:pt x="11149625" y="544328"/>
                  </a:lnTo>
                  <a:lnTo>
                    <a:pt x="11128248" y="548640"/>
                  </a:lnTo>
                  <a:lnTo>
                    <a:pt x="54864" y="548640"/>
                  </a:lnTo>
                  <a:lnTo>
                    <a:pt x="33507" y="544328"/>
                  </a:lnTo>
                  <a:lnTo>
                    <a:pt x="16068" y="532571"/>
                  </a:lnTo>
                  <a:lnTo>
                    <a:pt x="4311" y="515132"/>
                  </a:lnTo>
                  <a:lnTo>
                    <a:pt x="0" y="493776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2919" y="5212079"/>
            <a:ext cx="11183620" cy="5486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defRPr sz="850">
                <a:latin typeface="Segoe UI"/>
              </a:defRPr>
            </a:pPr>
            <a:r>
              <a:t>Research Gap: Existing platforms only address one aspect (either fast credit scoring OR face match). None combine government DigiLocker verification, 3-way biometrics, and glass-box explainable AI in a unified workflow.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PROPOSED</a:t>
            </a:r>
            <a:r>
              <a:rPr spc="-12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4596" y="894075"/>
            <a:ext cx="4928557" cy="639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050">
                <a:solidFill>
                  <a:srgbClr val="6B6B6B"/>
                </a:solidFill>
                <a:latin typeface="Calibri"/>
              </a:defRPr>
            </a:pPr>
            <a:r>
              <a:t>Five-Stage Simple Pipeline from Document Fetch to Audited Decision</a:t>
            </a:r>
          </a:p>
          <a:p>
            <a:pPr>
              <a:defRPr sz="1050">
                <a:solidFill>
                  <a:srgbClr val="6B6B6B"/>
                </a:solidFill>
                <a:latin typeface="Calibri"/>
              </a:defRPr>
            </a:pPr>
          </a:p>
          <a:p>
            <a:pPr>
              <a:defRPr sz="1050">
                <a:solidFill>
                  <a:srgbClr val="6B6B6B"/>
                </a:solidFill>
                <a:latin typeface="Calibri"/>
              </a:defRPr>
            </a:pPr>
            <a:r>
              <a:t>END-TO-END WORKFLOW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6823" y="1731264"/>
            <a:ext cx="1632585" cy="744220"/>
            <a:chOff x="496823" y="1731264"/>
            <a:chExt cx="1632585" cy="744220"/>
          </a:xfrm>
        </p:grpSpPr>
        <p:sp>
          <p:nvSpPr>
            <p:cNvPr id="6" name="object 6"/>
            <p:cNvSpPr/>
            <p:nvPr/>
          </p:nvSpPr>
          <p:spPr>
            <a:xfrm>
              <a:off x="502919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15468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48" y="686835"/>
                  </a:lnTo>
                  <a:lnTo>
                    <a:pt x="21426" y="710088"/>
                  </a:lnTo>
                  <a:lnTo>
                    <a:pt x="44678" y="725769"/>
                  </a:lnTo>
                  <a:lnTo>
                    <a:pt x="73151" y="731519"/>
                  </a:lnTo>
                  <a:lnTo>
                    <a:pt x="1546860" y="731519"/>
                  </a:lnTo>
                  <a:lnTo>
                    <a:pt x="1575327" y="725769"/>
                  </a:lnTo>
                  <a:lnTo>
                    <a:pt x="1598580" y="710088"/>
                  </a:lnTo>
                  <a:lnTo>
                    <a:pt x="1614261" y="686835"/>
                  </a:lnTo>
                  <a:lnTo>
                    <a:pt x="1620012" y="658367"/>
                  </a:lnTo>
                  <a:lnTo>
                    <a:pt x="1620012" y="73151"/>
                  </a:lnTo>
                  <a:lnTo>
                    <a:pt x="1614261" y="44684"/>
                  </a:lnTo>
                  <a:lnTo>
                    <a:pt x="1598580" y="21431"/>
                  </a:lnTo>
                  <a:lnTo>
                    <a:pt x="1575327" y="5750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1F4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919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1546860" y="0"/>
                  </a:lnTo>
                  <a:lnTo>
                    <a:pt x="1575327" y="5750"/>
                  </a:lnTo>
                  <a:lnTo>
                    <a:pt x="1598580" y="21431"/>
                  </a:lnTo>
                  <a:lnTo>
                    <a:pt x="1614261" y="44684"/>
                  </a:lnTo>
                  <a:lnTo>
                    <a:pt x="1620012" y="73151"/>
                  </a:lnTo>
                  <a:lnTo>
                    <a:pt x="1620012" y="658367"/>
                  </a:lnTo>
                  <a:lnTo>
                    <a:pt x="1614261" y="686835"/>
                  </a:lnTo>
                  <a:lnTo>
                    <a:pt x="1598580" y="710088"/>
                  </a:lnTo>
                  <a:lnTo>
                    <a:pt x="1575327" y="725769"/>
                  </a:lnTo>
                  <a:lnTo>
                    <a:pt x="1546860" y="731519"/>
                  </a:lnTo>
                  <a:lnTo>
                    <a:pt x="73151" y="731519"/>
                  </a:lnTo>
                  <a:lnTo>
                    <a:pt x="44678" y="725769"/>
                  </a:lnTo>
                  <a:lnTo>
                    <a:pt x="21426" y="710088"/>
                  </a:lnTo>
                  <a:lnTo>
                    <a:pt x="5748" y="686835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6713" y="1921509"/>
            <a:ext cx="45339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DigiLocker</a:t>
            </a:r>
          </a:p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SSO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87067" y="1989785"/>
            <a:ext cx="1638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09444" y="1731264"/>
            <a:ext cx="1632585" cy="744220"/>
            <a:chOff x="2409444" y="1731264"/>
            <a:chExt cx="1632585" cy="744220"/>
          </a:xfrm>
        </p:grpSpPr>
        <p:sp>
          <p:nvSpPr>
            <p:cNvPr id="11" name="object 11"/>
            <p:cNvSpPr/>
            <p:nvPr/>
          </p:nvSpPr>
          <p:spPr>
            <a:xfrm>
              <a:off x="241554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1546860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2" y="731519"/>
                  </a:lnTo>
                  <a:lnTo>
                    <a:pt x="1546860" y="731519"/>
                  </a:lnTo>
                  <a:lnTo>
                    <a:pt x="1575327" y="725769"/>
                  </a:lnTo>
                  <a:lnTo>
                    <a:pt x="1598580" y="710088"/>
                  </a:lnTo>
                  <a:lnTo>
                    <a:pt x="1614261" y="686835"/>
                  </a:lnTo>
                  <a:lnTo>
                    <a:pt x="1620012" y="658367"/>
                  </a:lnTo>
                  <a:lnTo>
                    <a:pt x="1620012" y="73151"/>
                  </a:lnTo>
                  <a:lnTo>
                    <a:pt x="1614261" y="44684"/>
                  </a:lnTo>
                  <a:lnTo>
                    <a:pt x="1598580" y="21431"/>
                  </a:lnTo>
                  <a:lnTo>
                    <a:pt x="1575327" y="5750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554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1546860" y="0"/>
                  </a:lnTo>
                  <a:lnTo>
                    <a:pt x="1575327" y="5750"/>
                  </a:lnTo>
                  <a:lnTo>
                    <a:pt x="1598580" y="21431"/>
                  </a:lnTo>
                  <a:lnTo>
                    <a:pt x="1614261" y="44684"/>
                  </a:lnTo>
                  <a:lnTo>
                    <a:pt x="1620012" y="73151"/>
                  </a:lnTo>
                  <a:lnTo>
                    <a:pt x="1620012" y="658367"/>
                  </a:lnTo>
                  <a:lnTo>
                    <a:pt x="1614261" y="686835"/>
                  </a:lnTo>
                  <a:lnTo>
                    <a:pt x="1598580" y="710088"/>
                  </a:lnTo>
                  <a:lnTo>
                    <a:pt x="1575327" y="725769"/>
                  </a:lnTo>
                  <a:lnTo>
                    <a:pt x="1546860" y="731519"/>
                  </a:lnTo>
                  <a:lnTo>
                    <a:pt x="73152" y="731519"/>
                  </a:lnTo>
                  <a:lnTo>
                    <a:pt x="44684" y="725769"/>
                  </a:lnTo>
                  <a:lnTo>
                    <a:pt x="21431" y="710088"/>
                  </a:lnTo>
                  <a:lnTo>
                    <a:pt x="5750" y="686835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40176" y="1921509"/>
            <a:ext cx="5715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Live Face</a:t>
            </a:r>
          </a:p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099940" y="1989785"/>
            <a:ext cx="1638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22064" y="1731264"/>
            <a:ext cx="1632585" cy="744220"/>
            <a:chOff x="4322064" y="1731264"/>
            <a:chExt cx="1632585" cy="744220"/>
          </a:xfrm>
        </p:grpSpPr>
        <p:sp>
          <p:nvSpPr>
            <p:cNvPr id="16" name="object 16"/>
            <p:cNvSpPr/>
            <p:nvPr/>
          </p:nvSpPr>
          <p:spPr>
            <a:xfrm>
              <a:off x="432816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154686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1" y="731519"/>
                  </a:lnTo>
                  <a:lnTo>
                    <a:pt x="1546860" y="731519"/>
                  </a:lnTo>
                  <a:lnTo>
                    <a:pt x="1575327" y="725769"/>
                  </a:lnTo>
                  <a:lnTo>
                    <a:pt x="1598580" y="710088"/>
                  </a:lnTo>
                  <a:lnTo>
                    <a:pt x="1614261" y="686835"/>
                  </a:lnTo>
                  <a:lnTo>
                    <a:pt x="1620012" y="658367"/>
                  </a:lnTo>
                  <a:lnTo>
                    <a:pt x="1620012" y="73151"/>
                  </a:lnTo>
                  <a:lnTo>
                    <a:pt x="1614261" y="44684"/>
                  </a:lnTo>
                  <a:lnTo>
                    <a:pt x="1598580" y="21431"/>
                  </a:lnTo>
                  <a:lnTo>
                    <a:pt x="1575327" y="5750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816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546860" y="0"/>
                  </a:lnTo>
                  <a:lnTo>
                    <a:pt x="1575327" y="5750"/>
                  </a:lnTo>
                  <a:lnTo>
                    <a:pt x="1598580" y="21431"/>
                  </a:lnTo>
                  <a:lnTo>
                    <a:pt x="1614261" y="44684"/>
                  </a:lnTo>
                  <a:lnTo>
                    <a:pt x="1620012" y="73151"/>
                  </a:lnTo>
                  <a:lnTo>
                    <a:pt x="1620012" y="658367"/>
                  </a:lnTo>
                  <a:lnTo>
                    <a:pt x="1614261" y="686835"/>
                  </a:lnTo>
                  <a:lnTo>
                    <a:pt x="1598580" y="710088"/>
                  </a:lnTo>
                  <a:lnTo>
                    <a:pt x="1575327" y="725769"/>
                  </a:lnTo>
                  <a:lnTo>
                    <a:pt x="1546860" y="731519"/>
                  </a:lnTo>
                  <a:lnTo>
                    <a:pt x="73151" y="731519"/>
                  </a:lnTo>
                  <a:lnTo>
                    <a:pt x="44684" y="725769"/>
                  </a:lnTo>
                  <a:lnTo>
                    <a:pt x="21431" y="710088"/>
                  </a:lnTo>
                  <a:lnTo>
                    <a:pt x="5750" y="686835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49748" y="1921509"/>
            <a:ext cx="57848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OCR Cross</a:t>
            </a:r>
          </a:p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Check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12941" y="1989785"/>
            <a:ext cx="1638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34684" y="1731264"/>
            <a:ext cx="1632585" cy="744220"/>
            <a:chOff x="6234684" y="1731264"/>
            <a:chExt cx="1632585" cy="744220"/>
          </a:xfrm>
        </p:grpSpPr>
        <p:sp>
          <p:nvSpPr>
            <p:cNvPr id="21" name="object 21"/>
            <p:cNvSpPr/>
            <p:nvPr/>
          </p:nvSpPr>
          <p:spPr>
            <a:xfrm>
              <a:off x="624078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1546860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2" y="731519"/>
                  </a:lnTo>
                  <a:lnTo>
                    <a:pt x="1546860" y="731519"/>
                  </a:lnTo>
                  <a:lnTo>
                    <a:pt x="1575327" y="725769"/>
                  </a:lnTo>
                  <a:lnTo>
                    <a:pt x="1598580" y="710088"/>
                  </a:lnTo>
                  <a:lnTo>
                    <a:pt x="1614261" y="686835"/>
                  </a:lnTo>
                  <a:lnTo>
                    <a:pt x="1620012" y="658367"/>
                  </a:lnTo>
                  <a:lnTo>
                    <a:pt x="1620012" y="73151"/>
                  </a:lnTo>
                  <a:lnTo>
                    <a:pt x="1614261" y="44684"/>
                  </a:lnTo>
                  <a:lnTo>
                    <a:pt x="1598580" y="21431"/>
                  </a:lnTo>
                  <a:lnTo>
                    <a:pt x="1575327" y="5750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4078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1546860" y="0"/>
                  </a:lnTo>
                  <a:lnTo>
                    <a:pt x="1575327" y="5750"/>
                  </a:lnTo>
                  <a:lnTo>
                    <a:pt x="1598580" y="21431"/>
                  </a:lnTo>
                  <a:lnTo>
                    <a:pt x="1614261" y="44684"/>
                  </a:lnTo>
                  <a:lnTo>
                    <a:pt x="1620012" y="73151"/>
                  </a:lnTo>
                  <a:lnTo>
                    <a:pt x="1620012" y="658367"/>
                  </a:lnTo>
                  <a:lnTo>
                    <a:pt x="1614261" y="686835"/>
                  </a:lnTo>
                  <a:lnTo>
                    <a:pt x="1598580" y="710088"/>
                  </a:lnTo>
                  <a:lnTo>
                    <a:pt x="1575327" y="725769"/>
                  </a:lnTo>
                  <a:lnTo>
                    <a:pt x="1546860" y="731519"/>
                  </a:lnTo>
                  <a:lnTo>
                    <a:pt x="73152" y="731519"/>
                  </a:lnTo>
                  <a:lnTo>
                    <a:pt x="44684" y="725769"/>
                  </a:lnTo>
                  <a:lnTo>
                    <a:pt x="21431" y="710088"/>
                  </a:lnTo>
                  <a:lnTo>
                    <a:pt x="5750" y="686835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191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768845" y="1921509"/>
            <a:ext cx="56705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EBM</a:t>
            </a:r>
          </a:p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925561" y="1989785"/>
            <a:ext cx="1638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147304" y="1731264"/>
            <a:ext cx="1632585" cy="744220"/>
            <a:chOff x="8147304" y="1731264"/>
            <a:chExt cx="1632585" cy="744220"/>
          </a:xfrm>
        </p:grpSpPr>
        <p:sp>
          <p:nvSpPr>
            <p:cNvPr id="26" name="object 26"/>
            <p:cNvSpPr/>
            <p:nvPr/>
          </p:nvSpPr>
          <p:spPr>
            <a:xfrm>
              <a:off x="815340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154685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1" y="731519"/>
                  </a:lnTo>
                  <a:lnTo>
                    <a:pt x="1546859" y="731519"/>
                  </a:lnTo>
                  <a:lnTo>
                    <a:pt x="1575327" y="725769"/>
                  </a:lnTo>
                  <a:lnTo>
                    <a:pt x="1598580" y="710088"/>
                  </a:lnTo>
                  <a:lnTo>
                    <a:pt x="1614261" y="686835"/>
                  </a:lnTo>
                  <a:lnTo>
                    <a:pt x="1620011" y="658367"/>
                  </a:lnTo>
                  <a:lnTo>
                    <a:pt x="1620011" y="73151"/>
                  </a:lnTo>
                  <a:lnTo>
                    <a:pt x="1614261" y="44684"/>
                  </a:lnTo>
                  <a:lnTo>
                    <a:pt x="1598580" y="21431"/>
                  </a:lnTo>
                  <a:lnTo>
                    <a:pt x="1575327" y="5750"/>
                  </a:lnTo>
                  <a:lnTo>
                    <a:pt x="1546859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53400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546859" y="0"/>
                  </a:lnTo>
                  <a:lnTo>
                    <a:pt x="1575327" y="5750"/>
                  </a:lnTo>
                  <a:lnTo>
                    <a:pt x="1598580" y="21431"/>
                  </a:lnTo>
                  <a:lnTo>
                    <a:pt x="1614261" y="44684"/>
                  </a:lnTo>
                  <a:lnTo>
                    <a:pt x="1620011" y="73151"/>
                  </a:lnTo>
                  <a:lnTo>
                    <a:pt x="1620011" y="658367"/>
                  </a:lnTo>
                  <a:lnTo>
                    <a:pt x="1614261" y="686835"/>
                  </a:lnTo>
                  <a:lnTo>
                    <a:pt x="1598580" y="710088"/>
                  </a:lnTo>
                  <a:lnTo>
                    <a:pt x="1575327" y="725769"/>
                  </a:lnTo>
                  <a:lnTo>
                    <a:pt x="1546859" y="731519"/>
                  </a:lnTo>
                  <a:lnTo>
                    <a:pt x="73151" y="731519"/>
                  </a:lnTo>
                  <a:lnTo>
                    <a:pt x="44684" y="725769"/>
                  </a:lnTo>
                  <a:lnTo>
                    <a:pt x="21431" y="710088"/>
                  </a:lnTo>
                  <a:lnTo>
                    <a:pt x="5750" y="686835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658859" y="1921509"/>
            <a:ext cx="6096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Clear</a:t>
            </a:r>
          </a:p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Reasons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838435" y="1989785"/>
            <a:ext cx="1638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C8A83E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059923" y="1731264"/>
            <a:ext cx="1632585" cy="744220"/>
            <a:chOff x="10059923" y="1731264"/>
            <a:chExt cx="1632585" cy="744220"/>
          </a:xfrm>
        </p:grpSpPr>
        <p:sp>
          <p:nvSpPr>
            <p:cNvPr id="31" name="object 31"/>
            <p:cNvSpPr/>
            <p:nvPr/>
          </p:nvSpPr>
          <p:spPr>
            <a:xfrm>
              <a:off x="10066019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154685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58367"/>
                  </a:lnTo>
                  <a:lnTo>
                    <a:pt x="5750" y="686835"/>
                  </a:lnTo>
                  <a:lnTo>
                    <a:pt x="21431" y="710088"/>
                  </a:lnTo>
                  <a:lnTo>
                    <a:pt x="44684" y="725769"/>
                  </a:lnTo>
                  <a:lnTo>
                    <a:pt x="73151" y="731519"/>
                  </a:lnTo>
                  <a:lnTo>
                    <a:pt x="1546859" y="731519"/>
                  </a:lnTo>
                  <a:lnTo>
                    <a:pt x="1575327" y="725769"/>
                  </a:lnTo>
                  <a:lnTo>
                    <a:pt x="1598580" y="710088"/>
                  </a:lnTo>
                  <a:lnTo>
                    <a:pt x="1614261" y="686835"/>
                  </a:lnTo>
                  <a:lnTo>
                    <a:pt x="1620011" y="658367"/>
                  </a:lnTo>
                  <a:lnTo>
                    <a:pt x="1620011" y="73151"/>
                  </a:lnTo>
                  <a:lnTo>
                    <a:pt x="1614261" y="44684"/>
                  </a:lnTo>
                  <a:lnTo>
                    <a:pt x="1598580" y="21431"/>
                  </a:lnTo>
                  <a:lnTo>
                    <a:pt x="1575327" y="5750"/>
                  </a:lnTo>
                  <a:lnTo>
                    <a:pt x="1546859" y="0"/>
                  </a:lnTo>
                  <a:close/>
                </a:path>
              </a:pathLst>
            </a:custGeom>
            <a:solidFill>
              <a:srgbClr val="1F4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066019" y="1737360"/>
              <a:ext cx="1620520" cy="731520"/>
            </a:xfrm>
            <a:custGeom>
              <a:avLst/>
              <a:gdLst/>
              <a:ahLst/>
              <a:cxnLst/>
              <a:rect l="l" t="t" r="r" b="b"/>
              <a:pathLst>
                <a:path w="1620520" h="73151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546859" y="0"/>
                  </a:lnTo>
                  <a:lnTo>
                    <a:pt x="1575327" y="5750"/>
                  </a:lnTo>
                  <a:lnTo>
                    <a:pt x="1598580" y="21431"/>
                  </a:lnTo>
                  <a:lnTo>
                    <a:pt x="1614261" y="44684"/>
                  </a:lnTo>
                  <a:lnTo>
                    <a:pt x="1620011" y="73151"/>
                  </a:lnTo>
                  <a:lnTo>
                    <a:pt x="1620011" y="658367"/>
                  </a:lnTo>
                  <a:lnTo>
                    <a:pt x="1614261" y="686835"/>
                  </a:lnTo>
                  <a:lnTo>
                    <a:pt x="1598580" y="710088"/>
                  </a:lnTo>
                  <a:lnTo>
                    <a:pt x="1575327" y="725769"/>
                  </a:lnTo>
                  <a:lnTo>
                    <a:pt x="1546859" y="731519"/>
                  </a:lnTo>
                  <a:lnTo>
                    <a:pt x="73151" y="731519"/>
                  </a:lnTo>
                  <a:lnTo>
                    <a:pt x="44684" y="725769"/>
                  </a:lnTo>
                  <a:lnTo>
                    <a:pt x="21431" y="710088"/>
                  </a:lnTo>
                  <a:lnTo>
                    <a:pt x="5750" y="686835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564114" y="1921509"/>
            <a:ext cx="62865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Sanction</a:t>
            </a:r>
          </a:p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Letter</a:t>
            </a:r>
          </a:p>
        </p:txBody>
      </p:sp>
      <p:sp>
        <p:nvSpPr>
          <p:cNvPr id="34" name="object 34"/>
          <p:cNvSpPr/>
          <p:nvPr/>
        </p:nvSpPr>
        <p:spPr>
          <a:xfrm>
            <a:off x="502919" y="274320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96823" y="2737104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995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PROCESSING STEPS</a:t>
            </a:r>
          </a:p>
        </p:txBody>
      </p:sp>
      <p:sp>
        <p:nvSpPr>
          <p:cNvPr id="39" name="object 39"/>
          <p:cNvSpPr/>
          <p:nvPr/>
        </p:nvSpPr>
        <p:spPr>
          <a:xfrm>
            <a:off x="6199632" y="274320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193535" y="2737104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995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498348" y="3067811"/>
            <a:ext cx="5495925" cy="3118485"/>
            <a:chOff x="498348" y="3067811"/>
            <a:chExt cx="5495925" cy="3118485"/>
          </a:xfrm>
        </p:grpSpPr>
        <p:sp>
          <p:nvSpPr>
            <p:cNvPr id="37" name="object 37"/>
            <p:cNvSpPr/>
            <p:nvPr/>
          </p:nvSpPr>
          <p:spPr>
            <a:xfrm>
              <a:off x="502920" y="3072383"/>
              <a:ext cx="5486400" cy="3108960"/>
            </a:xfrm>
            <a:custGeom>
              <a:avLst/>
              <a:gdLst/>
              <a:ahLst/>
              <a:cxnLst/>
              <a:rect l="l" t="t" r="r" b="b"/>
              <a:pathLst>
                <a:path w="5486400" h="3108960">
                  <a:moveTo>
                    <a:pt x="5413247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3035808"/>
                  </a:lnTo>
                  <a:lnTo>
                    <a:pt x="5748" y="3064281"/>
                  </a:lnTo>
                  <a:lnTo>
                    <a:pt x="21426" y="3087533"/>
                  </a:lnTo>
                  <a:lnTo>
                    <a:pt x="44678" y="3103211"/>
                  </a:lnTo>
                  <a:lnTo>
                    <a:pt x="73151" y="3108960"/>
                  </a:lnTo>
                  <a:lnTo>
                    <a:pt x="5413247" y="3108960"/>
                  </a:lnTo>
                  <a:lnTo>
                    <a:pt x="5441715" y="3103211"/>
                  </a:lnTo>
                  <a:lnTo>
                    <a:pt x="5464968" y="3087533"/>
                  </a:lnTo>
                  <a:lnTo>
                    <a:pt x="5480649" y="3064281"/>
                  </a:lnTo>
                  <a:lnTo>
                    <a:pt x="5486400" y="3035808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2920" y="3072383"/>
              <a:ext cx="5486400" cy="3108960"/>
            </a:xfrm>
            <a:custGeom>
              <a:avLst/>
              <a:gdLst/>
              <a:ahLst/>
              <a:cxnLst/>
              <a:rect l="l" t="t" r="r" b="b"/>
              <a:pathLst>
                <a:path w="5486400" h="310896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3035808"/>
                  </a:lnTo>
                  <a:lnTo>
                    <a:pt x="5480649" y="3064281"/>
                  </a:lnTo>
                  <a:lnTo>
                    <a:pt x="5464968" y="3087533"/>
                  </a:lnTo>
                  <a:lnTo>
                    <a:pt x="5441715" y="3103211"/>
                  </a:lnTo>
                  <a:lnTo>
                    <a:pt x="5413247" y="3108960"/>
                  </a:lnTo>
                  <a:lnTo>
                    <a:pt x="73151" y="3108960"/>
                  </a:lnTo>
                  <a:lnTo>
                    <a:pt x="44678" y="3103211"/>
                  </a:lnTo>
                  <a:lnTo>
                    <a:pt x="21426" y="3087533"/>
                  </a:lnTo>
                  <a:lnTo>
                    <a:pt x="5748" y="3064281"/>
                  </a:lnTo>
                  <a:lnTo>
                    <a:pt x="0" y="303580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18819" y="3149016"/>
            <a:ext cx="3736340" cy="12833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Step 1: DigiLocker Login — Direct fetch of verified Aadhaar &amp; PAN documents.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Step 2: Tri-Biometric Match — Live webcam selfie compared with Aadhaar &amp; PAN photos.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Step 3: OCR Cross-Check — Scans text and matches names/DOB across IDs.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Step 4: EBM Underwriting — Evaluates income, debts, EMI, and credit score.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Step 5: Decision &amp; Explanation — Instant approval or ranked rejection reasons.</a:t>
            </a:r>
          </a:p>
        </p:txBody>
      </p:sp>
      <p:grpSp>
        <p:nvGrpSpPr>
          <p:cNvPr id="41" name="object 41"/>
          <p:cNvGrpSpPr/>
          <p:nvPr/>
        </p:nvGrpSpPr>
        <p:grpSpPr>
          <a:xfrm>
            <a:off x="6195059" y="3067811"/>
            <a:ext cx="5495925" cy="3118485"/>
            <a:chOff x="6195059" y="3067811"/>
            <a:chExt cx="5495925" cy="3118485"/>
          </a:xfrm>
        </p:grpSpPr>
        <p:sp>
          <p:nvSpPr>
            <p:cNvPr id="42" name="object 42"/>
            <p:cNvSpPr/>
            <p:nvPr/>
          </p:nvSpPr>
          <p:spPr>
            <a:xfrm>
              <a:off x="6199631" y="3072383"/>
              <a:ext cx="5486400" cy="3108960"/>
            </a:xfrm>
            <a:custGeom>
              <a:avLst/>
              <a:gdLst/>
              <a:ahLst/>
              <a:cxnLst/>
              <a:rect l="l" t="t" r="r" b="b"/>
              <a:pathLst>
                <a:path w="5486400" h="3108960">
                  <a:moveTo>
                    <a:pt x="541324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035808"/>
                  </a:lnTo>
                  <a:lnTo>
                    <a:pt x="5750" y="3064281"/>
                  </a:lnTo>
                  <a:lnTo>
                    <a:pt x="21431" y="3087533"/>
                  </a:lnTo>
                  <a:lnTo>
                    <a:pt x="44684" y="3103211"/>
                  </a:lnTo>
                  <a:lnTo>
                    <a:pt x="73151" y="3108960"/>
                  </a:lnTo>
                  <a:lnTo>
                    <a:pt x="5413247" y="3108960"/>
                  </a:lnTo>
                  <a:lnTo>
                    <a:pt x="5441715" y="3103211"/>
                  </a:lnTo>
                  <a:lnTo>
                    <a:pt x="5464968" y="3087533"/>
                  </a:lnTo>
                  <a:lnTo>
                    <a:pt x="5480649" y="3064281"/>
                  </a:lnTo>
                  <a:lnTo>
                    <a:pt x="5486399" y="3035808"/>
                  </a:lnTo>
                  <a:lnTo>
                    <a:pt x="5486399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99631" y="3072383"/>
              <a:ext cx="5486400" cy="3108960"/>
            </a:xfrm>
            <a:custGeom>
              <a:avLst/>
              <a:gdLst/>
              <a:ahLst/>
              <a:cxnLst/>
              <a:rect l="l" t="t" r="r" b="b"/>
              <a:pathLst>
                <a:path w="5486400" h="31089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399" y="73151"/>
                  </a:lnTo>
                  <a:lnTo>
                    <a:pt x="5486399" y="3035808"/>
                  </a:lnTo>
                  <a:lnTo>
                    <a:pt x="5480649" y="3064281"/>
                  </a:lnTo>
                  <a:lnTo>
                    <a:pt x="5464968" y="3087533"/>
                  </a:lnTo>
                  <a:lnTo>
                    <a:pt x="5441715" y="3103211"/>
                  </a:lnTo>
                  <a:lnTo>
                    <a:pt x="5413247" y="3108960"/>
                  </a:lnTo>
                  <a:lnTo>
                    <a:pt x="73151" y="3108960"/>
                  </a:lnTo>
                  <a:lnTo>
                    <a:pt x="44684" y="3103211"/>
                  </a:lnTo>
                  <a:lnTo>
                    <a:pt x="21431" y="3087533"/>
                  </a:lnTo>
                  <a:lnTo>
                    <a:pt x="5750" y="3064281"/>
                  </a:lnTo>
                  <a:lnTo>
                    <a:pt x="0" y="303580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416421" y="3149016"/>
            <a:ext cx="3615054" cy="12833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Entire application takes under 60 seconds from start to finish.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Zero fake certificates: only government-issued records accepted.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Stolen OTP immunity: impostors cannot pass the physical face match.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Plain-English explanations: tells applicants exactly how to qualify.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Full audit trail: loan officers can inspect all decision logs.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SYSTEM</a:t>
            </a:r>
            <a:r>
              <a:rPr spc="-9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842" y="894076"/>
            <a:ext cx="4097786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Modular Microservices Architecture Connecting UI, Security Models and ML Engines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0219" y="1442974"/>
            <a:ext cx="14338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70" dirty="0">
                <a:solidFill>
                  <a:srgbClr val="1F4D39"/>
                </a:solidFill>
                <a:latin typeface="Calibri"/>
                <a:cs typeface="Calibri"/>
              </a:rPr>
              <a:t>SYSTEM</a:t>
            </a:r>
            <a:r>
              <a:rPr sz="950" b="1" spc="240" dirty="0">
                <a:solidFill>
                  <a:srgbClr val="1F4D39"/>
                </a:solidFill>
                <a:latin typeface="Calibri"/>
                <a:cs typeface="Calibri"/>
              </a:rPr>
              <a:t> </a:t>
            </a:r>
            <a:r>
              <a:rPr sz="950" b="1" spc="70" dirty="0">
                <a:solidFill>
                  <a:srgbClr val="1F4D39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6800" y="1463039"/>
            <a:ext cx="2999740" cy="329565"/>
          </a:xfrm>
          <a:prstGeom prst="rect">
            <a:avLst/>
          </a:prstGeom>
          <a:solidFill>
            <a:srgbClr val="1F4D39"/>
          </a:solidFill>
          <a:ln w="12192">
            <a:solidFill>
              <a:srgbClr val="1F4D39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35"/>
              </a:spcBef>
            </a:pPr>
            <a:r>
              <a:rPr sz="1000" b="1" spc="45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6823" y="1731264"/>
            <a:ext cx="1704339" cy="881380"/>
            <a:chOff x="496823" y="1731264"/>
            <a:chExt cx="1704339" cy="881380"/>
          </a:xfrm>
        </p:grpSpPr>
        <p:sp>
          <p:nvSpPr>
            <p:cNvPr id="7" name="object 7"/>
            <p:cNvSpPr/>
            <p:nvPr/>
          </p:nvSpPr>
          <p:spPr>
            <a:xfrm>
              <a:off x="502919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39" h="868680">
                  <a:moveTo>
                    <a:pt x="161848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48" y="823995"/>
                  </a:lnTo>
                  <a:lnTo>
                    <a:pt x="21426" y="847248"/>
                  </a:lnTo>
                  <a:lnTo>
                    <a:pt x="44678" y="862929"/>
                  </a:lnTo>
                  <a:lnTo>
                    <a:pt x="73151" y="868679"/>
                  </a:lnTo>
                  <a:lnTo>
                    <a:pt x="1618488" y="868679"/>
                  </a:lnTo>
                  <a:lnTo>
                    <a:pt x="1646955" y="862929"/>
                  </a:lnTo>
                  <a:lnTo>
                    <a:pt x="1670208" y="847248"/>
                  </a:lnTo>
                  <a:lnTo>
                    <a:pt x="1685889" y="823995"/>
                  </a:lnTo>
                  <a:lnTo>
                    <a:pt x="1691640" y="795527"/>
                  </a:lnTo>
                  <a:lnTo>
                    <a:pt x="1691640" y="73151"/>
                  </a:lnTo>
                  <a:lnTo>
                    <a:pt x="1685889" y="44684"/>
                  </a:lnTo>
                  <a:lnTo>
                    <a:pt x="1670208" y="21431"/>
                  </a:lnTo>
                  <a:lnTo>
                    <a:pt x="1646955" y="5750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19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39" h="86868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1618488" y="0"/>
                  </a:lnTo>
                  <a:lnTo>
                    <a:pt x="1646955" y="5750"/>
                  </a:lnTo>
                  <a:lnTo>
                    <a:pt x="1670208" y="21431"/>
                  </a:lnTo>
                  <a:lnTo>
                    <a:pt x="1685889" y="44684"/>
                  </a:lnTo>
                  <a:lnTo>
                    <a:pt x="1691640" y="73151"/>
                  </a:lnTo>
                  <a:lnTo>
                    <a:pt x="1691640" y="795527"/>
                  </a:lnTo>
                  <a:lnTo>
                    <a:pt x="1685889" y="823995"/>
                  </a:lnTo>
                  <a:lnTo>
                    <a:pt x="1670208" y="847248"/>
                  </a:lnTo>
                  <a:lnTo>
                    <a:pt x="1646955" y="862929"/>
                  </a:lnTo>
                  <a:lnTo>
                    <a:pt x="1618488" y="868679"/>
                  </a:lnTo>
                  <a:lnTo>
                    <a:pt x="73151" y="868679"/>
                  </a:lnTo>
                  <a:lnTo>
                    <a:pt x="44678" y="862929"/>
                  </a:lnTo>
                  <a:lnTo>
                    <a:pt x="21426" y="847248"/>
                  </a:lnTo>
                  <a:lnTo>
                    <a:pt x="5748" y="823995"/>
                  </a:lnTo>
                  <a:lnTo>
                    <a:pt x="0" y="795527"/>
                  </a:lnTo>
                  <a:lnTo>
                    <a:pt x="0" y="73151"/>
                  </a:lnTo>
                  <a:close/>
                </a:path>
              </a:pathLst>
            </a:custGeom>
            <a:ln w="12191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5441" y="1989785"/>
            <a:ext cx="106426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Applicant / Officer</a:t>
            </a:r>
          </a:p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React 18 SPA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34564" y="2049221"/>
            <a:ext cx="2419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C8A83E"/>
                </a:solidFill>
                <a:latin typeface="Calibri"/>
                <a:cs typeface="Calibri"/>
              </a:rPr>
              <a:t>↔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08504" y="1731264"/>
            <a:ext cx="1704339" cy="881380"/>
            <a:chOff x="2508504" y="1731264"/>
            <a:chExt cx="1704339" cy="881380"/>
          </a:xfrm>
        </p:grpSpPr>
        <p:sp>
          <p:nvSpPr>
            <p:cNvPr id="12" name="object 12"/>
            <p:cNvSpPr/>
            <p:nvPr/>
          </p:nvSpPr>
          <p:spPr>
            <a:xfrm>
              <a:off x="2514600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39" h="868680">
                  <a:moveTo>
                    <a:pt x="161848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50" y="823995"/>
                  </a:lnTo>
                  <a:lnTo>
                    <a:pt x="21431" y="847248"/>
                  </a:lnTo>
                  <a:lnTo>
                    <a:pt x="44684" y="862929"/>
                  </a:lnTo>
                  <a:lnTo>
                    <a:pt x="73151" y="868679"/>
                  </a:lnTo>
                  <a:lnTo>
                    <a:pt x="1618488" y="868679"/>
                  </a:lnTo>
                  <a:lnTo>
                    <a:pt x="1646955" y="862929"/>
                  </a:lnTo>
                  <a:lnTo>
                    <a:pt x="1670208" y="847248"/>
                  </a:lnTo>
                  <a:lnTo>
                    <a:pt x="1685889" y="823995"/>
                  </a:lnTo>
                  <a:lnTo>
                    <a:pt x="1691639" y="795527"/>
                  </a:lnTo>
                  <a:lnTo>
                    <a:pt x="1691639" y="73151"/>
                  </a:lnTo>
                  <a:lnTo>
                    <a:pt x="1685889" y="44684"/>
                  </a:lnTo>
                  <a:lnTo>
                    <a:pt x="1670208" y="21431"/>
                  </a:lnTo>
                  <a:lnTo>
                    <a:pt x="1646955" y="5750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14600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39" h="86868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618488" y="0"/>
                  </a:lnTo>
                  <a:lnTo>
                    <a:pt x="1646955" y="5750"/>
                  </a:lnTo>
                  <a:lnTo>
                    <a:pt x="1670208" y="21431"/>
                  </a:lnTo>
                  <a:lnTo>
                    <a:pt x="1685889" y="44684"/>
                  </a:lnTo>
                  <a:lnTo>
                    <a:pt x="1691639" y="73151"/>
                  </a:lnTo>
                  <a:lnTo>
                    <a:pt x="1691639" y="795527"/>
                  </a:lnTo>
                  <a:lnTo>
                    <a:pt x="1685889" y="823995"/>
                  </a:lnTo>
                  <a:lnTo>
                    <a:pt x="1670208" y="847248"/>
                  </a:lnTo>
                  <a:lnTo>
                    <a:pt x="1646955" y="862929"/>
                  </a:lnTo>
                  <a:lnTo>
                    <a:pt x="1618488" y="868679"/>
                  </a:lnTo>
                  <a:lnTo>
                    <a:pt x="73151" y="868679"/>
                  </a:lnTo>
                  <a:lnTo>
                    <a:pt x="44684" y="862929"/>
                  </a:lnTo>
                  <a:lnTo>
                    <a:pt x="21431" y="847248"/>
                  </a:lnTo>
                  <a:lnTo>
                    <a:pt x="5750" y="823995"/>
                  </a:lnTo>
                  <a:lnTo>
                    <a:pt x="0" y="79552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46629" y="1989785"/>
            <a:ext cx="1227455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DigiLocker Gateway</a:t>
            </a:r>
          </a:p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UIDAI &amp; ITD Sync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46245" y="2049221"/>
            <a:ext cx="2419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C8A83E"/>
                </a:solidFill>
                <a:latin typeface="Calibri"/>
                <a:cs typeface="Calibri"/>
              </a:rPr>
              <a:t>↔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20184" y="1731264"/>
            <a:ext cx="1704339" cy="881380"/>
            <a:chOff x="4520184" y="1731264"/>
            <a:chExt cx="1704339" cy="881380"/>
          </a:xfrm>
        </p:grpSpPr>
        <p:sp>
          <p:nvSpPr>
            <p:cNvPr id="17" name="object 17"/>
            <p:cNvSpPr/>
            <p:nvPr/>
          </p:nvSpPr>
          <p:spPr>
            <a:xfrm>
              <a:off x="4526280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39" h="868680">
                  <a:moveTo>
                    <a:pt x="161848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50" y="823995"/>
                  </a:lnTo>
                  <a:lnTo>
                    <a:pt x="21431" y="847248"/>
                  </a:lnTo>
                  <a:lnTo>
                    <a:pt x="44684" y="862929"/>
                  </a:lnTo>
                  <a:lnTo>
                    <a:pt x="73152" y="868679"/>
                  </a:lnTo>
                  <a:lnTo>
                    <a:pt x="1618488" y="868679"/>
                  </a:lnTo>
                  <a:lnTo>
                    <a:pt x="1646955" y="862929"/>
                  </a:lnTo>
                  <a:lnTo>
                    <a:pt x="1670208" y="847248"/>
                  </a:lnTo>
                  <a:lnTo>
                    <a:pt x="1685889" y="823995"/>
                  </a:lnTo>
                  <a:lnTo>
                    <a:pt x="1691640" y="795527"/>
                  </a:lnTo>
                  <a:lnTo>
                    <a:pt x="1691640" y="73151"/>
                  </a:lnTo>
                  <a:lnTo>
                    <a:pt x="1685889" y="44684"/>
                  </a:lnTo>
                  <a:lnTo>
                    <a:pt x="1670208" y="21431"/>
                  </a:lnTo>
                  <a:lnTo>
                    <a:pt x="1646955" y="5750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1F4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26280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39" h="86868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1618488" y="0"/>
                  </a:lnTo>
                  <a:lnTo>
                    <a:pt x="1646955" y="5750"/>
                  </a:lnTo>
                  <a:lnTo>
                    <a:pt x="1670208" y="21431"/>
                  </a:lnTo>
                  <a:lnTo>
                    <a:pt x="1685889" y="44684"/>
                  </a:lnTo>
                  <a:lnTo>
                    <a:pt x="1691640" y="73151"/>
                  </a:lnTo>
                  <a:lnTo>
                    <a:pt x="1691640" y="795527"/>
                  </a:lnTo>
                  <a:lnTo>
                    <a:pt x="1685889" y="823995"/>
                  </a:lnTo>
                  <a:lnTo>
                    <a:pt x="1670208" y="847248"/>
                  </a:lnTo>
                  <a:lnTo>
                    <a:pt x="1646955" y="862929"/>
                  </a:lnTo>
                  <a:lnTo>
                    <a:pt x="1618488" y="868679"/>
                  </a:lnTo>
                  <a:lnTo>
                    <a:pt x="73152" y="868679"/>
                  </a:lnTo>
                  <a:lnTo>
                    <a:pt x="44684" y="862929"/>
                  </a:lnTo>
                  <a:lnTo>
                    <a:pt x="21431" y="847248"/>
                  </a:lnTo>
                  <a:lnTo>
                    <a:pt x="5750" y="823995"/>
                  </a:lnTo>
                  <a:lnTo>
                    <a:pt x="0" y="79552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77334" y="1989785"/>
            <a:ext cx="1588135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Biometric &amp; OCR</a:t>
            </a:r>
          </a:p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OpenCV + Tesseract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258305" y="2049221"/>
            <a:ext cx="2419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C8A83E"/>
                </a:solidFill>
                <a:latin typeface="Calibri"/>
                <a:cs typeface="Calibri"/>
              </a:rPr>
              <a:t>↔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31864" y="1731264"/>
            <a:ext cx="1704339" cy="881380"/>
            <a:chOff x="6531864" y="1731264"/>
            <a:chExt cx="1704339" cy="881380"/>
          </a:xfrm>
        </p:grpSpPr>
        <p:sp>
          <p:nvSpPr>
            <p:cNvPr id="22" name="object 22"/>
            <p:cNvSpPr/>
            <p:nvPr/>
          </p:nvSpPr>
          <p:spPr>
            <a:xfrm>
              <a:off x="6537960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40" h="868680">
                  <a:moveTo>
                    <a:pt x="161848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95527"/>
                  </a:lnTo>
                  <a:lnTo>
                    <a:pt x="5750" y="823995"/>
                  </a:lnTo>
                  <a:lnTo>
                    <a:pt x="21431" y="847248"/>
                  </a:lnTo>
                  <a:lnTo>
                    <a:pt x="44684" y="862929"/>
                  </a:lnTo>
                  <a:lnTo>
                    <a:pt x="73151" y="868679"/>
                  </a:lnTo>
                  <a:lnTo>
                    <a:pt x="1618488" y="868679"/>
                  </a:lnTo>
                  <a:lnTo>
                    <a:pt x="1646955" y="862929"/>
                  </a:lnTo>
                  <a:lnTo>
                    <a:pt x="1670208" y="847248"/>
                  </a:lnTo>
                  <a:lnTo>
                    <a:pt x="1685889" y="823995"/>
                  </a:lnTo>
                  <a:lnTo>
                    <a:pt x="1691640" y="795527"/>
                  </a:lnTo>
                  <a:lnTo>
                    <a:pt x="1691640" y="73151"/>
                  </a:lnTo>
                  <a:lnTo>
                    <a:pt x="1685889" y="44684"/>
                  </a:lnTo>
                  <a:lnTo>
                    <a:pt x="1670208" y="21431"/>
                  </a:lnTo>
                  <a:lnTo>
                    <a:pt x="1646955" y="5750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E6F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37960" y="1737360"/>
              <a:ext cx="1691639" cy="868680"/>
            </a:xfrm>
            <a:custGeom>
              <a:avLst/>
              <a:gdLst/>
              <a:ahLst/>
              <a:cxnLst/>
              <a:rect l="l" t="t" r="r" b="b"/>
              <a:pathLst>
                <a:path w="1691640" h="86868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618488" y="0"/>
                  </a:lnTo>
                  <a:lnTo>
                    <a:pt x="1646955" y="5750"/>
                  </a:lnTo>
                  <a:lnTo>
                    <a:pt x="1670208" y="21431"/>
                  </a:lnTo>
                  <a:lnTo>
                    <a:pt x="1685889" y="44684"/>
                  </a:lnTo>
                  <a:lnTo>
                    <a:pt x="1691640" y="73151"/>
                  </a:lnTo>
                  <a:lnTo>
                    <a:pt x="1691640" y="795527"/>
                  </a:lnTo>
                  <a:lnTo>
                    <a:pt x="1685889" y="823995"/>
                  </a:lnTo>
                  <a:lnTo>
                    <a:pt x="1670208" y="847248"/>
                  </a:lnTo>
                  <a:lnTo>
                    <a:pt x="1646955" y="862929"/>
                  </a:lnTo>
                  <a:lnTo>
                    <a:pt x="1618488" y="868679"/>
                  </a:lnTo>
                  <a:lnTo>
                    <a:pt x="73151" y="868679"/>
                  </a:lnTo>
                  <a:lnTo>
                    <a:pt x="44684" y="862929"/>
                  </a:lnTo>
                  <a:lnTo>
                    <a:pt x="21431" y="847248"/>
                  </a:lnTo>
                  <a:lnTo>
                    <a:pt x="5750" y="823995"/>
                  </a:lnTo>
                  <a:lnTo>
                    <a:pt x="0" y="795527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21018" y="1989785"/>
            <a:ext cx="152527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FastAPI Backend</a:t>
            </a:r>
          </a:p>
          <a:p>
            <a:pPr>
              <a:defRPr sz="800" b="1">
                <a:solidFill>
                  <a:srgbClr val="1F4D39"/>
                </a:solidFill>
                <a:latin typeface="Calibri"/>
              </a:defRPr>
            </a:pPr>
            <a:r>
              <a:t>REST API &amp; Rules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353305" y="2627502"/>
            <a:ext cx="1625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C8A83E"/>
                </a:solidFill>
                <a:latin typeface="Calibri"/>
                <a:cs typeface="Calibri"/>
              </a:rPr>
              <a:t>↕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5423" y="3057144"/>
            <a:ext cx="3213100" cy="881380"/>
            <a:chOff x="725423" y="3057144"/>
            <a:chExt cx="3213100" cy="881380"/>
          </a:xfrm>
        </p:grpSpPr>
        <p:sp>
          <p:nvSpPr>
            <p:cNvPr id="27" name="object 27"/>
            <p:cNvSpPr/>
            <p:nvPr/>
          </p:nvSpPr>
          <p:spPr>
            <a:xfrm>
              <a:off x="731519" y="3063240"/>
              <a:ext cx="3200400" cy="868680"/>
            </a:xfrm>
            <a:custGeom>
              <a:avLst/>
              <a:gdLst/>
              <a:ahLst/>
              <a:cxnLst/>
              <a:rect l="l" t="t" r="r" b="b"/>
              <a:pathLst>
                <a:path w="3200400" h="868679">
                  <a:moveTo>
                    <a:pt x="3127247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95528"/>
                  </a:lnTo>
                  <a:lnTo>
                    <a:pt x="5748" y="823995"/>
                  </a:lnTo>
                  <a:lnTo>
                    <a:pt x="21426" y="847248"/>
                  </a:lnTo>
                  <a:lnTo>
                    <a:pt x="44678" y="862929"/>
                  </a:lnTo>
                  <a:lnTo>
                    <a:pt x="73151" y="868680"/>
                  </a:lnTo>
                  <a:lnTo>
                    <a:pt x="3127247" y="868680"/>
                  </a:lnTo>
                  <a:lnTo>
                    <a:pt x="3155715" y="862929"/>
                  </a:lnTo>
                  <a:lnTo>
                    <a:pt x="3178968" y="847248"/>
                  </a:lnTo>
                  <a:lnTo>
                    <a:pt x="3194649" y="823995"/>
                  </a:lnTo>
                  <a:lnTo>
                    <a:pt x="3200400" y="795528"/>
                  </a:lnTo>
                  <a:lnTo>
                    <a:pt x="3200400" y="73151"/>
                  </a:lnTo>
                  <a:lnTo>
                    <a:pt x="3194649" y="44684"/>
                  </a:lnTo>
                  <a:lnTo>
                    <a:pt x="3178968" y="21431"/>
                  </a:lnTo>
                  <a:lnTo>
                    <a:pt x="3155715" y="5750"/>
                  </a:lnTo>
                  <a:lnTo>
                    <a:pt x="3127247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1519" y="3063240"/>
              <a:ext cx="3200400" cy="868680"/>
            </a:xfrm>
            <a:custGeom>
              <a:avLst/>
              <a:gdLst/>
              <a:ahLst/>
              <a:cxnLst/>
              <a:rect l="l" t="t" r="r" b="b"/>
              <a:pathLst>
                <a:path w="3200400" h="8686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3127247" y="0"/>
                  </a:lnTo>
                  <a:lnTo>
                    <a:pt x="3155715" y="5750"/>
                  </a:lnTo>
                  <a:lnTo>
                    <a:pt x="3178968" y="21431"/>
                  </a:lnTo>
                  <a:lnTo>
                    <a:pt x="3194649" y="44684"/>
                  </a:lnTo>
                  <a:lnTo>
                    <a:pt x="3200400" y="73151"/>
                  </a:lnTo>
                  <a:lnTo>
                    <a:pt x="3200400" y="795528"/>
                  </a:lnTo>
                  <a:lnTo>
                    <a:pt x="3194649" y="823995"/>
                  </a:lnTo>
                  <a:lnTo>
                    <a:pt x="3178968" y="847248"/>
                  </a:lnTo>
                  <a:lnTo>
                    <a:pt x="3155715" y="862929"/>
                  </a:lnTo>
                  <a:lnTo>
                    <a:pt x="3127247" y="868680"/>
                  </a:lnTo>
                  <a:lnTo>
                    <a:pt x="73151" y="868680"/>
                  </a:lnTo>
                  <a:lnTo>
                    <a:pt x="44678" y="862929"/>
                  </a:lnTo>
                  <a:lnTo>
                    <a:pt x="21426" y="847248"/>
                  </a:lnTo>
                  <a:lnTo>
                    <a:pt x="5748" y="823995"/>
                  </a:lnTo>
                  <a:lnTo>
                    <a:pt x="0" y="795528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535938" y="3312667"/>
            <a:ext cx="1591945" cy="35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800" b="1">
                <a:solidFill>
                  <a:srgbClr val="896C0F"/>
                </a:solidFill>
                <a:latin typeface="Calibri"/>
              </a:defRPr>
            </a:pPr>
            <a:r>
              <a:t>Underwriting ML</a:t>
            </a:r>
          </a:p>
          <a:p>
            <a:pPr>
              <a:defRPr sz="800" b="1">
                <a:solidFill>
                  <a:srgbClr val="896C0F"/>
                </a:solidFill>
                <a:latin typeface="Calibri"/>
              </a:defRPr>
            </a:pPr>
            <a:r>
              <a:t>EBM + Random Forest</a:t>
            </a:r>
          </a:p>
        </p:txBody>
      </p:sp>
      <p:grpSp>
        <p:nvGrpSpPr>
          <p:cNvPr id="30" name="object 30"/>
          <p:cNvGrpSpPr/>
          <p:nvPr/>
        </p:nvGrpSpPr>
        <p:grpSpPr>
          <a:xfrm>
            <a:off x="4474464" y="3057144"/>
            <a:ext cx="3213100" cy="881380"/>
            <a:chOff x="4474464" y="3057144"/>
            <a:chExt cx="3213100" cy="881380"/>
          </a:xfrm>
        </p:grpSpPr>
        <p:sp>
          <p:nvSpPr>
            <p:cNvPr id="31" name="object 31"/>
            <p:cNvSpPr/>
            <p:nvPr/>
          </p:nvSpPr>
          <p:spPr>
            <a:xfrm>
              <a:off x="4480560" y="3063240"/>
              <a:ext cx="3200400" cy="868680"/>
            </a:xfrm>
            <a:custGeom>
              <a:avLst/>
              <a:gdLst/>
              <a:ahLst/>
              <a:cxnLst/>
              <a:rect l="l" t="t" r="r" b="b"/>
              <a:pathLst>
                <a:path w="3200400" h="868679">
                  <a:moveTo>
                    <a:pt x="312724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95528"/>
                  </a:lnTo>
                  <a:lnTo>
                    <a:pt x="5750" y="823995"/>
                  </a:lnTo>
                  <a:lnTo>
                    <a:pt x="21431" y="847248"/>
                  </a:lnTo>
                  <a:lnTo>
                    <a:pt x="44684" y="862929"/>
                  </a:lnTo>
                  <a:lnTo>
                    <a:pt x="73151" y="868680"/>
                  </a:lnTo>
                  <a:lnTo>
                    <a:pt x="3127247" y="868680"/>
                  </a:lnTo>
                  <a:lnTo>
                    <a:pt x="3155715" y="862929"/>
                  </a:lnTo>
                  <a:lnTo>
                    <a:pt x="3178968" y="847248"/>
                  </a:lnTo>
                  <a:lnTo>
                    <a:pt x="3194649" y="823995"/>
                  </a:lnTo>
                  <a:lnTo>
                    <a:pt x="3200399" y="795528"/>
                  </a:lnTo>
                  <a:lnTo>
                    <a:pt x="3200399" y="73151"/>
                  </a:lnTo>
                  <a:lnTo>
                    <a:pt x="3194649" y="44684"/>
                  </a:lnTo>
                  <a:lnTo>
                    <a:pt x="3178968" y="21431"/>
                  </a:lnTo>
                  <a:lnTo>
                    <a:pt x="3155715" y="5750"/>
                  </a:lnTo>
                  <a:lnTo>
                    <a:pt x="3127247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80560" y="3063240"/>
              <a:ext cx="3200400" cy="868680"/>
            </a:xfrm>
            <a:custGeom>
              <a:avLst/>
              <a:gdLst/>
              <a:ahLst/>
              <a:cxnLst/>
              <a:rect l="l" t="t" r="r" b="b"/>
              <a:pathLst>
                <a:path w="3200400" h="8686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127247" y="0"/>
                  </a:lnTo>
                  <a:lnTo>
                    <a:pt x="3155715" y="5750"/>
                  </a:lnTo>
                  <a:lnTo>
                    <a:pt x="3178968" y="21431"/>
                  </a:lnTo>
                  <a:lnTo>
                    <a:pt x="3194649" y="44684"/>
                  </a:lnTo>
                  <a:lnTo>
                    <a:pt x="3200399" y="73151"/>
                  </a:lnTo>
                  <a:lnTo>
                    <a:pt x="3200399" y="795528"/>
                  </a:lnTo>
                  <a:lnTo>
                    <a:pt x="3194649" y="823995"/>
                  </a:lnTo>
                  <a:lnTo>
                    <a:pt x="3178968" y="847248"/>
                  </a:lnTo>
                  <a:lnTo>
                    <a:pt x="3155715" y="862929"/>
                  </a:lnTo>
                  <a:lnTo>
                    <a:pt x="3127247" y="868680"/>
                  </a:lnTo>
                  <a:lnTo>
                    <a:pt x="73151" y="868680"/>
                  </a:lnTo>
                  <a:lnTo>
                    <a:pt x="44684" y="862929"/>
                  </a:lnTo>
                  <a:lnTo>
                    <a:pt x="21431" y="847248"/>
                  </a:lnTo>
                  <a:lnTo>
                    <a:pt x="5750" y="823995"/>
                  </a:lnTo>
                  <a:lnTo>
                    <a:pt x="0" y="795528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132959" y="3312667"/>
            <a:ext cx="1896110" cy="35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800" b="1">
                <a:solidFill>
                  <a:srgbClr val="896C0F"/>
                </a:solidFill>
                <a:latin typeface="Calibri"/>
              </a:defRPr>
            </a:pPr>
            <a:r>
              <a:t>Audit Database</a:t>
            </a:r>
          </a:p>
          <a:p>
            <a:pPr>
              <a:defRPr sz="800" b="1">
                <a:solidFill>
                  <a:srgbClr val="896C0F"/>
                </a:solidFill>
                <a:latin typeface="Calibri"/>
              </a:defRPr>
            </a:pPr>
            <a:r>
              <a:t>SQLite / MySQL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90219" y="4003928"/>
            <a:ext cx="53435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750">
                <a:solidFill>
                  <a:srgbClr val="6B6B6B"/>
                </a:solidFill>
                <a:latin typeface="Calibri"/>
              </a:defRPr>
            </a:pPr>
            <a:r>
              <a:t>Green/Gold = Security &amp; Underwriting models running inside the backend service.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8682228" y="1787651"/>
            <a:ext cx="3008630" cy="2752725"/>
            <a:chOff x="8682228" y="1787651"/>
            <a:chExt cx="3008630" cy="2752725"/>
          </a:xfrm>
        </p:grpSpPr>
        <p:sp>
          <p:nvSpPr>
            <p:cNvPr id="37" name="object 37"/>
            <p:cNvSpPr/>
            <p:nvPr/>
          </p:nvSpPr>
          <p:spPr>
            <a:xfrm>
              <a:off x="8686800" y="1792223"/>
              <a:ext cx="2999740" cy="2743200"/>
            </a:xfrm>
            <a:custGeom>
              <a:avLst/>
              <a:gdLst/>
              <a:ahLst/>
              <a:cxnLst/>
              <a:rect l="l" t="t" r="r" b="b"/>
              <a:pathLst>
                <a:path w="2999740" h="2743200">
                  <a:moveTo>
                    <a:pt x="292607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670048"/>
                  </a:lnTo>
                  <a:lnTo>
                    <a:pt x="5750" y="2698515"/>
                  </a:lnTo>
                  <a:lnTo>
                    <a:pt x="21431" y="2721768"/>
                  </a:lnTo>
                  <a:lnTo>
                    <a:pt x="44684" y="2737449"/>
                  </a:lnTo>
                  <a:lnTo>
                    <a:pt x="73151" y="2743200"/>
                  </a:lnTo>
                  <a:lnTo>
                    <a:pt x="2926079" y="2743200"/>
                  </a:lnTo>
                  <a:lnTo>
                    <a:pt x="2954547" y="2737449"/>
                  </a:lnTo>
                  <a:lnTo>
                    <a:pt x="2977800" y="2721768"/>
                  </a:lnTo>
                  <a:lnTo>
                    <a:pt x="2993481" y="2698515"/>
                  </a:lnTo>
                  <a:lnTo>
                    <a:pt x="2999231" y="2670048"/>
                  </a:lnTo>
                  <a:lnTo>
                    <a:pt x="2999231" y="73151"/>
                  </a:lnTo>
                  <a:lnTo>
                    <a:pt x="2993481" y="44684"/>
                  </a:lnTo>
                  <a:lnTo>
                    <a:pt x="2977800" y="21431"/>
                  </a:lnTo>
                  <a:lnTo>
                    <a:pt x="2954547" y="5750"/>
                  </a:lnTo>
                  <a:lnTo>
                    <a:pt x="2926079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86800" y="1792223"/>
              <a:ext cx="2999740" cy="2743200"/>
            </a:xfrm>
            <a:custGeom>
              <a:avLst/>
              <a:gdLst/>
              <a:ahLst/>
              <a:cxnLst/>
              <a:rect l="l" t="t" r="r" b="b"/>
              <a:pathLst>
                <a:path w="2999740" h="27432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926079" y="0"/>
                  </a:lnTo>
                  <a:lnTo>
                    <a:pt x="2954547" y="5750"/>
                  </a:lnTo>
                  <a:lnTo>
                    <a:pt x="2977800" y="21431"/>
                  </a:lnTo>
                  <a:lnTo>
                    <a:pt x="2993481" y="44684"/>
                  </a:lnTo>
                  <a:lnTo>
                    <a:pt x="2999231" y="73151"/>
                  </a:lnTo>
                  <a:lnTo>
                    <a:pt x="2999231" y="2670048"/>
                  </a:lnTo>
                  <a:lnTo>
                    <a:pt x="2993481" y="2698515"/>
                  </a:lnTo>
                  <a:lnTo>
                    <a:pt x="2977800" y="2721768"/>
                  </a:lnTo>
                  <a:lnTo>
                    <a:pt x="2954547" y="2737449"/>
                  </a:lnTo>
                  <a:lnTo>
                    <a:pt x="2926079" y="2743200"/>
                  </a:lnTo>
                  <a:lnTo>
                    <a:pt x="73151" y="2743200"/>
                  </a:lnTo>
                  <a:lnTo>
                    <a:pt x="44684" y="2737449"/>
                  </a:lnTo>
                  <a:lnTo>
                    <a:pt x="21431" y="2721768"/>
                  </a:lnTo>
                  <a:lnTo>
                    <a:pt x="5750" y="2698515"/>
                  </a:lnTo>
                  <a:lnTo>
                    <a:pt x="0" y="267004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858250" y="1898650"/>
            <a:ext cx="2677795" cy="1147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Client: Responsive React 18 wizard with live camera viewfinder &amp; EBM waterfall charts.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Security Models: DigiLocker API + OpenCV 256-D face feature extractor + OCR fuzzy matcher.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Underwriting Engine: InterpretML EBM for scoring and exact reason attribution.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Benchmark Engine: Scikit-learn Random Forest for accuracy comparison.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Audit Ledger: Full persistence of all biometric scores, OCR logs, and decisions.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496823" y="4657344"/>
            <a:ext cx="11195685" cy="652780"/>
            <a:chOff x="496823" y="4657344"/>
            <a:chExt cx="11195685" cy="652780"/>
          </a:xfrm>
        </p:grpSpPr>
        <p:sp>
          <p:nvSpPr>
            <p:cNvPr id="41" name="object 41"/>
            <p:cNvSpPr/>
            <p:nvPr/>
          </p:nvSpPr>
          <p:spPr>
            <a:xfrm>
              <a:off x="502919" y="4663440"/>
              <a:ext cx="11183620" cy="640080"/>
            </a:xfrm>
            <a:custGeom>
              <a:avLst/>
              <a:gdLst/>
              <a:ahLst/>
              <a:cxnLst/>
              <a:rect l="l" t="t" r="r" b="b"/>
              <a:pathLst>
                <a:path w="11183620" h="640079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585216"/>
                  </a:lnTo>
                  <a:lnTo>
                    <a:pt x="4311" y="606593"/>
                  </a:lnTo>
                  <a:lnTo>
                    <a:pt x="16068" y="624030"/>
                  </a:lnTo>
                  <a:lnTo>
                    <a:pt x="33507" y="635775"/>
                  </a:lnTo>
                  <a:lnTo>
                    <a:pt x="54864" y="640080"/>
                  </a:lnTo>
                  <a:lnTo>
                    <a:pt x="11128248" y="640080"/>
                  </a:lnTo>
                  <a:lnTo>
                    <a:pt x="11149625" y="635775"/>
                  </a:lnTo>
                  <a:lnTo>
                    <a:pt x="11167062" y="624030"/>
                  </a:lnTo>
                  <a:lnTo>
                    <a:pt x="11178807" y="606593"/>
                  </a:lnTo>
                  <a:lnTo>
                    <a:pt x="11183112" y="585216"/>
                  </a:lnTo>
                  <a:lnTo>
                    <a:pt x="11183112" y="54864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2919" y="4663440"/>
              <a:ext cx="11183620" cy="640080"/>
            </a:xfrm>
            <a:custGeom>
              <a:avLst/>
              <a:gdLst/>
              <a:ahLst/>
              <a:cxnLst/>
              <a:rect l="l" t="t" r="r" b="b"/>
              <a:pathLst>
                <a:path w="11183620" h="640079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4"/>
                  </a:lnTo>
                  <a:lnTo>
                    <a:pt x="11183112" y="585216"/>
                  </a:lnTo>
                  <a:lnTo>
                    <a:pt x="11178807" y="606593"/>
                  </a:lnTo>
                  <a:lnTo>
                    <a:pt x="11167062" y="624030"/>
                  </a:lnTo>
                  <a:lnTo>
                    <a:pt x="11149625" y="635775"/>
                  </a:lnTo>
                  <a:lnTo>
                    <a:pt x="11128248" y="640080"/>
                  </a:lnTo>
                  <a:lnTo>
                    <a:pt x="54864" y="640080"/>
                  </a:lnTo>
                  <a:lnTo>
                    <a:pt x="33507" y="635775"/>
                  </a:lnTo>
                  <a:lnTo>
                    <a:pt x="16068" y="624030"/>
                  </a:lnTo>
                  <a:lnTo>
                    <a:pt x="4311" y="606593"/>
                  </a:lnTo>
                  <a:lnTo>
                    <a:pt x="0" y="585216"/>
                  </a:lnTo>
                  <a:lnTo>
                    <a:pt x="0" y="54864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02919" y="4663440"/>
            <a:ext cx="11183620" cy="64008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>
              <a:defRPr sz="800">
                <a:solidFill>
                  <a:srgbClr val="1A1A1A"/>
                </a:solidFill>
                <a:latin typeface="Calibri"/>
              </a:defRPr>
            </a:pPr>
            <a:r>
              <a:t>Design Note: Explanations are calculated directly from EBM's mathematical terms, so reasons and prediction cannot disagree.</a:t>
            </a:r>
          </a:p>
        </p:txBody>
      </p:sp>
      <p:grpSp>
        <p:nvGrpSpPr>
          <p:cNvPr id="44" name="object 44"/>
          <p:cNvGrpSpPr/>
          <p:nvPr/>
        </p:nvGrpSpPr>
        <p:grpSpPr>
          <a:xfrm>
            <a:off x="496823" y="5480303"/>
            <a:ext cx="11195685" cy="579120"/>
            <a:chOff x="496823" y="5480303"/>
            <a:chExt cx="11195685" cy="579120"/>
          </a:xfrm>
        </p:grpSpPr>
        <p:sp>
          <p:nvSpPr>
            <p:cNvPr id="45" name="object 45"/>
            <p:cNvSpPr/>
            <p:nvPr/>
          </p:nvSpPr>
          <p:spPr>
            <a:xfrm>
              <a:off x="502919" y="5486399"/>
              <a:ext cx="11183620" cy="567055"/>
            </a:xfrm>
            <a:custGeom>
              <a:avLst/>
              <a:gdLst/>
              <a:ahLst/>
              <a:cxnLst/>
              <a:rect l="l" t="t" r="r" b="b"/>
              <a:pathLst>
                <a:path w="11183620" h="567054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512063"/>
                  </a:lnTo>
                  <a:lnTo>
                    <a:pt x="4311" y="533420"/>
                  </a:lnTo>
                  <a:lnTo>
                    <a:pt x="16068" y="550859"/>
                  </a:lnTo>
                  <a:lnTo>
                    <a:pt x="33507" y="562616"/>
                  </a:lnTo>
                  <a:lnTo>
                    <a:pt x="54864" y="566928"/>
                  </a:lnTo>
                  <a:lnTo>
                    <a:pt x="11128248" y="566928"/>
                  </a:lnTo>
                  <a:lnTo>
                    <a:pt x="11149625" y="562616"/>
                  </a:lnTo>
                  <a:lnTo>
                    <a:pt x="11167062" y="550859"/>
                  </a:lnTo>
                  <a:lnTo>
                    <a:pt x="11178807" y="533420"/>
                  </a:lnTo>
                  <a:lnTo>
                    <a:pt x="11183112" y="512063"/>
                  </a:lnTo>
                  <a:lnTo>
                    <a:pt x="11183112" y="54863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1F4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2919" y="5486399"/>
              <a:ext cx="11183620" cy="567055"/>
            </a:xfrm>
            <a:custGeom>
              <a:avLst/>
              <a:gdLst/>
              <a:ahLst/>
              <a:cxnLst/>
              <a:rect l="l" t="t" r="r" b="b"/>
              <a:pathLst>
                <a:path w="11183620" h="567054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3"/>
                  </a:lnTo>
                  <a:lnTo>
                    <a:pt x="11183112" y="512063"/>
                  </a:lnTo>
                  <a:lnTo>
                    <a:pt x="11178807" y="533420"/>
                  </a:lnTo>
                  <a:lnTo>
                    <a:pt x="11167062" y="550859"/>
                  </a:lnTo>
                  <a:lnTo>
                    <a:pt x="11149625" y="562616"/>
                  </a:lnTo>
                  <a:lnTo>
                    <a:pt x="11128248" y="566928"/>
                  </a:lnTo>
                  <a:lnTo>
                    <a:pt x="54864" y="566928"/>
                  </a:lnTo>
                  <a:lnTo>
                    <a:pt x="33507" y="562616"/>
                  </a:lnTo>
                  <a:lnTo>
                    <a:pt x="16068" y="550859"/>
                  </a:lnTo>
                  <a:lnTo>
                    <a:pt x="4311" y="533420"/>
                  </a:lnTo>
                  <a:lnTo>
                    <a:pt x="0" y="512063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1F4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02919" y="5486400"/>
            <a:ext cx="11183620" cy="5670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alibri"/>
              </a:defRPr>
            </a:pPr>
            <a:r>
              <a:t>DATA FLOW</a:t>
            </a:r>
          </a:p>
          <a:p>
            <a:pPr>
              <a:defRPr sz="800">
                <a:solidFill>
                  <a:srgbClr val="FFFFFF"/>
                </a:solidFill>
                <a:latin typeface="Calibri"/>
              </a:defRPr>
            </a:pPr>
            <a:r>
              <a:t>Applicant Login → DigiLocker Fetch → Live Face Match (≥75%) → OCR Cross-Check → EBM Scoring → Plain-English Reasons → Stored in Audit Log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latin typeface="Segoe UI"/>
              </a:defRPr>
            </a:pPr>
            <a:r>
              <a:t>MODEL 1 &amp; 2: DIGILOCKER &amp; BIOMETRICS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54971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Eliminating Fake Certificates and Stolen OTP Identity Theft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1508760"/>
            <a:ext cx="6766559" cy="329565"/>
          </a:xfrm>
          <a:custGeom>
            <a:avLst/>
            <a:gdLst/>
            <a:ahLst/>
            <a:cxnLst/>
            <a:rect l="l" t="t" r="r" b="b"/>
            <a:pathLst>
              <a:path w="6766559" h="329564">
                <a:moveTo>
                  <a:pt x="0" y="329184"/>
                </a:moveTo>
                <a:lnTo>
                  <a:pt x="6766559" y="329184"/>
                </a:lnTo>
                <a:lnTo>
                  <a:pt x="6766559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823" y="1502663"/>
            <a:ext cx="6779259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1: DIGILOCKER VERIFICATION</a:t>
            </a:r>
          </a:p>
        </p:txBody>
      </p:sp>
      <p:sp>
        <p:nvSpPr>
          <p:cNvPr id="11" name="object 11"/>
          <p:cNvSpPr/>
          <p:nvPr/>
        </p:nvSpPr>
        <p:spPr>
          <a:xfrm>
            <a:off x="7498080" y="1508760"/>
            <a:ext cx="4188460" cy="329565"/>
          </a:xfrm>
          <a:custGeom>
            <a:avLst/>
            <a:gdLst/>
            <a:ahLst/>
            <a:cxnLst/>
            <a:rect l="l" t="t" r="r" b="b"/>
            <a:pathLst>
              <a:path w="4188459" h="329564">
                <a:moveTo>
                  <a:pt x="0" y="329184"/>
                </a:moveTo>
                <a:lnTo>
                  <a:pt x="4187952" y="329184"/>
                </a:lnTo>
                <a:lnTo>
                  <a:pt x="4187952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91983" y="1502663"/>
            <a:ext cx="4200525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2: TRI-BIOMETRIC VERIFICATION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8348" y="1833372"/>
            <a:ext cx="6776084" cy="3392804"/>
            <a:chOff x="498348" y="1833372"/>
            <a:chExt cx="6776084" cy="3392804"/>
          </a:xfrm>
        </p:grpSpPr>
        <p:sp>
          <p:nvSpPr>
            <p:cNvPr id="8" name="object 8"/>
            <p:cNvSpPr/>
            <p:nvPr/>
          </p:nvSpPr>
          <p:spPr>
            <a:xfrm>
              <a:off x="502920" y="1837944"/>
              <a:ext cx="6766559" cy="3383279"/>
            </a:xfrm>
            <a:custGeom>
              <a:avLst/>
              <a:gdLst/>
              <a:ahLst/>
              <a:cxnLst/>
              <a:rect l="l" t="t" r="r" b="b"/>
              <a:pathLst>
                <a:path w="6766559" h="3383279">
                  <a:moveTo>
                    <a:pt x="66934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3310128"/>
                  </a:lnTo>
                  <a:lnTo>
                    <a:pt x="5748" y="3338595"/>
                  </a:lnTo>
                  <a:lnTo>
                    <a:pt x="21426" y="3361848"/>
                  </a:lnTo>
                  <a:lnTo>
                    <a:pt x="44678" y="3377529"/>
                  </a:lnTo>
                  <a:lnTo>
                    <a:pt x="73151" y="3383279"/>
                  </a:lnTo>
                  <a:lnTo>
                    <a:pt x="6693408" y="3383279"/>
                  </a:lnTo>
                  <a:lnTo>
                    <a:pt x="6721875" y="3377529"/>
                  </a:lnTo>
                  <a:lnTo>
                    <a:pt x="6745128" y="3361848"/>
                  </a:lnTo>
                  <a:lnTo>
                    <a:pt x="6760809" y="3338595"/>
                  </a:lnTo>
                  <a:lnTo>
                    <a:pt x="6766559" y="3310128"/>
                  </a:lnTo>
                  <a:lnTo>
                    <a:pt x="6766559" y="73151"/>
                  </a:lnTo>
                  <a:lnTo>
                    <a:pt x="6760809" y="44684"/>
                  </a:lnTo>
                  <a:lnTo>
                    <a:pt x="6745128" y="21431"/>
                  </a:lnTo>
                  <a:lnTo>
                    <a:pt x="6721875" y="5750"/>
                  </a:lnTo>
                  <a:lnTo>
                    <a:pt x="6693408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20" y="1837944"/>
              <a:ext cx="6766559" cy="3383279"/>
            </a:xfrm>
            <a:custGeom>
              <a:avLst/>
              <a:gdLst/>
              <a:ahLst/>
              <a:cxnLst/>
              <a:rect l="l" t="t" r="r" b="b"/>
              <a:pathLst>
                <a:path w="6766559" h="33832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6693408" y="0"/>
                  </a:lnTo>
                  <a:lnTo>
                    <a:pt x="6721875" y="5750"/>
                  </a:lnTo>
                  <a:lnTo>
                    <a:pt x="6745128" y="21431"/>
                  </a:lnTo>
                  <a:lnTo>
                    <a:pt x="6760809" y="44684"/>
                  </a:lnTo>
                  <a:lnTo>
                    <a:pt x="6766559" y="73151"/>
                  </a:lnTo>
                  <a:lnTo>
                    <a:pt x="6766559" y="3310128"/>
                  </a:lnTo>
                  <a:lnTo>
                    <a:pt x="6760809" y="3338595"/>
                  </a:lnTo>
                  <a:lnTo>
                    <a:pt x="6745128" y="3361848"/>
                  </a:lnTo>
                  <a:lnTo>
                    <a:pt x="6721875" y="3377529"/>
                  </a:lnTo>
                  <a:lnTo>
                    <a:pt x="6693408" y="3383279"/>
                  </a:lnTo>
                  <a:lnTo>
                    <a:pt x="73151" y="3383279"/>
                  </a:lnTo>
                  <a:lnTo>
                    <a:pt x="44678" y="3377529"/>
                  </a:lnTo>
                  <a:lnTo>
                    <a:pt x="21426" y="3361848"/>
                  </a:lnTo>
                  <a:lnTo>
                    <a:pt x="5748" y="3338595"/>
                  </a:lnTo>
                  <a:lnTo>
                    <a:pt x="0" y="331012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8819" y="1913112"/>
            <a:ext cx="6334125" cy="17640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Why it is needed: Solves Problem 1 (delays) and Problem 2 (fake certificates).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How it works: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Instead of manual uploads of easily-edited photocopies, the system connects directly to DigiLocker.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Pulls verified e-Aadhaar and e-PAN directly from UIDAI and Income Tax department.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Verifies the 12-digit Aadhaar checksum using the Verhoeff algorithm.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Impact: Eliminates 100% of forged document submissions and cuts verification time from days to seconds.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7493507" y="1833372"/>
            <a:ext cx="4197350" cy="1381125"/>
            <a:chOff x="7493507" y="1833372"/>
            <a:chExt cx="4197350" cy="1381125"/>
          </a:xfrm>
        </p:grpSpPr>
        <p:sp>
          <p:nvSpPr>
            <p:cNvPr id="14" name="object 14"/>
            <p:cNvSpPr/>
            <p:nvPr/>
          </p:nvSpPr>
          <p:spPr>
            <a:xfrm>
              <a:off x="7498079" y="1837944"/>
              <a:ext cx="4188460" cy="1371600"/>
            </a:xfrm>
            <a:custGeom>
              <a:avLst/>
              <a:gdLst/>
              <a:ahLst/>
              <a:cxnLst/>
              <a:rect l="l" t="t" r="r" b="b"/>
              <a:pathLst>
                <a:path w="4188459" h="1371600">
                  <a:moveTo>
                    <a:pt x="411480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98447"/>
                  </a:lnTo>
                  <a:lnTo>
                    <a:pt x="5750" y="1326915"/>
                  </a:lnTo>
                  <a:lnTo>
                    <a:pt x="21431" y="1350168"/>
                  </a:lnTo>
                  <a:lnTo>
                    <a:pt x="44684" y="1365849"/>
                  </a:lnTo>
                  <a:lnTo>
                    <a:pt x="73151" y="1371600"/>
                  </a:lnTo>
                  <a:lnTo>
                    <a:pt x="4114800" y="1371600"/>
                  </a:lnTo>
                  <a:lnTo>
                    <a:pt x="4143267" y="1365849"/>
                  </a:lnTo>
                  <a:lnTo>
                    <a:pt x="4166520" y="1350168"/>
                  </a:lnTo>
                  <a:lnTo>
                    <a:pt x="4182201" y="1326915"/>
                  </a:lnTo>
                  <a:lnTo>
                    <a:pt x="4187952" y="1298447"/>
                  </a:lnTo>
                  <a:lnTo>
                    <a:pt x="4187952" y="73151"/>
                  </a:lnTo>
                  <a:lnTo>
                    <a:pt x="4182201" y="44684"/>
                  </a:lnTo>
                  <a:lnTo>
                    <a:pt x="4166520" y="21431"/>
                  </a:lnTo>
                  <a:lnTo>
                    <a:pt x="4143267" y="575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98079" y="1837944"/>
              <a:ext cx="4188460" cy="1371600"/>
            </a:xfrm>
            <a:custGeom>
              <a:avLst/>
              <a:gdLst/>
              <a:ahLst/>
              <a:cxnLst/>
              <a:rect l="l" t="t" r="r" b="b"/>
              <a:pathLst>
                <a:path w="4188459" h="13716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4114800" y="0"/>
                  </a:lnTo>
                  <a:lnTo>
                    <a:pt x="4143267" y="5750"/>
                  </a:lnTo>
                  <a:lnTo>
                    <a:pt x="4166520" y="21431"/>
                  </a:lnTo>
                  <a:lnTo>
                    <a:pt x="4182201" y="44684"/>
                  </a:lnTo>
                  <a:lnTo>
                    <a:pt x="4187952" y="73151"/>
                  </a:lnTo>
                  <a:lnTo>
                    <a:pt x="4187952" y="1298447"/>
                  </a:lnTo>
                  <a:lnTo>
                    <a:pt x="4182201" y="1326915"/>
                  </a:lnTo>
                  <a:lnTo>
                    <a:pt x="4166520" y="1350168"/>
                  </a:lnTo>
                  <a:lnTo>
                    <a:pt x="4143267" y="1365849"/>
                  </a:lnTo>
                  <a:lnTo>
                    <a:pt x="4114800" y="1371600"/>
                  </a:lnTo>
                  <a:lnTo>
                    <a:pt x="73151" y="1371600"/>
                  </a:lnTo>
                  <a:lnTo>
                    <a:pt x="44684" y="1365849"/>
                  </a:lnTo>
                  <a:lnTo>
                    <a:pt x="21431" y="1350168"/>
                  </a:lnTo>
                  <a:lnTo>
                    <a:pt x="5750" y="1326915"/>
                  </a:lnTo>
                  <a:lnTo>
                    <a:pt x="0" y="1298447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14868" y="1989785"/>
            <a:ext cx="37014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850" b="1">
                <a:solidFill>
                  <a:srgbClr val="1A1A1A"/>
                </a:solidFill>
                <a:latin typeface="Calibri"/>
              </a:defRPr>
            </a:pPr>
            <a:r>
              <a:t>Requires ≥ 75.0% match across all 3 photos to proceed.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91983" y="3377184"/>
            <a:ext cx="4200525" cy="341630"/>
          </a:xfrm>
          <a:prstGeom prst="rect">
            <a:avLst/>
          </a:prstGeom>
          <a:solidFill>
            <a:srgbClr val="1F4D39"/>
          </a:solidFill>
          <a:ln w="3175">
            <a:solidFill>
              <a:srgbClr val="1F4D39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TRI-BIOMETRIC PIPELINE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7493507" y="3707891"/>
            <a:ext cx="4197350" cy="1518285"/>
            <a:chOff x="7493507" y="3707891"/>
            <a:chExt cx="4197350" cy="1518285"/>
          </a:xfrm>
        </p:grpSpPr>
        <p:sp>
          <p:nvSpPr>
            <p:cNvPr id="19" name="object 19"/>
            <p:cNvSpPr/>
            <p:nvPr/>
          </p:nvSpPr>
          <p:spPr>
            <a:xfrm>
              <a:off x="7498079" y="3712463"/>
              <a:ext cx="4188460" cy="1508760"/>
            </a:xfrm>
            <a:custGeom>
              <a:avLst/>
              <a:gdLst/>
              <a:ahLst/>
              <a:cxnLst/>
              <a:rect l="l" t="t" r="r" b="b"/>
              <a:pathLst>
                <a:path w="4188459" h="1508760">
                  <a:moveTo>
                    <a:pt x="411480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435608"/>
                  </a:lnTo>
                  <a:lnTo>
                    <a:pt x="5750" y="1464075"/>
                  </a:lnTo>
                  <a:lnTo>
                    <a:pt x="21431" y="1487328"/>
                  </a:lnTo>
                  <a:lnTo>
                    <a:pt x="44684" y="1503009"/>
                  </a:lnTo>
                  <a:lnTo>
                    <a:pt x="73151" y="1508760"/>
                  </a:lnTo>
                  <a:lnTo>
                    <a:pt x="4114800" y="1508760"/>
                  </a:lnTo>
                  <a:lnTo>
                    <a:pt x="4143267" y="1503009"/>
                  </a:lnTo>
                  <a:lnTo>
                    <a:pt x="4166520" y="1487328"/>
                  </a:lnTo>
                  <a:lnTo>
                    <a:pt x="4182201" y="1464075"/>
                  </a:lnTo>
                  <a:lnTo>
                    <a:pt x="4187952" y="1435608"/>
                  </a:lnTo>
                  <a:lnTo>
                    <a:pt x="4187952" y="73152"/>
                  </a:lnTo>
                  <a:lnTo>
                    <a:pt x="4182201" y="44684"/>
                  </a:lnTo>
                  <a:lnTo>
                    <a:pt x="4166520" y="21431"/>
                  </a:lnTo>
                  <a:lnTo>
                    <a:pt x="4143267" y="575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98079" y="3712463"/>
              <a:ext cx="4188460" cy="1508760"/>
            </a:xfrm>
            <a:custGeom>
              <a:avLst/>
              <a:gdLst/>
              <a:ahLst/>
              <a:cxnLst/>
              <a:rect l="l" t="t" r="r" b="b"/>
              <a:pathLst>
                <a:path w="4188459" h="150876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4114800" y="0"/>
                  </a:lnTo>
                  <a:lnTo>
                    <a:pt x="4143267" y="5750"/>
                  </a:lnTo>
                  <a:lnTo>
                    <a:pt x="4166520" y="21431"/>
                  </a:lnTo>
                  <a:lnTo>
                    <a:pt x="4182201" y="44684"/>
                  </a:lnTo>
                  <a:lnTo>
                    <a:pt x="4187952" y="73152"/>
                  </a:lnTo>
                  <a:lnTo>
                    <a:pt x="4187952" y="1435608"/>
                  </a:lnTo>
                  <a:lnTo>
                    <a:pt x="4182201" y="1464075"/>
                  </a:lnTo>
                  <a:lnTo>
                    <a:pt x="4166520" y="1487328"/>
                  </a:lnTo>
                  <a:lnTo>
                    <a:pt x="4143267" y="1503009"/>
                  </a:lnTo>
                  <a:lnTo>
                    <a:pt x="4114800" y="1508760"/>
                  </a:lnTo>
                  <a:lnTo>
                    <a:pt x="73151" y="1508760"/>
                  </a:lnTo>
                  <a:lnTo>
                    <a:pt x="44684" y="1503009"/>
                  </a:lnTo>
                  <a:lnTo>
                    <a:pt x="21431" y="1487328"/>
                  </a:lnTo>
                  <a:lnTo>
                    <a:pt x="5750" y="1464075"/>
                  </a:lnTo>
                  <a:lnTo>
                    <a:pt x="0" y="1435608"/>
                  </a:lnTo>
                  <a:lnTo>
                    <a:pt x="0" y="73152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714868" y="3865245"/>
            <a:ext cx="36855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Why it is needed: Solves Problem 3 (stolen Aadhaar/PAN OTP fraud).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How it works: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Scammers can trick victims into sharing OTPs, but they cannot steal the victim's physical face.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Live webcam captures applicant; computer vision extracts 256-D facial features.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Compares Live Selfie ↔ Aadhaar Photo ↔ PAN Photo simultaneously.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Impact: Blocks any fraudster even if they enter the valid OTP.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496823" y="5434584"/>
            <a:ext cx="11195685" cy="515620"/>
            <a:chOff x="496823" y="5434584"/>
            <a:chExt cx="11195685" cy="515620"/>
          </a:xfrm>
        </p:grpSpPr>
        <p:sp>
          <p:nvSpPr>
            <p:cNvPr id="23" name="object 23"/>
            <p:cNvSpPr/>
            <p:nvPr/>
          </p:nvSpPr>
          <p:spPr>
            <a:xfrm>
              <a:off x="502919" y="5440680"/>
              <a:ext cx="11183620" cy="502920"/>
            </a:xfrm>
            <a:custGeom>
              <a:avLst/>
              <a:gdLst/>
              <a:ahLst/>
              <a:cxnLst/>
              <a:rect l="l" t="t" r="r" b="b"/>
              <a:pathLst>
                <a:path w="11183620" h="502920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448056"/>
                  </a:lnTo>
                  <a:lnTo>
                    <a:pt x="4311" y="469412"/>
                  </a:lnTo>
                  <a:lnTo>
                    <a:pt x="16068" y="486851"/>
                  </a:lnTo>
                  <a:lnTo>
                    <a:pt x="33507" y="498608"/>
                  </a:lnTo>
                  <a:lnTo>
                    <a:pt x="54864" y="502920"/>
                  </a:lnTo>
                  <a:lnTo>
                    <a:pt x="11128248" y="502920"/>
                  </a:lnTo>
                  <a:lnTo>
                    <a:pt x="11149625" y="498608"/>
                  </a:lnTo>
                  <a:lnTo>
                    <a:pt x="11167062" y="486851"/>
                  </a:lnTo>
                  <a:lnTo>
                    <a:pt x="11178807" y="469412"/>
                  </a:lnTo>
                  <a:lnTo>
                    <a:pt x="11183112" y="448056"/>
                  </a:lnTo>
                  <a:lnTo>
                    <a:pt x="11183112" y="54864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2919" y="5440680"/>
              <a:ext cx="11183620" cy="502920"/>
            </a:xfrm>
            <a:custGeom>
              <a:avLst/>
              <a:gdLst/>
              <a:ahLst/>
              <a:cxnLst/>
              <a:rect l="l" t="t" r="r" b="b"/>
              <a:pathLst>
                <a:path w="11183620" h="502920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4"/>
                  </a:lnTo>
                  <a:lnTo>
                    <a:pt x="11183112" y="448056"/>
                  </a:lnTo>
                  <a:lnTo>
                    <a:pt x="11178807" y="469412"/>
                  </a:lnTo>
                  <a:lnTo>
                    <a:pt x="11167062" y="486851"/>
                  </a:lnTo>
                  <a:lnTo>
                    <a:pt x="11149625" y="498608"/>
                  </a:lnTo>
                  <a:lnTo>
                    <a:pt x="11128248" y="502920"/>
                  </a:lnTo>
                  <a:lnTo>
                    <a:pt x="54864" y="502920"/>
                  </a:lnTo>
                  <a:lnTo>
                    <a:pt x="33507" y="498608"/>
                  </a:lnTo>
                  <a:lnTo>
                    <a:pt x="16068" y="486851"/>
                  </a:lnTo>
                  <a:lnTo>
                    <a:pt x="4311" y="469412"/>
                  </a:lnTo>
                  <a:lnTo>
                    <a:pt x="0" y="448056"/>
                  </a:lnTo>
                  <a:lnTo>
                    <a:pt x="0" y="54864"/>
                  </a:lnTo>
                  <a:close/>
                </a:path>
              </a:pathLst>
            </a:custGeom>
            <a:ln w="12191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2919" y="5440679"/>
            <a:ext cx="11183620" cy="50292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Security Guarantee: Identity is confirmed by both government records AND live physical biometric presence.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0219" y="435610"/>
            <a:ext cx="970361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latin typeface="Segoe UI"/>
              </a:defRPr>
            </a:pPr>
            <a:r>
              <a:t>MODEL 3 &amp; 4: OCR EXTRACTION &amp; EXPLAINABLE EBM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4850213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Cross-Checking Details and Explaining Loan Decisions Plainly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150876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823" y="1502663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3: OCR CROSS-CHECK</a:t>
            </a:r>
          </a:p>
        </p:txBody>
      </p:sp>
      <p:sp>
        <p:nvSpPr>
          <p:cNvPr id="12" name="object 12"/>
          <p:cNvSpPr/>
          <p:nvPr/>
        </p:nvSpPr>
        <p:spPr>
          <a:xfrm>
            <a:off x="6199632" y="150876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93535" y="1502663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4: EXPLAINABLE BOOSTING MACHINE (EBM)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8348" y="1833372"/>
            <a:ext cx="5495925" cy="3758565"/>
            <a:chOff x="498348" y="1833372"/>
            <a:chExt cx="5495925" cy="3758565"/>
          </a:xfrm>
        </p:grpSpPr>
        <p:sp>
          <p:nvSpPr>
            <p:cNvPr id="8" name="object 8"/>
            <p:cNvSpPr/>
            <p:nvPr/>
          </p:nvSpPr>
          <p:spPr>
            <a:xfrm>
              <a:off x="502920" y="1837944"/>
              <a:ext cx="5486400" cy="3749040"/>
            </a:xfrm>
            <a:custGeom>
              <a:avLst/>
              <a:gdLst/>
              <a:ahLst/>
              <a:cxnLst/>
              <a:rect l="l" t="t" r="r" b="b"/>
              <a:pathLst>
                <a:path w="5486400" h="3749040">
                  <a:moveTo>
                    <a:pt x="5413247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3675887"/>
                  </a:lnTo>
                  <a:lnTo>
                    <a:pt x="5748" y="3704355"/>
                  </a:lnTo>
                  <a:lnTo>
                    <a:pt x="21426" y="3727608"/>
                  </a:lnTo>
                  <a:lnTo>
                    <a:pt x="44678" y="3743289"/>
                  </a:lnTo>
                  <a:lnTo>
                    <a:pt x="73151" y="3749040"/>
                  </a:lnTo>
                  <a:lnTo>
                    <a:pt x="5413247" y="3749040"/>
                  </a:lnTo>
                  <a:lnTo>
                    <a:pt x="5441715" y="3743289"/>
                  </a:lnTo>
                  <a:lnTo>
                    <a:pt x="5464968" y="3727608"/>
                  </a:lnTo>
                  <a:lnTo>
                    <a:pt x="5480649" y="3704355"/>
                  </a:lnTo>
                  <a:lnTo>
                    <a:pt x="5486400" y="3675887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20" y="1837944"/>
              <a:ext cx="5486400" cy="3749040"/>
            </a:xfrm>
            <a:custGeom>
              <a:avLst/>
              <a:gdLst/>
              <a:ahLst/>
              <a:cxnLst/>
              <a:rect l="l" t="t" r="r" b="b"/>
              <a:pathLst>
                <a:path w="5486400" h="374904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3675887"/>
                  </a:lnTo>
                  <a:lnTo>
                    <a:pt x="5480649" y="3704355"/>
                  </a:lnTo>
                  <a:lnTo>
                    <a:pt x="5464968" y="3727608"/>
                  </a:lnTo>
                  <a:lnTo>
                    <a:pt x="5441715" y="3743289"/>
                  </a:lnTo>
                  <a:lnTo>
                    <a:pt x="5413247" y="3749040"/>
                  </a:lnTo>
                  <a:lnTo>
                    <a:pt x="73151" y="3749040"/>
                  </a:lnTo>
                  <a:lnTo>
                    <a:pt x="44678" y="3743289"/>
                  </a:lnTo>
                  <a:lnTo>
                    <a:pt x="21426" y="3727608"/>
                  </a:lnTo>
                  <a:lnTo>
                    <a:pt x="5748" y="3704355"/>
                  </a:lnTo>
                  <a:lnTo>
                    <a:pt x="0" y="3675887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8819" y="1983689"/>
            <a:ext cx="21767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850" b="1">
                <a:solidFill>
                  <a:srgbClr val="1F4D39"/>
                </a:solidFill>
                <a:latin typeface="Cambria"/>
              </a:defRPr>
            </a:pPr>
            <a:r>
              <a:t>Fuzzy Matching: Handles natural name variations (e.g. "Jeeva Bharathi M" vs "M Jeeva Bharathi")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8819" y="2600071"/>
            <a:ext cx="4935855" cy="1245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Why it is needed: Catches mismatched or mixed documents automatically.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How it works: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Optical Character Recognition (OCR) reads text from identity documents.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Cross-checks applicant name and date of birth across Aadhaar and PAN cards.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Flags spelling errors or mismatched identity numbers before credit evaluation.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Impact: Ensures documents truly belong to the same applicant without manual review.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6195059" y="1833372"/>
            <a:ext cx="5495925" cy="3758565"/>
            <a:chOff x="6195059" y="1833372"/>
            <a:chExt cx="5495925" cy="3758565"/>
          </a:xfrm>
        </p:grpSpPr>
        <p:sp>
          <p:nvSpPr>
            <p:cNvPr id="15" name="object 15"/>
            <p:cNvSpPr/>
            <p:nvPr/>
          </p:nvSpPr>
          <p:spPr>
            <a:xfrm>
              <a:off x="6199631" y="1837944"/>
              <a:ext cx="5486400" cy="3749040"/>
            </a:xfrm>
            <a:custGeom>
              <a:avLst/>
              <a:gdLst/>
              <a:ahLst/>
              <a:cxnLst/>
              <a:rect l="l" t="t" r="r" b="b"/>
              <a:pathLst>
                <a:path w="5486400" h="3749040">
                  <a:moveTo>
                    <a:pt x="541324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675887"/>
                  </a:lnTo>
                  <a:lnTo>
                    <a:pt x="5750" y="3704355"/>
                  </a:lnTo>
                  <a:lnTo>
                    <a:pt x="21431" y="3727608"/>
                  </a:lnTo>
                  <a:lnTo>
                    <a:pt x="44684" y="3743289"/>
                  </a:lnTo>
                  <a:lnTo>
                    <a:pt x="73151" y="3749040"/>
                  </a:lnTo>
                  <a:lnTo>
                    <a:pt x="5413247" y="3749040"/>
                  </a:lnTo>
                  <a:lnTo>
                    <a:pt x="5441715" y="3743289"/>
                  </a:lnTo>
                  <a:lnTo>
                    <a:pt x="5464968" y="3727608"/>
                  </a:lnTo>
                  <a:lnTo>
                    <a:pt x="5480649" y="3704355"/>
                  </a:lnTo>
                  <a:lnTo>
                    <a:pt x="5486399" y="3675887"/>
                  </a:lnTo>
                  <a:lnTo>
                    <a:pt x="5486399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9631" y="1837944"/>
              <a:ext cx="5486400" cy="3749040"/>
            </a:xfrm>
            <a:custGeom>
              <a:avLst/>
              <a:gdLst/>
              <a:ahLst/>
              <a:cxnLst/>
              <a:rect l="l" t="t" r="r" b="b"/>
              <a:pathLst>
                <a:path w="5486400" h="374904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399" y="73151"/>
                  </a:lnTo>
                  <a:lnTo>
                    <a:pt x="5486399" y="3675887"/>
                  </a:lnTo>
                  <a:lnTo>
                    <a:pt x="5480649" y="3704355"/>
                  </a:lnTo>
                  <a:lnTo>
                    <a:pt x="5464968" y="3727608"/>
                  </a:lnTo>
                  <a:lnTo>
                    <a:pt x="5441715" y="3743289"/>
                  </a:lnTo>
                  <a:lnTo>
                    <a:pt x="5413247" y="3749040"/>
                  </a:lnTo>
                  <a:lnTo>
                    <a:pt x="73151" y="3749040"/>
                  </a:lnTo>
                  <a:lnTo>
                    <a:pt x="44684" y="3743289"/>
                  </a:lnTo>
                  <a:lnTo>
                    <a:pt x="21431" y="3727608"/>
                  </a:lnTo>
                  <a:lnTo>
                    <a:pt x="5750" y="3704355"/>
                  </a:lnTo>
                  <a:lnTo>
                    <a:pt x="0" y="3675887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16421" y="1913112"/>
            <a:ext cx="3627120" cy="15811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Why it is needed: Solves Problem 4 (unexplained, black-box loan rejections).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How it works: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EBM is a "Glass-Box" model: Score = Base + Income Impact + Debt Impact + CIBIL Impact + EMI Impact.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Unlike black-box models, each factor's exact contribution is known mathematically.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Automatically extracts top risk factors and writes clear plain-English reasons.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Impact: Rejected applicants receive clear reasons like "Monthly debt payments take up 56% of income" instead of a mystery refusal.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latin typeface="Segoe UI"/>
              </a:defRPr>
            </a:pPr>
            <a:r>
              <a:t>MODEL 5 &amp; BENCHMARKING: RANDOM FOREST VS EBM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45186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Validating Prediction Accuracy by Comparing EBM against Random Forest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9744" y="1551305"/>
          <a:ext cx="11182984" cy="3015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EVALUATION CRITERIA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RANDOM FOREST (MODEL 5)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EXPLAINABLE BOOSTING MACHINE (MODEL 4)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Algorithm Type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Ensemble of 100+ Decision Trees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Generalized Additive Model with Pairs (GA²M)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Test Accuracy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85.37% (Industry standard accuracy)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85.37% (Ties Random Forest exactly)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AUC-ROC Score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0.729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0.752 (EBM leads by +0.023 in discrimination)</a:t>
                      </a:r>
                    </a:p>
                  </a:txBody>
                  <a:tcPr marL="0" marR="0" marT="15113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Decision Transparency</a:t>
                      </a:r>
                    </a:p>
                  </a:txBody>
                  <a:tcPr marL="0" marR="0" marT="15176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"Black Box" — cannot explain reasons</a:t>
                      </a:r>
                    </a:p>
                  </a:txBody>
                  <a:tcPr marL="0" marR="0" marT="15176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"Glass Box" — 100% exact reasons by design</a:t>
                      </a:r>
                    </a:p>
                  </a:txBody>
                  <a:tcPr marL="0" marR="0" marT="15176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Adverse Action Notices</a:t>
                      </a:r>
                    </a:p>
                  </a:txBody>
                  <a:tcPr marL="0" marR="0" marT="15176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Requires complex approximate add-ons</a:t>
                      </a:r>
                    </a:p>
                  </a:txBody>
                  <a:tcPr marL="0" marR="0" marT="15176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Built-in, instant plain-English sentences</a:t>
                      </a:r>
                    </a:p>
                  </a:txBody>
                  <a:tcPr marL="0" marR="0" marT="15176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96823" y="4931664"/>
            <a:ext cx="11195685" cy="744220"/>
            <a:chOff x="496823" y="4931664"/>
            <a:chExt cx="11195685" cy="744220"/>
          </a:xfrm>
        </p:grpSpPr>
        <p:sp>
          <p:nvSpPr>
            <p:cNvPr id="7" name="object 7"/>
            <p:cNvSpPr/>
            <p:nvPr/>
          </p:nvSpPr>
          <p:spPr>
            <a:xfrm>
              <a:off x="502919" y="4937760"/>
              <a:ext cx="11183620" cy="731520"/>
            </a:xfrm>
            <a:custGeom>
              <a:avLst/>
              <a:gdLst/>
              <a:ahLst/>
              <a:cxnLst/>
              <a:rect l="l" t="t" r="r" b="b"/>
              <a:pathLst>
                <a:path w="11183620" h="731520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676655"/>
                  </a:lnTo>
                  <a:lnTo>
                    <a:pt x="4311" y="698012"/>
                  </a:lnTo>
                  <a:lnTo>
                    <a:pt x="16068" y="715451"/>
                  </a:lnTo>
                  <a:lnTo>
                    <a:pt x="33507" y="727208"/>
                  </a:lnTo>
                  <a:lnTo>
                    <a:pt x="54864" y="731519"/>
                  </a:lnTo>
                  <a:lnTo>
                    <a:pt x="11128248" y="731519"/>
                  </a:lnTo>
                  <a:lnTo>
                    <a:pt x="11149625" y="727208"/>
                  </a:lnTo>
                  <a:lnTo>
                    <a:pt x="11167062" y="715451"/>
                  </a:lnTo>
                  <a:lnTo>
                    <a:pt x="11178807" y="698012"/>
                  </a:lnTo>
                  <a:lnTo>
                    <a:pt x="11183112" y="676655"/>
                  </a:lnTo>
                  <a:lnTo>
                    <a:pt x="11183112" y="54863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19" y="4937760"/>
              <a:ext cx="11183620" cy="731520"/>
            </a:xfrm>
            <a:custGeom>
              <a:avLst/>
              <a:gdLst/>
              <a:ahLst/>
              <a:cxnLst/>
              <a:rect l="l" t="t" r="r" b="b"/>
              <a:pathLst>
                <a:path w="11183620" h="731520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3"/>
                  </a:lnTo>
                  <a:lnTo>
                    <a:pt x="11183112" y="676655"/>
                  </a:lnTo>
                  <a:lnTo>
                    <a:pt x="11178807" y="698012"/>
                  </a:lnTo>
                  <a:lnTo>
                    <a:pt x="11167062" y="715451"/>
                  </a:lnTo>
                  <a:lnTo>
                    <a:pt x="11149625" y="727208"/>
                  </a:lnTo>
                  <a:lnTo>
                    <a:pt x="11128248" y="731519"/>
                  </a:lnTo>
                  <a:lnTo>
                    <a:pt x="54864" y="731519"/>
                  </a:lnTo>
                  <a:lnTo>
                    <a:pt x="33507" y="727208"/>
                  </a:lnTo>
                  <a:lnTo>
                    <a:pt x="16068" y="715451"/>
                  </a:lnTo>
                  <a:lnTo>
                    <a:pt x="4311" y="698012"/>
                  </a:lnTo>
                  <a:lnTo>
                    <a:pt x="0" y="676655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2919" y="4937759"/>
            <a:ext cx="11183620" cy="7315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>
              <a:defRPr sz="850">
                <a:latin typeface="Segoe UI"/>
              </a:defRPr>
            </a:pPr>
            <a:r>
              <a:t>Key Conclusion: Random Forest was trained as our high-accuracy benchmark. EBM matches Random Forest in accuracy (85.37%) and beats it in AUC (0.752), while providing 100% transparent explanations that Random Forest cannot give.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IMPLEMENTATION</a:t>
            </a:r>
            <a:r>
              <a:rPr spc="-100" dirty="0"/>
              <a:t> </a:t>
            </a:r>
            <a:r>
              <a:rPr spc="-105" dirty="0"/>
              <a:t>STATUS</a:t>
            </a:r>
            <a:r>
              <a:rPr spc="-50" dirty="0"/>
              <a:t> </a:t>
            </a:r>
            <a:r>
              <a:rPr dirty="0"/>
              <a:t>(PHASE</a:t>
            </a:r>
            <a:r>
              <a:rPr spc="-85" dirty="0"/>
              <a:t> </a:t>
            </a:r>
            <a:r>
              <a:rPr spc="-25" dirty="0"/>
              <a:t>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24339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Current Working Status of All 5 Models and Supporting Modules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9744" y="1551305"/>
          <a:ext cx="11182984" cy="4094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809"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MODULE / MODEL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FUNCTION AND IMPLEMENTED CAPABILITY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Model 1: DigiLocker Service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Direct document fetch with e-Aadhaar &amp; PAN verification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Model 2: Biometric Face Gate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3-way live camera vs document photo matching (≥ 75%)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Model 3: OCR Cross-Check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Text extraction and fuzzy name string comparison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Model 4: EBM Underwriting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Exact scoring with waterfall charts and plain-English reasons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Model 5: Random Forest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Benchmark ensemble model trained and evaluated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Web Application</a:t>
                      </a:r>
                    </a:p>
                  </a:txBody>
                  <a:tcPr marL="0" marR="0" marT="1606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6-step underwriting wizard, camera viewfinder &amp; audit cockpit</a:t>
                      </a:r>
                    </a:p>
                  </a:txBody>
                  <a:tcPr marL="0" marR="0" marT="1606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Implemented</a:t>
                      </a:r>
                    </a:p>
                  </a:txBody>
                  <a:tcPr marL="0" marR="0" marT="16065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>
                        <a:defRPr sz="819" b="1">
                          <a:latin typeface="Segoe UI"/>
                        </a:defRPr>
                      </a:pPr>
                      <a:r>
                        <a:t>Live Cloud Deployment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Production web app active on GitHub Pages with mock fallback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latin typeface="Segoe UI"/>
                        </a:defRPr>
                      </a:pPr>
                      <a:r>
                        <a:t>✓ Live &amp; Active</a:t>
                      </a:r>
                    </a:p>
                  </a:txBody>
                  <a:tcPr marL="0" marR="0" marT="16002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RESULTS: MODEL COMPARISON ON THE TEST 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51403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Evaluating Five Different Machine Learning Models on 614 Credit Records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9744" y="1551305"/>
          <a:ext cx="1118298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4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5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56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ACC. %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PREC. %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REC. %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F1 %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Segoe UI"/>
                        </a:defRPr>
                      </a:pPr>
                      <a:r>
                        <a:t>AUC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74.80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80.68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83.53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82.08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0.728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Gradient boosting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80.49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82.80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90.59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86.52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0.705</a:t>
                      </a:r>
                    </a:p>
                  </a:txBody>
                  <a:tcPr marL="0" marR="0" marT="132080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Hist. grad. boosting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82.11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82.47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94.12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87.91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0.734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Random forest (Model 5)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85.37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83.17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98.82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90.32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0.729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EBM Glass-Box (Model 4)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85.37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83.17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98.82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90.32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0.752</a:t>
                      </a:r>
                    </a:p>
                  </a:txBody>
                  <a:tcPr marL="0" marR="0" marT="13271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96823" y="5754623"/>
            <a:ext cx="11195685" cy="469900"/>
            <a:chOff x="496823" y="5754623"/>
            <a:chExt cx="11195685" cy="469900"/>
          </a:xfrm>
        </p:grpSpPr>
        <p:sp>
          <p:nvSpPr>
            <p:cNvPr id="7" name="object 7"/>
            <p:cNvSpPr/>
            <p:nvPr/>
          </p:nvSpPr>
          <p:spPr>
            <a:xfrm>
              <a:off x="502919" y="5760719"/>
              <a:ext cx="11183620" cy="457200"/>
            </a:xfrm>
            <a:custGeom>
              <a:avLst/>
              <a:gdLst/>
              <a:ahLst/>
              <a:cxnLst/>
              <a:rect l="l" t="t" r="r" b="b"/>
              <a:pathLst>
                <a:path w="11183620" h="457200">
                  <a:moveTo>
                    <a:pt x="11128248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402335"/>
                  </a:lnTo>
                  <a:lnTo>
                    <a:pt x="4311" y="423692"/>
                  </a:lnTo>
                  <a:lnTo>
                    <a:pt x="16068" y="441131"/>
                  </a:lnTo>
                  <a:lnTo>
                    <a:pt x="33507" y="452888"/>
                  </a:lnTo>
                  <a:lnTo>
                    <a:pt x="54864" y="457199"/>
                  </a:lnTo>
                  <a:lnTo>
                    <a:pt x="11128248" y="457199"/>
                  </a:lnTo>
                  <a:lnTo>
                    <a:pt x="11149625" y="452888"/>
                  </a:lnTo>
                  <a:lnTo>
                    <a:pt x="11167062" y="441131"/>
                  </a:lnTo>
                  <a:lnTo>
                    <a:pt x="11178807" y="423692"/>
                  </a:lnTo>
                  <a:lnTo>
                    <a:pt x="11183112" y="402335"/>
                  </a:lnTo>
                  <a:lnTo>
                    <a:pt x="11183112" y="54863"/>
                  </a:lnTo>
                  <a:lnTo>
                    <a:pt x="11178807" y="33507"/>
                  </a:lnTo>
                  <a:lnTo>
                    <a:pt x="11167062" y="16068"/>
                  </a:lnTo>
                  <a:lnTo>
                    <a:pt x="11149625" y="4311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19" y="5760719"/>
              <a:ext cx="11183620" cy="457200"/>
            </a:xfrm>
            <a:custGeom>
              <a:avLst/>
              <a:gdLst/>
              <a:ahLst/>
              <a:cxnLst/>
              <a:rect l="l" t="t" r="r" b="b"/>
              <a:pathLst>
                <a:path w="11183620" h="457200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11"/>
                  </a:lnTo>
                  <a:lnTo>
                    <a:pt x="11167062" y="16068"/>
                  </a:lnTo>
                  <a:lnTo>
                    <a:pt x="11178807" y="33507"/>
                  </a:lnTo>
                  <a:lnTo>
                    <a:pt x="11183112" y="54863"/>
                  </a:lnTo>
                  <a:lnTo>
                    <a:pt x="11183112" y="402335"/>
                  </a:lnTo>
                  <a:lnTo>
                    <a:pt x="11178807" y="423692"/>
                  </a:lnTo>
                  <a:lnTo>
                    <a:pt x="11167062" y="441131"/>
                  </a:lnTo>
                  <a:lnTo>
                    <a:pt x="11149625" y="452888"/>
                  </a:lnTo>
                  <a:lnTo>
                    <a:pt x="11128248" y="457199"/>
                  </a:lnTo>
                  <a:lnTo>
                    <a:pt x="54864" y="457199"/>
                  </a:lnTo>
                  <a:lnTo>
                    <a:pt x="33507" y="452888"/>
                  </a:lnTo>
                  <a:lnTo>
                    <a:pt x="16068" y="441131"/>
                  </a:lnTo>
                  <a:lnTo>
                    <a:pt x="4311" y="423692"/>
                  </a:lnTo>
                  <a:lnTo>
                    <a:pt x="0" y="402335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2919" y="5760720"/>
            <a:ext cx="11183620" cy="4572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Outcome: EBM ties Random Forest at 85.37% accuracy and leads in AUC (0.752). It provides state-of-the-art predictive power while remaining 100% explainable, beating logistic regression by +10.57% accuracy.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latin typeface="Segoe UI"/>
              </a:defRPr>
            </a:pPr>
            <a:r>
              <a:t>RESULTS: DEMO PERSONAS &amp; FRAUD DEFENSE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894076"/>
            <a:ext cx="6433089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Real-World Verification Demonstrating How Fraud is Stopped and Decisions are Explained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0219" y="1442974"/>
            <a:ext cx="2840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100" b="1">
                <a:solidFill>
                  <a:srgbClr val="1F4D39"/>
                </a:solidFill>
                <a:latin typeface="Calibri"/>
              </a:defRPr>
            </a:pPr>
            <a:r>
              <a:t>DEMONSTRATION TEST CASES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97548" y="1442974"/>
            <a:ext cx="19323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100" b="1">
                <a:solidFill>
                  <a:srgbClr val="1F4D39"/>
                </a:solidFill>
                <a:latin typeface="Calibri"/>
              </a:defRPr>
            </a:pPr>
            <a:r>
              <a:t>SAMPLE EBM REJECTION REASONS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9744" y="1734185"/>
          <a:ext cx="5486394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TEST CASE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OTP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FACE MATCH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OCR NAME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VERDICT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EXPLANATION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Jeeva Bharathi M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Valid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91.2% (Pass)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100% (Pass)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Approved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Low DTI (28%), CIBIL 785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Stolen OTP Fraud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Valid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41.5% (Fail)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Mismatch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BLOCKED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Impostor face rejected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Karthik Raman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Valid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88.5% (Pass)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98% (Pass)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Declined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Clear reasons generated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306184" y="1734185"/>
          <a:ext cx="5376545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1F4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Debt-to-Income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55.9%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Exceeds 45% limit (-0.38)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CIBIL Score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560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Below 650 threshold (-0.29)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Card Utilization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78%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Revolving balance high (-0.21)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Remedy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Pay Rs. 8k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Re-apply in 90 days</a:t>
                      </a:r>
                    </a:p>
                  </a:txBody>
                  <a:tcPr marL="0" marR="0" marT="136525" marB="0">
                    <a:lnL w="6350">
                      <a:solidFill>
                        <a:srgbClr val="BED7CA"/>
                      </a:solidFill>
                      <a:prstDash val="solid"/>
                    </a:lnL>
                    <a:lnR w="6350">
                      <a:solidFill>
                        <a:srgbClr val="BED7CA"/>
                      </a:solidFill>
                      <a:prstDash val="solid"/>
                    </a:lnR>
                    <a:lnT w="6350">
                      <a:solidFill>
                        <a:srgbClr val="BED7CA"/>
                      </a:solidFill>
                      <a:prstDash val="solid"/>
                    </a:lnT>
                    <a:lnB w="6350">
                      <a:solidFill>
                        <a:srgbClr val="BED7CA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496823" y="4840223"/>
            <a:ext cx="11195685" cy="652780"/>
            <a:chOff x="496823" y="4840223"/>
            <a:chExt cx="11195685" cy="652780"/>
          </a:xfrm>
        </p:grpSpPr>
        <p:sp>
          <p:nvSpPr>
            <p:cNvPr id="10" name="object 10"/>
            <p:cNvSpPr/>
            <p:nvPr/>
          </p:nvSpPr>
          <p:spPr>
            <a:xfrm>
              <a:off x="502919" y="4846319"/>
              <a:ext cx="11183620" cy="640080"/>
            </a:xfrm>
            <a:custGeom>
              <a:avLst/>
              <a:gdLst/>
              <a:ahLst/>
              <a:cxnLst/>
              <a:rect l="l" t="t" r="r" b="b"/>
              <a:pathLst>
                <a:path w="11183620" h="640079">
                  <a:moveTo>
                    <a:pt x="11128248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585215"/>
                  </a:lnTo>
                  <a:lnTo>
                    <a:pt x="4311" y="606593"/>
                  </a:lnTo>
                  <a:lnTo>
                    <a:pt x="16068" y="624030"/>
                  </a:lnTo>
                  <a:lnTo>
                    <a:pt x="33507" y="635775"/>
                  </a:lnTo>
                  <a:lnTo>
                    <a:pt x="54864" y="640079"/>
                  </a:lnTo>
                  <a:lnTo>
                    <a:pt x="11128248" y="640079"/>
                  </a:lnTo>
                  <a:lnTo>
                    <a:pt x="11149625" y="635775"/>
                  </a:lnTo>
                  <a:lnTo>
                    <a:pt x="11167062" y="624030"/>
                  </a:lnTo>
                  <a:lnTo>
                    <a:pt x="11178807" y="606593"/>
                  </a:lnTo>
                  <a:lnTo>
                    <a:pt x="11183112" y="585215"/>
                  </a:lnTo>
                  <a:lnTo>
                    <a:pt x="11183112" y="54863"/>
                  </a:lnTo>
                  <a:lnTo>
                    <a:pt x="11178807" y="33486"/>
                  </a:lnTo>
                  <a:lnTo>
                    <a:pt x="11167062" y="16049"/>
                  </a:lnTo>
                  <a:lnTo>
                    <a:pt x="11149625" y="4304"/>
                  </a:lnTo>
                  <a:lnTo>
                    <a:pt x="11128248" y="0"/>
                  </a:lnTo>
                  <a:close/>
                </a:path>
              </a:pathLst>
            </a:custGeom>
            <a:solidFill>
              <a:srgbClr val="FFF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2919" y="4846319"/>
              <a:ext cx="11183620" cy="640080"/>
            </a:xfrm>
            <a:custGeom>
              <a:avLst/>
              <a:gdLst/>
              <a:ahLst/>
              <a:cxnLst/>
              <a:rect l="l" t="t" r="r" b="b"/>
              <a:pathLst>
                <a:path w="11183620" h="64007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1128248" y="0"/>
                  </a:lnTo>
                  <a:lnTo>
                    <a:pt x="11149625" y="4304"/>
                  </a:lnTo>
                  <a:lnTo>
                    <a:pt x="11167062" y="16049"/>
                  </a:lnTo>
                  <a:lnTo>
                    <a:pt x="11178807" y="33486"/>
                  </a:lnTo>
                  <a:lnTo>
                    <a:pt x="11183112" y="54863"/>
                  </a:lnTo>
                  <a:lnTo>
                    <a:pt x="11183112" y="585215"/>
                  </a:lnTo>
                  <a:lnTo>
                    <a:pt x="11178807" y="606593"/>
                  </a:lnTo>
                  <a:lnTo>
                    <a:pt x="11167062" y="624030"/>
                  </a:lnTo>
                  <a:lnTo>
                    <a:pt x="11149625" y="635775"/>
                  </a:lnTo>
                  <a:lnTo>
                    <a:pt x="11128248" y="640079"/>
                  </a:lnTo>
                  <a:lnTo>
                    <a:pt x="54864" y="640079"/>
                  </a:lnTo>
                  <a:lnTo>
                    <a:pt x="33507" y="635775"/>
                  </a:lnTo>
                  <a:lnTo>
                    <a:pt x="16068" y="624030"/>
                  </a:lnTo>
                  <a:lnTo>
                    <a:pt x="4311" y="606593"/>
                  </a:lnTo>
                  <a:lnTo>
                    <a:pt x="0" y="585215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C8A8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2919" y="4846320"/>
            <a:ext cx="11183620" cy="6400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>
              <a:defRPr sz="850">
                <a:latin typeface="Segoe UI"/>
              </a:defRPr>
            </a:pPr>
            <a:r>
              <a:t>Key Demonstration: Proves that stolen OTP impostors are blocked at the biometric gate, while high-risk applicants receive exact, transparent reasons for decline.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latin typeface="Segoe UI"/>
              </a:defRPr>
            </a:pPr>
            <a:r>
              <a:t>HOW OUR SYSTEM SOLVES THE 4 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20993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Direct Impact of Our 5 Models on Modern Digital Lending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150876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823" y="1502663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PROBLEM 1 &amp; 2 SOLUTIONS</a:t>
            </a:r>
          </a:p>
        </p:txBody>
      </p:sp>
      <p:sp>
        <p:nvSpPr>
          <p:cNvPr id="10" name="object 10"/>
          <p:cNvSpPr/>
          <p:nvPr/>
        </p:nvSpPr>
        <p:spPr>
          <a:xfrm>
            <a:off x="6199632" y="150876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93535" y="1502663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PROBLEM 3 &amp; 4 SOLUTIONS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8348" y="1833372"/>
            <a:ext cx="5495925" cy="3941445"/>
            <a:chOff x="498348" y="1833372"/>
            <a:chExt cx="5495925" cy="3941445"/>
          </a:xfrm>
        </p:grpSpPr>
        <p:sp>
          <p:nvSpPr>
            <p:cNvPr id="8" name="object 8"/>
            <p:cNvSpPr/>
            <p:nvPr/>
          </p:nvSpPr>
          <p:spPr>
            <a:xfrm>
              <a:off x="502920" y="1837944"/>
              <a:ext cx="5486400" cy="3931920"/>
            </a:xfrm>
            <a:custGeom>
              <a:avLst/>
              <a:gdLst/>
              <a:ahLst/>
              <a:cxnLst/>
              <a:rect l="l" t="t" r="r" b="b"/>
              <a:pathLst>
                <a:path w="5486400" h="3931920">
                  <a:moveTo>
                    <a:pt x="5413247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3858780"/>
                  </a:lnTo>
                  <a:lnTo>
                    <a:pt x="5746" y="3887251"/>
                  </a:lnTo>
                  <a:lnTo>
                    <a:pt x="21420" y="3910499"/>
                  </a:lnTo>
                  <a:lnTo>
                    <a:pt x="44668" y="3926173"/>
                  </a:lnTo>
                  <a:lnTo>
                    <a:pt x="73139" y="3931919"/>
                  </a:lnTo>
                  <a:lnTo>
                    <a:pt x="5413247" y="3931919"/>
                  </a:lnTo>
                  <a:lnTo>
                    <a:pt x="5441715" y="3926173"/>
                  </a:lnTo>
                  <a:lnTo>
                    <a:pt x="5464968" y="3910499"/>
                  </a:lnTo>
                  <a:lnTo>
                    <a:pt x="5480649" y="3887251"/>
                  </a:lnTo>
                  <a:lnTo>
                    <a:pt x="5486400" y="3858780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20" y="1837944"/>
              <a:ext cx="5486400" cy="3931920"/>
            </a:xfrm>
            <a:custGeom>
              <a:avLst/>
              <a:gdLst/>
              <a:ahLst/>
              <a:cxnLst/>
              <a:rect l="l" t="t" r="r" b="b"/>
              <a:pathLst>
                <a:path w="5486400" h="3931920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3858780"/>
                  </a:lnTo>
                  <a:lnTo>
                    <a:pt x="5480649" y="3887251"/>
                  </a:lnTo>
                  <a:lnTo>
                    <a:pt x="5464968" y="3910499"/>
                  </a:lnTo>
                  <a:lnTo>
                    <a:pt x="5441715" y="3926173"/>
                  </a:lnTo>
                  <a:lnTo>
                    <a:pt x="5413247" y="3931919"/>
                  </a:lnTo>
                  <a:lnTo>
                    <a:pt x="73139" y="3931919"/>
                  </a:lnTo>
                  <a:lnTo>
                    <a:pt x="44668" y="3926173"/>
                  </a:lnTo>
                  <a:lnTo>
                    <a:pt x="21420" y="3910499"/>
                  </a:lnTo>
                  <a:lnTo>
                    <a:pt x="5746" y="3887251"/>
                  </a:lnTo>
                  <a:lnTo>
                    <a:pt x="0" y="3858780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8819" y="1989785"/>
            <a:ext cx="472567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1. Manual Verification Delays: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Solved by: DigiLocker &amp; OCR models.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Impact: Verification reduced from 3–7 business days to under 60 seconds.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2. Fake Certificates &amp; Forged Documents: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Solved by: DigiLocker direct government API fetch.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Impact: Only authentic UIDAI and Income Tax records accepted; zero fake paperwork.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195059" y="1833372"/>
            <a:ext cx="5495925" cy="3941445"/>
            <a:chOff x="6195059" y="1833372"/>
            <a:chExt cx="5495925" cy="3941445"/>
          </a:xfrm>
        </p:grpSpPr>
        <p:sp>
          <p:nvSpPr>
            <p:cNvPr id="13" name="object 13"/>
            <p:cNvSpPr/>
            <p:nvPr/>
          </p:nvSpPr>
          <p:spPr>
            <a:xfrm>
              <a:off x="6199631" y="1837944"/>
              <a:ext cx="5486400" cy="3931920"/>
            </a:xfrm>
            <a:custGeom>
              <a:avLst/>
              <a:gdLst/>
              <a:ahLst/>
              <a:cxnLst/>
              <a:rect l="l" t="t" r="r" b="b"/>
              <a:pathLst>
                <a:path w="5486400" h="3931920">
                  <a:moveTo>
                    <a:pt x="541324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858780"/>
                  </a:lnTo>
                  <a:lnTo>
                    <a:pt x="5750" y="3887251"/>
                  </a:lnTo>
                  <a:lnTo>
                    <a:pt x="21431" y="3910499"/>
                  </a:lnTo>
                  <a:lnTo>
                    <a:pt x="44684" y="3926173"/>
                  </a:lnTo>
                  <a:lnTo>
                    <a:pt x="73151" y="3931919"/>
                  </a:lnTo>
                  <a:lnTo>
                    <a:pt x="5413247" y="3931919"/>
                  </a:lnTo>
                  <a:lnTo>
                    <a:pt x="5441715" y="3926173"/>
                  </a:lnTo>
                  <a:lnTo>
                    <a:pt x="5464968" y="3910499"/>
                  </a:lnTo>
                  <a:lnTo>
                    <a:pt x="5480649" y="3887251"/>
                  </a:lnTo>
                  <a:lnTo>
                    <a:pt x="5486399" y="3858780"/>
                  </a:lnTo>
                  <a:lnTo>
                    <a:pt x="5486399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9631" y="1837944"/>
              <a:ext cx="5486400" cy="3931920"/>
            </a:xfrm>
            <a:custGeom>
              <a:avLst/>
              <a:gdLst/>
              <a:ahLst/>
              <a:cxnLst/>
              <a:rect l="l" t="t" r="r" b="b"/>
              <a:pathLst>
                <a:path w="5486400" h="39319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399" y="73151"/>
                  </a:lnTo>
                  <a:lnTo>
                    <a:pt x="5486399" y="3858780"/>
                  </a:lnTo>
                  <a:lnTo>
                    <a:pt x="5480649" y="3887251"/>
                  </a:lnTo>
                  <a:lnTo>
                    <a:pt x="5464968" y="3910499"/>
                  </a:lnTo>
                  <a:lnTo>
                    <a:pt x="5441715" y="3926173"/>
                  </a:lnTo>
                  <a:lnTo>
                    <a:pt x="5413247" y="3931919"/>
                  </a:lnTo>
                  <a:lnTo>
                    <a:pt x="73151" y="3931919"/>
                  </a:lnTo>
                  <a:lnTo>
                    <a:pt x="44684" y="3926173"/>
                  </a:lnTo>
                  <a:lnTo>
                    <a:pt x="21431" y="3910499"/>
                  </a:lnTo>
                  <a:lnTo>
                    <a:pt x="5750" y="3887251"/>
                  </a:lnTo>
                  <a:lnTo>
                    <a:pt x="0" y="3858780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16421" y="1913112"/>
            <a:ext cx="3368040" cy="13220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3. Stolen OTPs &amp; Identity Theft: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Solved by: Tri-Biometric face recognition model.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Impact: Impostors are blocked because their face does not match the Aadhaar &amp; PAN photos.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4. Unexplained Black-Box Rejections: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Solved by: Explainable Boosting Machine (EBM).</a:t>
            </a:r>
          </a:p>
          <a:p>
            <a:pPr>
              <a:defRPr sz="850">
                <a:solidFill>
                  <a:srgbClr val="1A1A1A"/>
                </a:solidFill>
                <a:latin typeface="Calibri"/>
              </a:defRPr>
            </a:pPr>
            <a:r>
              <a:t>• Impact: Applicants receive clear, transparent reasons and actionable advice to improve their credit profile.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800" b="1">
                <a:latin typeface="Segoe UI"/>
              </a:defRPr>
            </a:pPr>
            <a:r>
              <a:t>CONCLUSION AND FUTURE 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19" y="965962"/>
            <a:ext cx="24739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100">
                <a:solidFill>
                  <a:srgbClr val="6B6B6B"/>
                </a:solidFill>
                <a:latin typeface="Calibri"/>
              </a:defRPr>
            </a:pPr>
            <a:r>
              <a:t>Summary of Contributions and Roadmap for Phase II</a:t>
            </a:r>
          </a:p>
        </p:txBody>
      </p:sp>
      <p:sp>
        <p:nvSpPr>
          <p:cNvPr id="4" name="object 4"/>
          <p:cNvSpPr/>
          <p:nvPr/>
        </p:nvSpPr>
        <p:spPr>
          <a:xfrm>
            <a:off x="502919" y="1298447"/>
            <a:ext cx="11183620" cy="0"/>
          </a:xfrm>
          <a:custGeom>
            <a:avLst/>
            <a:gdLst/>
            <a:ahLst/>
            <a:cxnLst/>
            <a:rect l="l" t="t" r="r" b="b"/>
            <a:pathLst>
              <a:path w="11183620">
                <a:moveTo>
                  <a:pt x="0" y="0"/>
                </a:moveTo>
                <a:lnTo>
                  <a:pt x="11183112" y="0"/>
                </a:lnTo>
              </a:path>
            </a:pathLst>
          </a:custGeom>
          <a:ln w="12192">
            <a:solidFill>
              <a:srgbClr val="C8A8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150876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823" y="1502663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0" name="object 10"/>
          <p:cNvSpPr/>
          <p:nvPr/>
        </p:nvSpPr>
        <p:spPr>
          <a:xfrm>
            <a:off x="6199632" y="1508760"/>
            <a:ext cx="5486400" cy="329565"/>
          </a:xfrm>
          <a:custGeom>
            <a:avLst/>
            <a:gdLst/>
            <a:ahLst/>
            <a:cxnLst/>
            <a:rect l="l" t="t" r="r" b="b"/>
            <a:pathLst>
              <a:path w="5486400" h="329564">
                <a:moveTo>
                  <a:pt x="0" y="329184"/>
                </a:moveTo>
                <a:lnTo>
                  <a:pt x="5486400" y="329184"/>
                </a:lnTo>
                <a:lnTo>
                  <a:pt x="5486400" y="0"/>
                </a:lnTo>
                <a:lnTo>
                  <a:pt x="0" y="0"/>
                </a:lnTo>
                <a:lnTo>
                  <a:pt x="0" y="329184"/>
                </a:lnTo>
                <a:close/>
              </a:path>
            </a:pathLst>
          </a:custGeom>
          <a:ln w="12192">
            <a:solidFill>
              <a:srgbClr val="1F4D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93535" y="1502663"/>
            <a:ext cx="5499100" cy="341630"/>
          </a:xfrm>
          <a:prstGeom prst="rect">
            <a:avLst/>
          </a:prstGeom>
          <a:solidFill>
            <a:srgbClr val="1F4D39"/>
          </a:solidFill>
        </p:spPr>
        <p:txBody>
          <a:bodyPr vert="horz" wrap="square" lIns="0" tIns="86360" rIns="0" bIns="0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98348" y="1833372"/>
            <a:ext cx="5495925" cy="4032885"/>
            <a:chOff x="498348" y="1833372"/>
            <a:chExt cx="5495925" cy="4032885"/>
          </a:xfrm>
        </p:grpSpPr>
        <p:sp>
          <p:nvSpPr>
            <p:cNvPr id="8" name="object 8"/>
            <p:cNvSpPr/>
            <p:nvPr/>
          </p:nvSpPr>
          <p:spPr>
            <a:xfrm>
              <a:off x="502920" y="1837944"/>
              <a:ext cx="5486400" cy="4023360"/>
            </a:xfrm>
            <a:custGeom>
              <a:avLst/>
              <a:gdLst/>
              <a:ahLst/>
              <a:cxnLst/>
              <a:rect l="l" t="t" r="r" b="b"/>
              <a:pathLst>
                <a:path w="5486400" h="4023360">
                  <a:moveTo>
                    <a:pt x="5413247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3950207"/>
                  </a:lnTo>
                  <a:lnTo>
                    <a:pt x="5748" y="3978681"/>
                  </a:lnTo>
                  <a:lnTo>
                    <a:pt x="21426" y="4001933"/>
                  </a:lnTo>
                  <a:lnTo>
                    <a:pt x="44678" y="4017611"/>
                  </a:lnTo>
                  <a:lnTo>
                    <a:pt x="73151" y="4023359"/>
                  </a:lnTo>
                  <a:lnTo>
                    <a:pt x="5413247" y="4023359"/>
                  </a:lnTo>
                  <a:lnTo>
                    <a:pt x="5441715" y="4017611"/>
                  </a:lnTo>
                  <a:lnTo>
                    <a:pt x="5464968" y="4001933"/>
                  </a:lnTo>
                  <a:lnTo>
                    <a:pt x="5480649" y="3978681"/>
                  </a:lnTo>
                  <a:lnTo>
                    <a:pt x="5486400" y="3950207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20" y="1837944"/>
              <a:ext cx="5486400" cy="4023360"/>
            </a:xfrm>
            <a:custGeom>
              <a:avLst/>
              <a:gdLst/>
              <a:ahLst/>
              <a:cxnLst/>
              <a:rect l="l" t="t" r="r" b="b"/>
              <a:pathLst>
                <a:path w="5486400" h="402336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3950207"/>
                  </a:lnTo>
                  <a:lnTo>
                    <a:pt x="5480649" y="3978681"/>
                  </a:lnTo>
                  <a:lnTo>
                    <a:pt x="5464968" y="4001933"/>
                  </a:lnTo>
                  <a:lnTo>
                    <a:pt x="5441715" y="4017611"/>
                  </a:lnTo>
                  <a:lnTo>
                    <a:pt x="5413247" y="4023359"/>
                  </a:lnTo>
                  <a:lnTo>
                    <a:pt x="73151" y="4023359"/>
                  </a:lnTo>
                  <a:lnTo>
                    <a:pt x="44678" y="4017611"/>
                  </a:lnTo>
                  <a:lnTo>
                    <a:pt x="21426" y="4001933"/>
                  </a:lnTo>
                  <a:lnTo>
                    <a:pt x="5748" y="3978681"/>
                  </a:lnTo>
                  <a:lnTo>
                    <a:pt x="0" y="3950207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8819" y="1913112"/>
            <a:ext cx="4897755" cy="12458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Built an automated digital lending system solving manual delays, fake documents, OTP theft, and black-box rejections.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Integrated DigiLocker for instant, authentic document verification.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Introduced 3-Way Tri-Biometric face verification to defeat OTP identity theft.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Applied OCR for instant cross-document detail matching.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Proved that EBM matches Random Forest accuracy (85.37%) while delivering 100% exact, transparent explanations.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Complete working application running locally and deployed live on GitHub Pages.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195059" y="1833372"/>
            <a:ext cx="5495925" cy="4032885"/>
            <a:chOff x="6195059" y="1833372"/>
            <a:chExt cx="5495925" cy="4032885"/>
          </a:xfrm>
        </p:grpSpPr>
        <p:sp>
          <p:nvSpPr>
            <p:cNvPr id="13" name="object 13"/>
            <p:cNvSpPr/>
            <p:nvPr/>
          </p:nvSpPr>
          <p:spPr>
            <a:xfrm>
              <a:off x="6199631" y="1837944"/>
              <a:ext cx="5486400" cy="4023360"/>
            </a:xfrm>
            <a:custGeom>
              <a:avLst/>
              <a:gdLst/>
              <a:ahLst/>
              <a:cxnLst/>
              <a:rect l="l" t="t" r="r" b="b"/>
              <a:pathLst>
                <a:path w="5486400" h="4023360">
                  <a:moveTo>
                    <a:pt x="541324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207"/>
                  </a:lnTo>
                  <a:lnTo>
                    <a:pt x="5750" y="3978681"/>
                  </a:lnTo>
                  <a:lnTo>
                    <a:pt x="21431" y="4001933"/>
                  </a:lnTo>
                  <a:lnTo>
                    <a:pt x="44684" y="4017611"/>
                  </a:lnTo>
                  <a:lnTo>
                    <a:pt x="73151" y="4023359"/>
                  </a:lnTo>
                  <a:lnTo>
                    <a:pt x="5413247" y="4023359"/>
                  </a:lnTo>
                  <a:lnTo>
                    <a:pt x="5441715" y="4017611"/>
                  </a:lnTo>
                  <a:lnTo>
                    <a:pt x="5464968" y="4001933"/>
                  </a:lnTo>
                  <a:lnTo>
                    <a:pt x="5480649" y="3978681"/>
                  </a:lnTo>
                  <a:lnTo>
                    <a:pt x="5486399" y="3950207"/>
                  </a:lnTo>
                  <a:lnTo>
                    <a:pt x="5486399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7" y="0"/>
                  </a:lnTo>
                  <a:close/>
                </a:path>
              </a:pathLst>
            </a:custGeom>
            <a:solidFill>
              <a:srgbClr val="F3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9631" y="1837944"/>
              <a:ext cx="5486400" cy="4023360"/>
            </a:xfrm>
            <a:custGeom>
              <a:avLst/>
              <a:gdLst/>
              <a:ahLst/>
              <a:cxnLst/>
              <a:rect l="l" t="t" r="r" b="b"/>
              <a:pathLst>
                <a:path w="5486400" h="40233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413247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399" y="73151"/>
                  </a:lnTo>
                  <a:lnTo>
                    <a:pt x="5486399" y="3950207"/>
                  </a:lnTo>
                  <a:lnTo>
                    <a:pt x="5480649" y="3978681"/>
                  </a:lnTo>
                  <a:lnTo>
                    <a:pt x="5464968" y="4001933"/>
                  </a:lnTo>
                  <a:lnTo>
                    <a:pt x="5441715" y="4017611"/>
                  </a:lnTo>
                  <a:lnTo>
                    <a:pt x="5413247" y="4023359"/>
                  </a:lnTo>
                  <a:lnTo>
                    <a:pt x="73151" y="4023359"/>
                  </a:lnTo>
                  <a:lnTo>
                    <a:pt x="44684" y="4017611"/>
                  </a:lnTo>
                  <a:lnTo>
                    <a:pt x="21431" y="4001933"/>
                  </a:lnTo>
                  <a:lnTo>
                    <a:pt x="5750" y="3978681"/>
                  </a:lnTo>
                  <a:lnTo>
                    <a:pt x="0" y="3950207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ED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16421" y="1913112"/>
            <a:ext cx="4299585" cy="105990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Live integration with UIDAI Aadhaar FaceRD production mobile biometric service.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Multi-language voice explanation for rejection letters in regional languages (Tamil, Hindi).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Bank account statement auto-analysis via RBI Account Aggregator (AA) framework.</a:t>
            </a: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</a:p>
          <a:p>
            <a:pPr>
              <a:defRPr sz="819">
                <a:solidFill>
                  <a:srgbClr val="1A1A1A"/>
                </a:solidFill>
                <a:latin typeface="Calibri"/>
              </a:defRPr>
            </a:pPr>
            <a:r>
              <a:t>• Dynamic interest rate calculator offering lower interest to low-risk borrowers.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2400" b="1"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7390" y="3633597"/>
            <a:ext cx="41522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 sz="1200">
                <a:solidFill>
                  <a:srgbClr val="C8A83E"/>
                </a:solidFill>
                <a:latin typeface="Calibri"/>
              </a:defRPr>
            </a:pPr>
            <a:r>
              <a:t>Questions, Comments &amp; Suggestions are Welcome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490219" y="6531584"/>
            <a:ext cx="610235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[3</a:t>
            </a:r>
            <a:r>
              <a:rPr lang="en-US" spc="-10" dirty="0"/>
              <a:t>1</a:t>
            </a:r>
            <a:r>
              <a:rPr spc="-10" dirty="0"/>
              <a:t>/10/2026]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Smart Digital Lending System with AI-Based Risk 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2520</Words>
  <Application>Microsoft Office PowerPoint</Application>
  <PresentationFormat>Widescreen</PresentationFormat>
  <Paragraphs>470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SRI RAMAKRISHNA INSTITUTE OF TECHNOLOGY</vt:lpstr>
      <vt:lpstr>ABSTRACT</vt:lpstr>
      <vt:lpstr>PROBLEM STATEMENT AND MOTIVATION</vt:lpstr>
      <vt:lpstr>OBJECTIVES</vt:lpstr>
      <vt:lpstr>LITERATURE REVIEW AND RESEARCH GAP</vt:lpstr>
      <vt:lpstr>PROPOSED METHODOLOGY</vt:lpstr>
      <vt:lpstr>SYSTEM ARCHITECTURE</vt:lpstr>
      <vt:lpstr>KEY CONTRIBUTION: EXPLAINABLE EBM ENGINE</vt:lpstr>
      <vt:lpstr>AFFORDABILITY FORMULAS AND DECISION RULES</vt:lpstr>
      <vt:lpstr>TECHNOLOGY STACK AND SERVICE DESIGN</vt:lpstr>
      <vt:lpstr>IMPLEMENTATION STATUS (PHASE I)</vt:lpstr>
      <vt:lpstr>RESULTS: MODEL COMPARISON ON THE TEST SET</vt:lpstr>
      <vt:lpstr>RESULTS: SAMPLE PREDICTIONS AND ABLATION</vt:lpstr>
      <vt:lpstr>LIMITATIONS AND NOT YET MEASURED</vt:lpstr>
      <vt:lpstr>CONCLUSION AND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Multi-Camera People Counting, Tracking and Crowd Monitoring System</dc:title>
  <dc:subject>PptxGenJS Presentation</dc:subject>
  <dc:creator>PptxGenJS</dc:creator>
  <cp:lastModifiedBy>91956</cp:lastModifiedBy>
  <cp:revision>19</cp:revision>
  <dcterms:created xsi:type="dcterms:W3CDTF">2026-10-29T18:26:56Z</dcterms:created>
  <dcterms:modified xsi:type="dcterms:W3CDTF">2026-10-30T04:04:46Z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2026-10-29T00:00:00Z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2026-10-29T00:00:00Z</vt:filetime>
  </property>
  <property fmtid="{D5CDD505-2E9C-101B-9397-08002B2CF9AE}" pid="6" name="Producer">
    <vt:lpwstr>Microsoft® PowerPoint® 2016</vt:lpwstr>
  </property>
</Properties>
</file>